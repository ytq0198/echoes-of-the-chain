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  <Relationship Id="rId20" Type="http://schemas.openxmlformats.org/officeDocument/2006/relationships/notesMaster" Target="notesMasters/notesMaster1.xml"/>
</Relationships>
</file>

<file path=ppt/notesMasters/_rels/notesMaster1.xml.rels><?xml version="1.0" encoding="UTF-8" standalone="yes"?>
<Relationships xmlns="http://schemas.openxmlformats.org/package/2006/relationships">
  <Relationship Id="rId1" Type="http://schemas.openxmlformats.org/officeDocument/2006/relationships/theme" Target="../theme/theme2.xml"/>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en-US"/>
    </a:lvl1pPr>
  </p:notesStyle>
</p:notesMaster>
</file>

<file path=ppt/notesSlides/_rels/notesSlide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.xml"/>
</Relationships>
</file>

<file path=ppt/notesSlides/_rels/notesSlide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.xml"/>
</Relationships>
</file>

<file path=ppt/notesSlides/_rels/notesSlide3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3.xml"/>
</Relationships>
</file>

<file path=ppt/notesSlides/_rels/notesSlide4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4.xml"/>
</Relationships>
</file>

<file path=ppt/notesSlides/_rels/notesSlide5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5.xml"/>
</Relationships>
</file>

<file path=ppt/notesSlides/_rels/notesSlide6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6.xml"/>
</Relationships>
</file>

<file path=ppt/notesSlides/_rels/notesSlide7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7.xml"/>
</Relationships>
</file>

<file path=ppt/notesSlides/_rels/notesSlide8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8.xml"/>
</Relationships>
</file>

<file path=ppt/notesSlides/_rels/notesSlide9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9.xml"/>
</Relationships>
</file>

<file path=ppt/notesSlides/_rels/notesSlide10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0.xml"/>
</Relationships>
</file>

<file path=ppt/notesSlides/_rels/notesSlide1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1.xml"/>
</Relationships>
</file>

<file path=ppt/notesSlides/_rels/notesSlide1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2.xml"/>
</Relationships>
</file>

<file path=ppt/notesSlides/_rels/notesSlide13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3.xml"/>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各位老师好，我们的项目是 ChainGrade。我们一开始就不把目标定义为“把成绩写到链上”，因为写入一次并不等于整个过程可信。我们真正要解决的是：身份有边界、复核有过程、隐私仍可验证。接下来我会先说明为什么简单上链不够，再讲我们的设计和真实运行证据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不可篡改只能回答“写入之后有没有被悄悄改过”，却不能自动证明写入者正确。成绩系统还同时面对三道硬伤：签发者可能越权或误写；成绩明文永久公开会伤害隐私；现实错误又必须允许纠正。如果直接覆盖旧值，历史证据就消失；如果完全不允许修订，系统又不符合教务现实。因此问题的核心不是数据存在哪里，而是变化如何被治理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我们的总设计分成三层。公共账本只保存匿名标识、SHA-256 承诺、状态和审计字段，所以任何人可以验证记录是否一致，却看不到成绩明文。课程、分数、等级、申诉理由和复核决定进入隐式私有集合。所有变化再通过状态机约束，于是系统同时做到公开可验、明文不公开、允许纠错而不覆盖历史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一条真实交易从四角色工作台开始，经 Vue 页面进入 Node API，再由 Fabric Gateway 提交给双组织网络。浏览器只持有受签名的 HttpOnly 会话和 CSRF 令牌，不能提交证书路径，更不能选择任意 MSP 身份；API 会把动作映射到服务器固定身份。成绩、申诉和决定正文走 transient 私有路径，链码在背书节点内复算哈希。这样，前端体验、应用权限和账本规则不是三套约定，而是一条连续的责任边界。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我们没有设置可以绕过流程的超级管理员。签发者能创建和批量导入凭证，也能提出修订，但不能自行批准；复核者独立做批准、拒绝、撤销和申诉决定。学生只能查看本人私有详情、发起申诉或授权披露，外部验证者则只能查询公开状态或消费被授权的字段。会话、API 和链码三层重复检查角色，目的是让任何单一主体都不能独立制造一条“看起来可信”的成绩。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这里展示的是凭证状态机。凭证创建后进入待复核，只有复核者批准才会成为 ACTIVE；拒绝和撤销都保留原记录。修订不是数据库 UPDATE，而是创建一个新凭证并链接旧版本，旧凭证转为已替代，所以审计者仍能验证前一段历史。学生申诉同样进入受控分支，而不是在系统外通过口头或表格处理。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申诉流程刻意保持轻量，但没有绕开隐私和审计规则。学生通过 transient 提交理由，链码复算 reasonHash；复核员再提交私有决定正文，并在公共账本留下 resolutionHash、身份和时间。右侧是真实浏览器验收中的学生申诉进度，不是设计原型。这样，纠错能够发生，但双方的原始陈述不会被公开，也不会被事后替换。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同一份凭证在三种视角下暴露不同内容。公众只能看到 detailHash、匿名学生和课程哈希、状态与交易审计；学生本人通过身份校验后，能读取课程、分数和等级。外部验证者还需要学生授权，且授权同时绑定字段白名单、用途、验证者、过期时间和一到十次使用上限。随机令牌本身不写链，链上只保存 tokenHash，因此公开查询和定向披露不会合并成一次过度公开。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前面的机制已经落实到角色工作台。左侧签发端负责创建和查看账本队列，右侧复核端处理独立待审任务；两张图都是 Fabric 模式下的真实浏览器验收。界面中的状态来自 Gateway 返回值，而不是前端模拟。角色如果越权，会在会话、API 和链码三层被拒绝，所以好看的界面没有取代底层约束。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这两张图展示同一条隐私边界在产品中的可见结果。学生本人登录后可以看到自己的课程、分数和等级；公开验真端无需登录，但只显示 ACTIVE 状态、哈希承诺和交易信息，没有成绩明文。这种差异不是报告里的安全承诺，而是浏览器到链码完整执行后的真实行为。也正因为如此，验证者能够确认凭证有效，而不需要获得整份成绩。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我们没有把“接口返回连接成功”当作区块链证据。签发者创建、复核者独立批准后，凭证进入 ACTIVE，并产生交易 ID c7f5827e 开头、becf7a7 结尾的真实交易。恢复彩排中两个 Peer 的账本高度都是十二，当前区块哈希和前序区块哈希完全一致。批量导入也遵守原子语义，只要一行校验失败，整批就是零写入。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最后看工程指标。项目实现二十五个链码方法和二十五个 HTTP 路由，自动测试五十二项全部通过，其中 shared 六项、chaincode 二十项、API 二十六项。链码语句、分支、函数和行覆盖率分别为百分之八十五点九一、百分之七十五点三八、百分之九十五点五二和百分之八十五点九八。API 与 Web 从停止状态完成生产构建并进入健康状态耗时十二点五秒。我们也保留局限：分支覆盖仍低于其他指标，异常组合和完整 VC 互操作是下一阶段，而不是在本次答辩中夸大为已经完成。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回到开头，ChainGrade 的价值不是把一个数字写进区块，而是把身份、复核、隐私、修订与申诉放进同一条可验证流程。我们已经完成真实 Fabric 双组织闭环、四角色产品，并用五十二项测试、双 Peer 一致性、真实交易和恢复彩排验证它。下一阶段的 VC 互操作和可靠性量化仍然服务同一个项目。谢谢各位老师，欢迎从为什么用链、如何保护隐私和证据是否真实三个角度提问。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chaingrade-defense-v2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chaingrade-defense-v2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1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5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2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45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25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1.xml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2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3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4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5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6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3c6a870653e2a600.jpg"/>
  <Relationship Id="rId3" Type="http://schemas.openxmlformats.org/officeDocument/2006/relationships/notesSlide" Target="../notesSlides/notesSlide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8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ce689d517cb7c8e0.jpg"/>
  <Relationship Id="rId3" Type="http://schemas.openxmlformats.org/officeDocument/2006/relationships/image" Target="../media/image_013ea11a15403aa1.jpg"/>
  <Relationship Id="rId4" Type="http://schemas.openxmlformats.org/officeDocument/2006/relationships/notesSlide" Target="../notesSlides/notesSlide9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fc1d87bbca26832d.jpg"/>
  <Relationship Id="rId3" Type="http://schemas.openxmlformats.org/officeDocument/2006/relationships/image" Target="../media/image_1593b79152035efd.jpg"/>
  <Relationship Id="rId4" Type="http://schemas.openxmlformats.org/officeDocument/2006/relationships/notesSlide" Target="../notesSlides/notesSlide10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11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12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13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78942" y="514350"/>
            <a:ext cx="1183142" cy="499301"/>
            <a:chOff x="678942" y="514350"/>
            <a:chExt cx="1183142" cy="499301"/>
          </a:xfrm>
        </p:grpSpPr>
        <p:sp>
          <p:nvSpPr>
            <p:cNvPr id="2" name="Rectangle 2"/>
            <p:cNvSpPr/>
            <p:nvPr/>
          </p:nvSpPr>
          <p:spPr>
            <a:xfrm>
              <a:off x="685800" y="514350"/>
              <a:ext cx="609600" cy="762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78942" y="749618"/>
              <a:ext cx="118314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CHAIN·GRADE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7429500" y="1021080"/>
            <a:ext cx="3524250" cy="1440371"/>
            <a:chOff x="7429500" y="1021080"/>
            <a:chExt cx="3524250" cy="1440371"/>
          </a:xfrm>
        </p:grpSpPr>
        <p:sp>
          <p:nvSpPr>
            <p:cNvPr id="5" name="TextBox 5"/>
            <p:cNvSpPr txBox="1"/>
            <p:nvPr/>
          </p:nvSpPr>
          <p:spPr>
            <a:xfrm>
              <a:off x="8944204" y="1021080"/>
              <a:ext cx="2009546" cy="1276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66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可信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7429500" y="2019300"/>
              <a:ext cx="3505200" cy="9525"/>
            </a:xfrm>
            <a:custGeom>
              <a:avLst/>
              <a:gdLst/>
              <a:ahLst/>
              <a:cxnLst/>
              <a:rect l="l" t="t" r="r" b="b"/>
              <a:pathLst>
                <a:path w="3505200" h="9525">
                  <a:moveTo>
                    <a:pt x="0" y="0"/>
                  </a:moveTo>
                  <a:lnTo>
                    <a:pt x="3505200" y="0"/>
                  </a:lnTo>
                </a:path>
              </a:pathLst>
            </a:custGeom>
            <a:noFill/>
            <a:ln w="38100">
              <a:solidFill>
                <a:schemeClr val="accent2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8020050" y="2197418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不是一次写入，而是一段可验证流程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69798" y="2422208"/>
            <a:ext cx="3812477" cy="1693354"/>
            <a:chOff x="669798" y="2422208"/>
            <a:chExt cx="3812477" cy="1693354"/>
          </a:xfrm>
        </p:grpSpPr>
        <p:sp>
          <p:nvSpPr>
            <p:cNvPr id="9" name="TextBox 9"/>
            <p:cNvSpPr txBox="1"/>
            <p:nvPr/>
          </p:nvSpPr>
          <p:spPr>
            <a:xfrm>
              <a:off x="669798" y="2422208"/>
              <a:ext cx="3812477" cy="120662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4650"/>
                </a:lnSpc>
              </a:pPr>
              <a:r>
                <a:rPr lang="zh-CN" sz="315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成绩可信，不等于把成绩写上链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73608" y="3646170"/>
              <a:ext cx="1825569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4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ChainGrade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76656" y="4663440"/>
            <a:ext cx="4622292" cy="712661"/>
            <a:chOff x="676656" y="4663440"/>
            <a:chExt cx="4622292" cy="712661"/>
          </a:xfrm>
        </p:grpSpPr>
        <p:sp>
          <p:nvSpPr>
            <p:cNvPr id="12" name="TextBox 12"/>
            <p:cNvSpPr txBox="1"/>
            <p:nvPr/>
          </p:nvSpPr>
          <p:spPr>
            <a:xfrm>
              <a:off x="676656" y="4663440"/>
              <a:ext cx="462229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面向隐私、修订与申诉的可信成绩凭证系统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78942" y="5112068"/>
              <a:ext cx="34939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浙江大学计算机专业本科生团队 · 课程答辩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8039100" y="3520440"/>
            <a:ext cx="1662303" cy="1876044"/>
            <a:chOff x="8039100" y="3520440"/>
            <a:chExt cx="1662303" cy="1876044"/>
          </a:xfrm>
        </p:grpSpPr>
        <p:sp>
          <p:nvSpPr>
            <p:cNvPr id="15" name="Line 15"/>
            <p:cNvSpPr/>
            <p:nvPr/>
          </p:nvSpPr>
          <p:spPr>
            <a:xfrm>
              <a:off x="8115300" y="3638550"/>
              <a:ext cx="9525" cy="1524000"/>
            </a:xfrm>
            <a:custGeom>
              <a:avLst/>
              <a:gdLst/>
              <a:ahLst/>
              <a:cxnLst/>
              <a:rect l="l" t="t" r="r" b="b"/>
              <a:pathLst>
                <a:path w="9525" h="1524000">
                  <a:moveTo>
                    <a:pt x="0" y="0"/>
                  </a:moveTo>
                  <a:lnTo>
                    <a:pt x="0" y="1524000"/>
                  </a:lnTo>
                </a:path>
              </a:pathLst>
            </a:custGeom>
            <a:noFill/>
            <a:ln w="19050">
              <a:solidFill>
                <a:schemeClr val="accent3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8039100" y="3562350"/>
              <a:ext cx="152400" cy="152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7" name="Ellipse 17"/>
            <p:cNvSpPr/>
            <p:nvPr/>
          </p:nvSpPr>
          <p:spPr>
            <a:xfrm>
              <a:off x="8039100" y="4324350"/>
              <a:ext cx="152400" cy="1524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Ellipse 18"/>
            <p:cNvSpPr/>
            <p:nvPr/>
          </p:nvSpPr>
          <p:spPr>
            <a:xfrm>
              <a:off x="8039100" y="5086350"/>
              <a:ext cx="152400" cy="1524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410956" y="3520440"/>
              <a:ext cx="129044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身份有边界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410956" y="4282440"/>
              <a:ext cx="129044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复核有过程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410956" y="5044440"/>
              <a:ext cx="129044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隐私可验证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678942" y="6236018"/>
            <a:ext cx="10834116" cy="264033"/>
            <a:chOff x="678942" y="6236018"/>
            <a:chExt cx="10834116" cy="264033"/>
          </a:xfrm>
        </p:grpSpPr>
        <p:sp>
          <p:nvSpPr>
            <p:cNvPr id="23" name="TextBox 23"/>
            <p:cNvSpPr txBox="1"/>
            <p:nvPr/>
          </p:nvSpPr>
          <p:spPr>
            <a:xfrm>
              <a:off x="678942" y="6236018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可信来自可验证流程，而不是上链口号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1299431" y="6236018"/>
              <a:ext cx="2136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69798" y="495300"/>
            <a:ext cx="6147968" cy="847535"/>
            <a:chOff x="669798" y="495300"/>
            <a:chExt cx="6147968" cy="847535"/>
          </a:xfrm>
        </p:grpSpPr>
        <p:sp>
          <p:nvSpPr>
            <p:cNvPr id="2" name="Rectangle 2"/>
            <p:cNvSpPr/>
            <p:nvPr/>
          </p:nvSpPr>
          <p:spPr>
            <a:xfrm>
              <a:off x="685800" y="495300"/>
              <a:ext cx="438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69798" y="726758"/>
              <a:ext cx="6147968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简单上链，仍然留下三道硬伤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673608" y="2045018"/>
            <a:ext cx="2927787" cy="2932366"/>
            <a:chOff x="673608" y="2045018"/>
            <a:chExt cx="2927787" cy="2932366"/>
          </a:xfrm>
        </p:grpSpPr>
        <p:sp>
          <p:nvSpPr>
            <p:cNvPr id="5" name="TextBox 5"/>
            <p:cNvSpPr txBox="1"/>
            <p:nvPr/>
          </p:nvSpPr>
          <p:spPr>
            <a:xfrm>
              <a:off x="678942" y="2045018"/>
              <a:ext cx="175975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不可篡改 ≠ 自动可信</a:t>
              </a:r>
            </a:p>
          </p:txBody>
        </p:sp>
        <p:sp>
          <p:nvSpPr>
            <p:cNvPr id="6" name="Rectangle 6"/>
            <p:cNvSpPr/>
            <p:nvPr/>
          </p:nvSpPr>
          <p:spPr>
            <a:xfrm>
              <a:off x="685800" y="2571750"/>
              <a:ext cx="2038350" cy="742950"/>
            </a:xfrm>
            <a:prstGeom prst="roundRect">
              <a:avLst>
                <a:gd name="adj" fmla="val 1025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1183919" y="2788920"/>
              <a:ext cx="1042111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4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写上链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2724150" y="2943225"/>
              <a:ext cx="819150" cy="9525"/>
            </a:xfrm>
            <a:custGeom>
              <a:avLst/>
              <a:gdLst/>
              <a:ahLst/>
              <a:cxnLst/>
              <a:rect l="l" t="t" r="r" b="b"/>
              <a:pathLst>
                <a:path w="819150" h="9525">
                  <a:moveTo>
                    <a:pt x="0" y="0"/>
                  </a:moveTo>
                  <a:lnTo>
                    <a:pt x="819150" y="0"/>
                  </a:lnTo>
                </a:path>
              </a:pathLst>
            </a:custGeom>
            <a:noFill/>
            <a:ln w="47625">
              <a:solidFill>
                <a:srgbClr val="A13B3B"/>
              </a:solidFill>
              <a:custDash>
                <a:ds d="240000" sp="180000"/>
              </a:custDash>
            </a:ln>
          </p:spPr>
        </p:sp>
        <p:sp>
          <p:nvSpPr>
            <p:cNvPr id="9" name="Line 9"/>
            <p:cNvSpPr/>
            <p:nvPr/>
          </p:nvSpPr>
          <p:spPr>
            <a:xfrm>
              <a:off x="3143250" y="2705100"/>
              <a:ext cx="190500" cy="476250"/>
            </a:xfrm>
            <a:custGeom>
              <a:avLst/>
              <a:gdLst/>
              <a:ahLst/>
              <a:cxnLst/>
              <a:rect l="l" t="t" r="r" b="b"/>
              <a:pathLst>
                <a:path w="190500" h="476250">
                  <a:moveTo>
                    <a:pt x="0" y="0"/>
                  </a:moveTo>
                  <a:lnTo>
                    <a:pt x="190500" y="476250"/>
                  </a:lnTo>
                </a:path>
              </a:pathLst>
            </a:custGeom>
            <a:noFill/>
            <a:ln w="47625">
              <a:solidFill>
                <a:srgbClr val="A13B3B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76656" y="3691890"/>
              <a:ext cx="14721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它只能回答：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73608" y="4065270"/>
              <a:ext cx="2927787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“写入后改过吗？”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76656" y="4625340"/>
              <a:ext cx="268376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却不能回答右边三件事。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4279392" y="1767840"/>
            <a:ext cx="6769608" cy="584835"/>
            <a:chOff x="4279392" y="1767840"/>
            <a:chExt cx="6769608" cy="584835"/>
          </a:xfrm>
        </p:grpSpPr>
        <p:sp>
          <p:nvSpPr>
            <p:cNvPr id="14" name="TextBox 14"/>
            <p:cNvSpPr txBox="1"/>
            <p:nvPr/>
          </p:nvSpPr>
          <p:spPr>
            <a:xfrm>
              <a:off x="4279392" y="1816418"/>
              <a:ext cx="10155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01 · 真实性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801106" y="1767840"/>
              <a:ext cx="485249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谁写入？谁复核？越权或误写如何被发现？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4286250" y="2343150"/>
              <a:ext cx="6762750" cy="9525"/>
            </a:xfrm>
            <a:custGeom>
              <a:avLst/>
              <a:gdLst/>
              <a:ahLst/>
              <a:cxnLst/>
              <a:rect l="l" t="t" r="r" b="b"/>
              <a:pathLst>
                <a:path w="6762750" h="9525">
                  <a:moveTo>
                    <a:pt x="0" y="0"/>
                  </a:moveTo>
                  <a:lnTo>
                    <a:pt x="6762750" y="0"/>
                  </a:lnTo>
                </a:path>
              </a:pathLst>
            </a:custGeom>
            <a:noFill/>
            <a:ln w="19050">
              <a:solidFill>
                <a:srgbClr val="D6D8DA"/>
              </a:solidFill>
            </a:ln>
          </p:spPr>
        </p:sp>
      </p:grpSp>
      <p:grpSp>
        <p:nvGrpSpPr>
          <p:cNvPr id="21" name="Group 21"/>
          <p:cNvGrpSpPr/>
          <p:nvPr/>
        </p:nvGrpSpPr>
        <p:grpSpPr>
          <a:xfrm>
            <a:off x="4279392" y="2910840"/>
            <a:ext cx="6883070" cy="584835"/>
            <a:chOff x="4279392" y="2910840"/>
            <a:chExt cx="6883070" cy="584835"/>
          </a:xfrm>
        </p:grpSpPr>
        <p:sp>
          <p:nvSpPr>
            <p:cNvPr id="18" name="TextBox 18"/>
            <p:cNvSpPr txBox="1"/>
            <p:nvPr/>
          </p:nvSpPr>
          <p:spPr>
            <a:xfrm>
              <a:off x="4279392" y="2959418"/>
              <a:ext cx="10155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02 · 隐私性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801106" y="2910840"/>
              <a:ext cx="536135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成绩明文一旦公开，永久可见且无法真正撤回。</a:t>
              </a:r>
            </a:p>
          </p:txBody>
        </p:sp>
        <p:sp>
          <p:nvSpPr>
            <p:cNvPr id="20" name="Line 20"/>
            <p:cNvSpPr/>
            <p:nvPr/>
          </p:nvSpPr>
          <p:spPr>
            <a:xfrm>
              <a:off x="4286250" y="3486150"/>
              <a:ext cx="6762750" cy="9525"/>
            </a:xfrm>
            <a:custGeom>
              <a:avLst/>
              <a:gdLst/>
              <a:ahLst/>
              <a:cxnLst/>
              <a:rect l="l" t="t" r="r" b="b"/>
              <a:pathLst>
                <a:path w="6762750" h="9525">
                  <a:moveTo>
                    <a:pt x="0" y="0"/>
                  </a:moveTo>
                  <a:lnTo>
                    <a:pt x="6762750" y="0"/>
                  </a:lnTo>
                </a:path>
              </a:pathLst>
            </a:custGeom>
            <a:noFill/>
            <a:ln w="19050">
              <a:solidFill>
                <a:srgbClr val="D6D8DA"/>
              </a:solidFill>
            </a:ln>
          </p:spPr>
        </p:sp>
      </p:grpSp>
      <p:grpSp>
        <p:nvGrpSpPr>
          <p:cNvPr id="26" name="Group 26"/>
          <p:cNvGrpSpPr/>
          <p:nvPr/>
        </p:nvGrpSpPr>
        <p:grpSpPr>
          <a:xfrm>
            <a:off x="4279392" y="4053840"/>
            <a:ext cx="6883070" cy="975360"/>
            <a:chOff x="4279392" y="4053840"/>
            <a:chExt cx="6883070" cy="975360"/>
          </a:xfrm>
        </p:grpSpPr>
        <p:sp>
          <p:nvSpPr>
            <p:cNvPr id="22" name="TextBox 22"/>
            <p:cNvSpPr txBox="1"/>
            <p:nvPr/>
          </p:nvSpPr>
          <p:spPr>
            <a:xfrm>
              <a:off x="4279392" y="4102418"/>
              <a:ext cx="120636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03 · 可纠错性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801106" y="4053840"/>
              <a:ext cx="536135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直接覆盖破坏历史，永不修订又违背真实业务。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810250" y="4629150"/>
              <a:ext cx="3429000" cy="400050"/>
            </a:xfrm>
            <a:prstGeom prst="roundRect">
              <a:avLst>
                <a:gd name="adj" fmla="val 14286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5972219" y="4750118"/>
              <a:ext cx="310506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问题不在“存哪里”，而在“如何治理”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678942" y="6236018"/>
            <a:ext cx="10834116" cy="264033"/>
            <a:chOff x="678942" y="6236018"/>
            <a:chExt cx="10834116" cy="264033"/>
          </a:xfrm>
        </p:grpSpPr>
        <p:sp>
          <p:nvSpPr>
            <p:cNvPr id="27" name="TextBox 27"/>
            <p:cNvSpPr txBox="1"/>
            <p:nvPr/>
          </p:nvSpPr>
          <p:spPr>
            <a:xfrm>
              <a:off x="678942" y="6236018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设计起点：不可篡改只是可信系统的一项性质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1299431" y="6236018"/>
              <a:ext cx="2136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69798" y="495300"/>
            <a:ext cx="9441180" cy="847535"/>
            <a:chOff x="669798" y="495300"/>
            <a:chExt cx="9441180" cy="847535"/>
          </a:xfrm>
        </p:grpSpPr>
        <p:sp>
          <p:nvSpPr>
            <p:cNvPr id="2" name="Rectangle 2"/>
            <p:cNvSpPr/>
            <p:nvPr/>
          </p:nvSpPr>
          <p:spPr>
            <a:xfrm>
              <a:off x="685800" y="495300"/>
              <a:ext cx="438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69798" y="726758"/>
              <a:ext cx="9441180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我们的答案：公开承诺、私有详情、受控状态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28700" y="1581150"/>
            <a:ext cx="8667750" cy="1066800"/>
            <a:chOff x="1028700" y="1581150"/>
            <a:chExt cx="8667750" cy="1066800"/>
          </a:xfrm>
        </p:grpSpPr>
        <p:sp>
          <p:nvSpPr>
            <p:cNvPr id="5" name="Rectangle 5"/>
            <p:cNvSpPr/>
            <p:nvPr/>
          </p:nvSpPr>
          <p:spPr>
            <a:xfrm>
              <a:off x="1028700" y="1581150"/>
              <a:ext cx="8667750" cy="1066800"/>
            </a:xfrm>
            <a:prstGeom prst="roundRect">
              <a:avLst>
                <a:gd name="adj" fmla="val 8929"/>
              </a:avLst>
            </a:prstGeom>
            <a:solidFill>
              <a:schemeClr val="lt2"/>
            </a:solidFill>
            <a:ln w="19050">
              <a:solidFill>
                <a:schemeClr val="accent3"/>
              </a:solidFill>
            </a:ln>
          </p:spPr>
        </p:sp>
        <p:grpSp>
          <p:nvGrpSpPr>
            <p:cNvPr id="8" name="Group 8"/>
            <p:cNvGrpSpPr/>
            <p:nvPr/>
          </p:nvGrpSpPr>
          <p:grpSpPr>
            <a:xfrm>
              <a:off x="1363631" y="1921669"/>
              <a:ext cx="356513" cy="328613"/>
              <a:chOff x="1363631" y="1921669"/>
              <a:chExt cx="356513" cy="328613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1363631" y="1921669"/>
                <a:ext cx="356513" cy="325802"/>
              </a:xfrm>
              <a:custGeom>
                <a:avLst/>
                <a:gdLst/>
                <a:ahLst/>
                <a:cxnLst/>
                <a:rect l="l" t="t" r="r" b="b"/>
                <a:pathLst>
                  <a:path w="356513" h="325802">
                    <a:moveTo>
                      <a:pt x="179086" y="325802"/>
                    </a:moveTo>
                    <a:cubicBezTo>
                      <a:pt x="64719" y="290350"/>
                      <a:pt x="0" y="169645"/>
                      <a:pt x="33766" y="54769"/>
                    </a:cubicBezTo>
                    <a:cubicBezTo>
                      <a:pt x="90644" y="57372"/>
                      <a:pt x="146301" y="37728"/>
                      <a:pt x="188944" y="0"/>
                    </a:cubicBezTo>
                    <a:cubicBezTo>
                      <a:pt x="231588" y="37728"/>
                      <a:pt x="287245" y="57372"/>
                      <a:pt x="344123" y="54769"/>
                    </a:cubicBezTo>
                    <a:cubicBezTo>
                      <a:pt x="356513" y="96925"/>
                      <a:pt x="355940" y="141832"/>
                      <a:pt x="342480" y="183658"/>
                    </a:cubicBezTo>
                  </a:path>
                </a:pathLst>
              </a:custGeom>
              <a:noFill/>
              <a:ln w="36513">
                <a:solidFill>
                  <a:schemeClr val="accent1"/>
                </a:solidFill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1607344" y="2177257"/>
                <a:ext cx="109538" cy="73025"/>
              </a:xfrm>
              <a:custGeom>
                <a:avLst/>
                <a:gdLst/>
                <a:ahLst/>
                <a:cxnLst/>
                <a:rect l="l" t="t" r="r" b="b"/>
                <a:pathLst>
                  <a:path w="109538" h="73025">
                    <a:moveTo>
                      <a:pt x="0" y="36513"/>
                    </a:moveTo>
                    <a:lnTo>
                      <a:pt x="36513" y="73025"/>
                    </a:lnTo>
                    <a:lnTo>
                      <a:pt x="109538" y="0"/>
                    </a:lnTo>
                  </a:path>
                </a:pathLst>
              </a:custGeom>
              <a:noFill/>
              <a:ln w="36513">
                <a:solidFill>
                  <a:schemeClr val="accent1"/>
                </a:solidFill>
              </a:ln>
            </p:spPr>
          </p:sp>
        </p:grpSp>
        <p:sp>
          <p:nvSpPr>
            <p:cNvPr id="9" name="TextBox 9"/>
            <p:cNvSpPr txBox="1"/>
            <p:nvPr/>
          </p:nvSpPr>
          <p:spPr>
            <a:xfrm>
              <a:off x="2031492" y="1825942"/>
              <a:ext cx="20702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PUBLIC · 所有人可验证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029206" y="2129790"/>
              <a:ext cx="503651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匿名标识 · SHA-256 承诺 · 状态 · 交易审计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581150" y="2876550"/>
            <a:ext cx="8115300" cy="1066800"/>
            <a:chOff x="1581150" y="2876550"/>
            <a:chExt cx="8115300" cy="1066800"/>
          </a:xfrm>
        </p:grpSpPr>
        <p:sp>
          <p:nvSpPr>
            <p:cNvPr id="12" name="Rectangle 12"/>
            <p:cNvSpPr/>
            <p:nvPr/>
          </p:nvSpPr>
          <p:spPr>
            <a:xfrm>
              <a:off x="1581150" y="2876550"/>
              <a:ext cx="8115300" cy="1066800"/>
            </a:xfrm>
            <a:prstGeom prst="roundRect">
              <a:avLst>
                <a:gd name="adj" fmla="val 8929"/>
              </a:avLst>
            </a:prstGeom>
            <a:solidFill>
              <a:srgbClr val="E8EEF5"/>
            </a:solidFill>
            <a:ln w="19050">
              <a:solidFill>
                <a:schemeClr val="accent1"/>
              </a:solidFill>
            </a:ln>
          </p:spPr>
        </p:sp>
        <p:grpSp>
          <p:nvGrpSpPr>
            <p:cNvPr id="16" name="Group 16"/>
            <p:cNvGrpSpPr/>
            <p:nvPr/>
          </p:nvGrpSpPr>
          <p:grpSpPr>
            <a:xfrm>
              <a:off x="1977231" y="3217069"/>
              <a:ext cx="255588" cy="328613"/>
              <a:chOff x="1977231" y="3217069"/>
              <a:chExt cx="255588" cy="328613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1977231" y="3363119"/>
                <a:ext cx="255588" cy="182563"/>
              </a:xfrm>
              <a:custGeom>
                <a:avLst/>
                <a:gdLst/>
                <a:ahLst/>
                <a:cxnLst/>
                <a:rect l="l" t="t" r="r" b="b"/>
                <a:pathLst>
                  <a:path w="255588" h="182563">
                    <a:moveTo>
                      <a:pt x="0" y="36513"/>
                    </a:moveTo>
                    <a:cubicBezTo>
                      <a:pt x="0" y="16347"/>
                      <a:pt x="16347" y="0"/>
                      <a:pt x="36513" y="0"/>
                    </a:cubicBezTo>
                    <a:lnTo>
                      <a:pt x="219075" y="0"/>
                    </a:lnTo>
                    <a:cubicBezTo>
                      <a:pt x="239241" y="0"/>
                      <a:pt x="255588" y="16347"/>
                      <a:pt x="255588" y="36513"/>
                    </a:cubicBezTo>
                    <a:lnTo>
                      <a:pt x="255588" y="146050"/>
                    </a:lnTo>
                    <a:cubicBezTo>
                      <a:pt x="255588" y="166216"/>
                      <a:pt x="239241" y="182563"/>
                      <a:pt x="219075" y="182563"/>
                    </a:cubicBezTo>
                    <a:lnTo>
                      <a:pt x="36513" y="182563"/>
                    </a:lnTo>
                    <a:cubicBezTo>
                      <a:pt x="16347" y="182563"/>
                      <a:pt x="0" y="166216"/>
                      <a:pt x="0" y="146050"/>
                    </a:cubicBezTo>
                    <a:lnTo>
                      <a:pt x="0" y="36513"/>
                    </a:lnTo>
                  </a:path>
                </a:pathLst>
              </a:custGeom>
              <a:noFill/>
              <a:ln w="36513">
                <a:solidFill>
                  <a:schemeClr val="accent1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2086769" y="3436144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chemeClr val="accent1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2032000" y="3217069"/>
                <a:ext cx="146050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146050" h="146050">
                    <a:moveTo>
                      <a:pt x="0" y="146050"/>
                    </a:moveTo>
                    <a:lnTo>
                      <a:pt x="0" y="73025"/>
                    </a:lnTo>
                    <a:cubicBezTo>
                      <a:pt x="0" y="32694"/>
                      <a:pt x="32694" y="0"/>
                      <a:pt x="73025" y="0"/>
                    </a:cubicBezTo>
                    <a:cubicBezTo>
                      <a:pt x="113356" y="0"/>
                      <a:pt x="146050" y="32694"/>
                      <a:pt x="146050" y="73025"/>
                    </a:cubicBezTo>
                    <a:lnTo>
                      <a:pt x="146050" y="146050"/>
                    </a:lnTo>
                  </a:path>
                </a:pathLst>
              </a:custGeom>
              <a:noFill/>
              <a:ln w="36513">
                <a:solidFill>
                  <a:schemeClr val="accent1"/>
                </a:solidFill>
              </a:ln>
            </p:spPr>
          </p:sp>
        </p:grpSp>
        <p:sp>
          <p:nvSpPr>
            <p:cNvPr id="17" name="TextBox 17"/>
            <p:cNvSpPr txBox="1"/>
            <p:nvPr/>
          </p:nvSpPr>
          <p:spPr>
            <a:xfrm>
              <a:off x="2583942" y="3121342"/>
              <a:ext cx="23828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PRIVATE · 授权主体可读取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581656" y="3425190"/>
              <a:ext cx="452536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课程 · 分数 · 等级 · 申诉理由 · 复核决定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2133600" y="4171950"/>
            <a:ext cx="7562850" cy="1066800"/>
            <a:chOff x="2133600" y="4171950"/>
            <a:chExt cx="7562850" cy="1066800"/>
          </a:xfrm>
        </p:grpSpPr>
        <p:sp>
          <p:nvSpPr>
            <p:cNvPr id="20" name="Rectangle 20"/>
            <p:cNvSpPr/>
            <p:nvPr/>
          </p:nvSpPr>
          <p:spPr>
            <a:xfrm>
              <a:off x="2133600" y="4171950"/>
              <a:ext cx="7562850" cy="1066800"/>
            </a:xfrm>
            <a:prstGeom prst="roundRect">
              <a:avLst>
                <a:gd name="adj" fmla="val 8929"/>
              </a:avLst>
            </a:prstGeom>
            <a:solidFill>
              <a:schemeClr val="accent1"/>
            </a:solidFill>
            <a:ln>
              <a:noFill/>
            </a:ln>
          </p:spPr>
        </p:sp>
        <p:grpSp>
          <p:nvGrpSpPr>
            <p:cNvPr id="27" name="Group 27"/>
            <p:cNvGrpSpPr/>
            <p:nvPr/>
          </p:nvGrpSpPr>
          <p:grpSpPr>
            <a:xfrm>
              <a:off x="2529681" y="4530725"/>
              <a:ext cx="273845" cy="292101"/>
              <a:chOff x="2529681" y="4530725"/>
              <a:chExt cx="273845" cy="292101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2529681" y="4749801"/>
                <a:ext cx="73025" cy="73025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73025">
                    <a:moveTo>
                      <a:pt x="0" y="36513"/>
                    </a:moveTo>
                    <a:cubicBezTo>
                      <a:pt x="0" y="56678"/>
                      <a:pt x="16347" y="73025"/>
                      <a:pt x="36513" y="73025"/>
                    </a:cubicBezTo>
                    <a:cubicBezTo>
                      <a:pt x="56678" y="73025"/>
                      <a:pt x="73025" y="56678"/>
                      <a:pt x="73025" y="36513"/>
                    </a:cubicBezTo>
                    <a:cubicBezTo>
                      <a:pt x="73025" y="16347"/>
                      <a:pt x="56678" y="0"/>
                      <a:pt x="36513" y="0"/>
                    </a:cubicBezTo>
                    <a:cubicBezTo>
                      <a:pt x="16347" y="0"/>
                      <a:pt x="0" y="16347"/>
                      <a:pt x="0" y="36513"/>
                    </a:cubicBezTo>
                  </a:path>
                </a:pathLst>
              </a:custGeom>
              <a:noFill/>
              <a:ln w="36513">
                <a:solidFill>
                  <a:schemeClr val="accent2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2529681" y="4530725"/>
                <a:ext cx="73025" cy="73025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73025">
                    <a:moveTo>
                      <a:pt x="0" y="36513"/>
                    </a:moveTo>
                    <a:cubicBezTo>
                      <a:pt x="0" y="56678"/>
                      <a:pt x="16347" y="73025"/>
                      <a:pt x="36513" y="73025"/>
                    </a:cubicBezTo>
                    <a:cubicBezTo>
                      <a:pt x="56678" y="73025"/>
                      <a:pt x="73025" y="56678"/>
                      <a:pt x="73025" y="36513"/>
                    </a:cubicBezTo>
                    <a:cubicBezTo>
                      <a:pt x="73025" y="16347"/>
                      <a:pt x="56678" y="0"/>
                      <a:pt x="36513" y="0"/>
                    </a:cubicBezTo>
                    <a:cubicBezTo>
                      <a:pt x="16347" y="0"/>
                      <a:pt x="0" y="16347"/>
                      <a:pt x="0" y="36513"/>
                    </a:cubicBezTo>
                  </a:path>
                </a:pathLst>
              </a:custGeom>
              <a:noFill/>
              <a:ln w="36513">
                <a:solidFill>
                  <a:schemeClr val="accent2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2712244" y="4530725"/>
                <a:ext cx="73025" cy="73025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73025">
                    <a:moveTo>
                      <a:pt x="0" y="36513"/>
                    </a:moveTo>
                    <a:cubicBezTo>
                      <a:pt x="0" y="56678"/>
                      <a:pt x="16347" y="73025"/>
                      <a:pt x="36513" y="73025"/>
                    </a:cubicBezTo>
                    <a:cubicBezTo>
                      <a:pt x="56678" y="73025"/>
                      <a:pt x="73025" y="56678"/>
                      <a:pt x="73025" y="36513"/>
                    </a:cubicBezTo>
                    <a:cubicBezTo>
                      <a:pt x="73025" y="16347"/>
                      <a:pt x="56678" y="0"/>
                      <a:pt x="36513" y="0"/>
                    </a:cubicBezTo>
                    <a:cubicBezTo>
                      <a:pt x="16347" y="0"/>
                      <a:pt x="0" y="16347"/>
                      <a:pt x="0" y="36513"/>
                    </a:cubicBezTo>
                  </a:path>
                </a:pathLst>
              </a:custGeom>
              <a:noFill/>
              <a:ln w="36513">
                <a:solidFill>
                  <a:schemeClr val="accent2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2566194" y="4603750"/>
                <a:ext cx="9525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46050">
                    <a:moveTo>
                      <a:pt x="0" y="0"/>
                    </a:moveTo>
                    <a:lnTo>
                      <a:pt x="0" y="146050"/>
                    </a:lnTo>
                  </a:path>
                </a:pathLst>
              </a:custGeom>
              <a:noFill/>
              <a:ln w="36513">
                <a:solidFill>
                  <a:schemeClr val="accent2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2602707" y="4658519"/>
                <a:ext cx="146050" cy="127794"/>
              </a:xfrm>
              <a:custGeom>
                <a:avLst/>
                <a:gdLst/>
                <a:ahLst/>
                <a:cxnLst/>
                <a:rect l="l" t="t" r="r" b="b"/>
                <a:pathLst>
                  <a:path w="146050" h="127794">
                    <a:moveTo>
                      <a:pt x="0" y="127794"/>
                    </a:moveTo>
                    <a:lnTo>
                      <a:pt x="109538" y="127794"/>
                    </a:lnTo>
                    <a:cubicBezTo>
                      <a:pt x="129703" y="127794"/>
                      <a:pt x="146050" y="111447"/>
                      <a:pt x="146050" y="91281"/>
                    </a:cubicBezTo>
                    <a:lnTo>
                      <a:pt x="146050" y="0"/>
                    </a:lnTo>
                  </a:path>
                </a:pathLst>
              </a:custGeom>
              <a:noFill/>
              <a:ln w="36513">
                <a:solidFill>
                  <a:schemeClr val="accent2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2693988" y="4658519"/>
                <a:ext cx="109538" cy="54769"/>
              </a:xfrm>
              <a:custGeom>
                <a:avLst/>
                <a:gdLst/>
                <a:ahLst/>
                <a:cxnLst/>
                <a:rect l="l" t="t" r="r" b="b"/>
                <a:pathLst>
                  <a:path w="109538" h="54769">
                    <a:moveTo>
                      <a:pt x="0" y="54769"/>
                    </a:moveTo>
                    <a:lnTo>
                      <a:pt x="54769" y="0"/>
                    </a:lnTo>
                    <a:lnTo>
                      <a:pt x="109538" y="54769"/>
                    </a:lnTo>
                  </a:path>
                </a:pathLst>
              </a:custGeom>
              <a:noFill/>
              <a:ln w="36513">
                <a:solidFill>
                  <a:schemeClr val="accent2"/>
                </a:solidFill>
              </a:ln>
            </p:spPr>
          </p:sp>
        </p:grpSp>
        <p:sp>
          <p:nvSpPr>
            <p:cNvPr id="28" name="TextBox 28"/>
            <p:cNvSpPr txBox="1"/>
            <p:nvPr/>
          </p:nvSpPr>
          <p:spPr>
            <a:xfrm>
              <a:off x="3136392" y="4416742"/>
              <a:ext cx="280622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GOVERNANCE · 每次变化有条件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134106" y="4720590"/>
              <a:ext cx="40407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签发 · 独立复核 · 修订 · 申诉 · 撤销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0363200" y="1885950"/>
            <a:ext cx="788394" cy="3124200"/>
            <a:chOff x="10363200" y="1885950"/>
            <a:chExt cx="788394" cy="3124200"/>
          </a:xfrm>
        </p:grpSpPr>
        <p:sp>
          <p:nvSpPr>
            <p:cNvPr id="31" name="Line 31"/>
            <p:cNvSpPr/>
            <p:nvPr/>
          </p:nvSpPr>
          <p:spPr>
            <a:xfrm>
              <a:off x="10458450" y="1885950"/>
              <a:ext cx="9525" cy="2971800"/>
            </a:xfrm>
            <a:custGeom>
              <a:avLst/>
              <a:gdLst/>
              <a:ahLst/>
              <a:cxnLst/>
              <a:rect l="l" t="t" r="r" b="b"/>
              <a:pathLst>
                <a:path w="9525" h="2971800">
                  <a:moveTo>
                    <a:pt x="0" y="0"/>
                  </a:moveTo>
                  <a:lnTo>
                    <a:pt x="0" y="2971800"/>
                  </a:lnTo>
                </a:path>
              </a:pathLst>
            </a:custGeom>
            <a:noFill/>
            <a:ln w="19050">
              <a:solidFill>
                <a:schemeClr val="accent3"/>
              </a:solidFill>
            </a:ln>
          </p:spPr>
        </p:sp>
        <p:sp>
          <p:nvSpPr>
            <p:cNvPr id="32" name="Polygon 32"/>
            <p:cNvSpPr/>
            <p:nvPr/>
          </p:nvSpPr>
          <p:spPr>
            <a:xfrm>
              <a:off x="10363200" y="4819650"/>
              <a:ext cx="190500" cy="190500"/>
            </a:xfrm>
            <a:custGeom>
              <a:avLst/>
              <a:gdLst/>
              <a:ahLst/>
              <a:cxnLst/>
              <a:rect l="l" t="t" r="r" b="b"/>
              <a:pathLst>
                <a:path w="190500" h="190500">
                  <a:moveTo>
                    <a:pt x="95250" y="190500"/>
                  </a:moveTo>
                  <a:lnTo>
                    <a:pt x="0" y="0"/>
                  </a:lnTo>
                  <a:lnTo>
                    <a:pt x="19050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10565406" y="3035618"/>
              <a:ext cx="5861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从可见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0565406" y="3330892"/>
              <a:ext cx="5861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到可控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4248150" y="5467350"/>
            <a:ext cx="6572250" cy="476250"/>
            <a:chOff x="4248150" y="5467350"/>
            <a:chExt cx="6572250" cy="476250"/>
          </a:xfrm>
        </p:grpSpPr>
        <p:sp>
          <p:nvSpPr>
            <p:cNvPr id="36" name="Rectangle 36"/>
            <p:cNvSpPr/>
            <p:nvPr/>
          </p:nvSpPr>
          <p:spPr>
            <a:xfrm>
              <a:off x="4248150" y="5467350"/>
              <a:ext cx="6572250" cy="476250"/>
            </a:xfrm>
            <a:prstGeom prst="roundRect">
              <a:avLst>
                <a:gd name="adj" fmla="val 12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599165" y="5587365"/>
              <a:ext cx="587021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公开可验，但不公开明文；允许纠错，但不覆盖历史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678942" y="6236018"/>
            <a:ext cx="10834116" cy="264033"/>
            <a:chOff x="678942" y="6236018"/>
            <a:chExt cx="10834116" cy="264033"/>
          </a:xfrm>
        </p:grpSpPr>
        <p:sp>
          <p:nvSpPr>
            <p:cNvPr id="39" name="TextBox 39"/>
            <p:cNvSpPr txBox="1"/>
            <p:nvPr/>
          </p:nvSpPr>
          <p:spPr>
            <a:xfrm>
              <a:off x="678942" y="6236018"/>
              <a:ext cx="370297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核心设计：承诺验证 + 私有数据 + 状态机治理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1299431" y="6236018"/>
              <a:ext cx="2136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69798" y="495300"/>
            <a:ext cx="6147968" cy="847535"/>
            <a:chOff x="669798" y="495300"/>
            <a:chExt cx="6147968" cy="847535"/>
          </a:xfrm>
        </p:grpSpPr>
        <p:sp>
          <p:nvSpPr>
            <p:cNvPr id="2" name="Rectangle 2"/>
            <p:cNvSpPr/>
            <p:nvPr/>
          </p:nvSpPr>
          <p:spPr>
            <a:xfrm>
              <a:off x="685800" y="495300"/>
              <a:ext cx="438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69798" y="726758"/>
              <a:ext cx="6147968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一条交易，穿过四层责任边界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85800" y="1543050"/>
            <a:ext cx="10820400" cy="3409950"/>
            <a:chOff x="685800" y="1543050"/>
            <a:chExt cx="10820400" cy="3409950"/>
          </a:xfrm>
        </p:grpSpPr>
        <p:sp>
          <p:nvSpPr>
            <p:cNvPr id="5" name="Rectangle 5"/>
            <p:cNvSpPr/>
            <p:nvPr/>
          </p:nvSpPr>
          <p:spPr>
            <a:xfrm>
              <a:off x="685800" y="1657350"/>
              <a:ext cx="2228850" cy="3295650"/>
            </a:xfrm>
            <a:prstGeom prst="roundRect">
              <a:avLst>
                <a:gd name="adj" fmla="val 4274"/>
              </a:avLst>
            </a:prstGeom>
            <a:solidFill>
              <a:schemeClr val="lt2"/>
            </a:solidFill>
            <a:ln w="19050">
              <a:solidFill>
                <a:srgbClr val="C8CDD3"/>
              </a:solidFill>
              <a:custDash>
                <a:ds d="400000" sp="300000"/>
              </a:custDash>
            </a:ln>
          </p:spPr>
        </p:sp>
        <p:sp>
          <p:nvSpPr>
            <p:cNvPr id="6" name="Rectangle 6"/>
            <p:cNvSpPr/>
            <p:nvPr/>
          </p:nvSpPr>
          <p:spPr>
            <a:xfrm>
              <a:off x="3219450" y="1657350"/>
              <a:ext cx="3429000" cy="3295650"/>
            </a:xfrm>
            <a:prstGeom prst="roundRect">
              <a:avLst>
                <a:gd name="adj" fmla="val 2890"/>
              </a:avLst>
            </a:prstGeom>
            <a:solidFill>
              <a:schemeClr val="lt2"/>
            </a:solidFill>
            <a:ln w="19050">
              <a:solidFill>
                <a:srgbClr val="C8CDD3"/>
              </a:solidFill>
              <a:custDash>
                <a:ds d="400000" sp="300000"/>
              </a:custDash>
            </a:ln>
          </p:spPr>
        </p:sp>
        <p:sp>
          <p:nvSpPr>
            <p:cNvPr id="7" name="Rectangle 7"/>
            <p:cNvSpPr/>
            <p:nvPr/>
          </p:nvSpPr>
          <p:spPr>
            <a:xfrm>
              <a:off x="6953250" y="1657350"/>
              <a:ext cx="4552950" cy="3295650"/>
            </a:xfrm>
            <a:prstGeom prst="roundRect">
              <a:avLst>
                <a:gd name="adj" fmla="val 2890"/>
              </a:avLst>
            </a:prstGeom>
            <a:solidFill>
              <a:srgbClr val="E8EEF5"/>
            </a:solidFill>
            <a:ln w="19050">
              <a:solidFill>
                <a:schemeClr val="accent3"/>
              </a:solidFill>
              <a:custDash>
                <a:ds d="400000" sp="300000"/>
              </a:custDash>
            </a:ln>
          </p:spPr>
        </p:sp>
        <p:sp>
          <p:nvSpPr>
            <p:cNvPr id="8" name="Rectangle 8"/>
            <p:cNvSpPr/>
            <p:nvPr/>
          </p:nvSpPr>
          <p:spPr>
            <a:xfrm>
              <a:off x="876300" y="1543050"/>
              <a:ext cx="914400" cy="2286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3409950" y="1543050"/>
              <a:ext cx="1104900" cy="2286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7143750" y="1543050"/>
              <a:ext cx="1104900" cy="2286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40406" y="1568768"/>
              <a:ext cx="5861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角色端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573894" y="1568768"/>
              <a:ext cx="7770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应用边界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149995" y="1568768"/>
              <a:ext cx="10924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FABRIC 网络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2571750" y="2771775"/>
            <a:ext cx="6686550" cy="1943100"/>
            <a:chOff x="2571750" y="2771775"/>
            <a:chExt cx="6686550" cy="1943100"/>
          </a:xfrm>
        </p:grpSpPr>
        <p:sp>
          <p:nvSpPr>
            <p:cNvPr id="15" name="Line 15"/>
            <p:cNvSpPr/>
            <p:nvPr/>
          </p:nvSpPr>
          <p:spPr>
            <a:xfrm>
              <a:off x="2571750" y="2857500"/>
              <a:ext cx="1028700" cy="9525"/>
            </a:xfrm>
            <a:custGeom>
              <a:avLst/>
              <a:gdLst/>
              <a:ahLst/>
              <a:cxnLst/>
              <a:rect l="l" t="t" r="r" b="b"/>
              <a:pathLst>
                <a:path w="1028700" h="9525">
                  <a:moveTo>
                    <a:pt x="0" y="0"/>
                  </a:moveTo>
                  <a:lnTo>
                    <a:pt x="1028700" y="0"/>
                  </a:lnTo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</p:sp>
        <p:sp>
          <p:nvSpPr>
            <p:cNvPr id="16" name="Polygon 16"/>
            <p:cNvSpPr/>
            <p:nvPr/>
          </p:nvSpPr>
          <p:spPr>
            <a:xfrm>
              <a:off x="3562350" y="2771775"/>
              <a:ext cx="152400" cy="171450"/>
            </a:xfrm>
            <a:custGeom>
              <a:avLst/>
              <a:gdLst/>
              <a:ahLst/>
              <a:cxnLst/>
              <a:rect l="l" t="t" r="r" b="b"/>
              <a:pathLst>
                <a:path w="152400" h="171450">
                  <a:moveTo>
                    <a:pt x="152400" y="85725"/>
                  </a:moveTo>
                  <a:lnTo>
                    <a:pt x="0" y="0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5238750" y="2857500"/>
              <a:ext cx="666750" cy="9525"/>
            </a:xfrm>
            <a:custGeom>
              <a:avLst/>
              <a:gdLst/>
              <a:ahLst/>
              <a:cxnLst/>
              <a:rect l="l" t="t" r="r" b="b"/>
              <a:pathLst>
                <a:path w="666750" h="9525">
                  <a:moveTo>
                    <a:pt x="0" y="0"/>
                  </a:moveTo>
                  <a:lnTo>
                    <a:pt x="666750" y="0"/>
                  </a:lnTo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</p:sp>
        <p:sp>
          <p:nvSpPr>
            <p:cNvPr id="18" name="Polygon 18"/>
            <p:cNvSpPr/>
            <p:nvPr/>
          </p:nvSpPr>
          <p:spPr>
            <a:xfrm>
              <a:off x="5867400" y="2771775"/>
              <a:ext cx="152400" cy="171450"/>
            </a:xfrm>
            <a:custGeom>
              <a:avLst/>
              <a:gdLst/>
              <a:ahLst/>
              <a:cxnLst/>
              <a:rect l="l" t="t" r="r" b="b"/>
              <a:pathLst>
                <a:path w="152400" h="171450">
                  <a:moveTo>
                    <a:pt x="152400" y="85725"/>
                  </a:moveTo>
                  <a:lnTo>
                    <a:pt x="0" y="0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9" name="Line 19"/>
            <p:cNvSpPr/>
            <p:nvPr/>
          </p:nvSpPr>
          <p:spPr>
            <a:xfrm>
              <a:off x="6648450" y="2857500"/>
              <a:ext cx="704850" cy="9525"/>
            </a:xfrm>
            <a:custGeom>
              <a:avLst/>
              <a:gdLst/>
              <a:ahLst/>
              <a:cxnLst/>
              <a:rect l="l" t="t" r="r" b="b"/>
              <a:pathLst>
                <a:path w="704850" h="9525">
                  <a:moveTo>
                    <a:pt x="0" y="0"/>
                  </a:moveTo>
                  <a:lnTo>
                    <a:pt x="704850" y="0"/>
                  </a:lnTo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</p:sp>
        <p:sp>
          <p:nvSpPr>
            <p:cNvPr id="20" name="Polygon 20"/>
            <p:cNvSpPr/>
            <p:nvPr/>
          </p:nvSpPr>
          <p:spPr>
            <a:xfrm>
              <a:off x="7315200" y="2771775"/>
              <a:ext cx="152400" cy="171450"/>
            </a:xfrm>
            <a:custGeom>
              <a:avLst/>
              <a:gdLst/>
              <a:ahLst/>
              <a:cxnLst/>
              <a:rect l="l" t="t" r="r" b="b"/>
              <a:pathLst>
                <a:path w="152400" h="171450">
                  <a:moveTo>
                    <a:pt x="152400" y="85725"/>
                  </a:moveTo>
                  <a:lnTo>
                    <a:pt x="0" y="0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1" name="Freeform 21"/>
            <p:cNvSpPr/>
            <p:nvPr/>
          </p:nvSpPr>
          <p:spPr>
            <a:xfrm>
              <a:off x="8210550" y="3086100"/>
              <a:ext cx="933450" cy="419100"/>
            </a:xfrm>
            <a:custGeom>
              <a:avLst/>
              <a:gdLst/>
              <a:ahLst/>
              <a:cxnLst/>
              <a:rect l="l" t="t" r="r" b="b"/>
              <a:pathLst>
                <a:path w="933450" h="419100">
                  <a:moveTo>
                    <a:pt x="0" y="0"/>
                  </a:moveTo>
                  <a:lnTo>
                    <a:pt x="0" y="419100"/>
                  </a:lnTo>
                  <a:lnTo>
                    <a:pt x="933450" y="419100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22" name="Polygon 22"/>
            <p:cNvSpPr/>
            <p:nvPr/>
          </p:nvSpPr>
          <p:spPr>
            <a:xfrm>
              <a:off x="9105900" y="3419475"/>
              <a:ext cx="152400" cy="171450"/>
            </a:xfrm>
            <a:custGeom>
              <a:avLst/>
              <a:gdLst/>
              <a:ahLst/>
              <a:cxnLst/>
              <a:rect l="l" t="t" r="r" b="b"/>
              <a:pathLst>
                <a:path w="152400" h="171450">
                  <a:moveTo>
                    <a:pt x="152400" y="85725"/>
                  </a:moveTo>
                  <a:lnTo>
                    <a:pt x="0" y="0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23" name="Freeform 23"/>
            <p:cNvSpPr/>
            <p:nvPr/>
          </p:nvSpPr>
          <p:spPr>
            <a:xfrm>
              <a:off x="8210550" y="3086100"/>
              <a:ext cx="933450" cy="1085850"/>
            </a:xfrm>
            <a:custGeom>
              <a:avLst/>
              <a:gdLst/>
              <a:ahLst/>
              <a:cxnLst/>
              <a:rect l="l" t="t" r="r" b="b"/>
              <a:pathLst>
                <a:path w="933450" h="1085850">
                  <a:moveTo>
                    <a:pt x="0" y="0"/>
                  </a:moveTo>
                  <a:lnTo>
                    <a:pt x="0" y="1085850"/>
                  </a:lnTo>
                  <a:lnTo>
                    <a:pt x="933450" y="1085850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24" name="Polygon 24"/>
            <p:cNvSpPr/>
            <p:nvPr/>
          </p:nvSpPr>
          <p:spPr>
            <a:xfrm>
              <a:off x="9105900" y="4086225"/>
              <a:ext cx="152400" cy="171450"/>
            </a:xfrm>
            <a:custGeom>
              <a:avLst/>
              <a:gdLst/>
              <a:ahLst/>
              <a:cxnLst/>
              <a:rect l="l" t="t" r="r" b="b"/>
              <a:pathLst>
                <a:path w="152400" h="171450">
                  <a:moveTo>
                    <a:pt x="152400" y="85725"/>
                  </a:moveTo>
                  <a:lnTo>
                    <a:pt x="0" y="0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25" name="Freeform 25"/>
            <p:cNvSpPr/>
            <p:nvPr/>
          </p:nvSpPr>
          <p:spPr>
            <a:xfrm>
              <a:off x="5905500" y="3276600"/>
              <a:ext cx="2171700" cy="1352550"/>
            </a:xfrm>
            <a:custGeom>
              <a:avLst/>
              <a:gdLst/>
              <a:ahLst/>
              <a:cxnLst/>
              <a:rect l="l" t="t" r="r" b="b"/>
              <a:pathLst>
                <a:path w="2171700" h="1352550">
                  <a:moveTo>
                    <a:pt x="0" y="0"/>
                  </a:moveTo>
                  <a:lnTo>
                    <a:pt x="0" y="1352550"/>
                  </a:lnTo>
                  <a:lnTo>
                    <a:pt x="2171700" y="1352550"/>
                  </a:lnTo>
                </a:path>
              </a:pathLst>
            </a:custGeom>
            <a:noFill/>
            <a:ln w="19050">
              <a:solidFill>
                <a:schemeClr val="accent6"/>
              </a:solidFill>
              <a:custDash>
                <a:ds d="400000" sp="300000"/>
              </a:custDash>
            </a:ln>
          </p:spPr>
        </p:sp>
        <p:sp>
          <p:nvSpPr>
            <p:cNvPr id="26" name="Polygon 26"/>
            <p:cNvSpPr/>
            <p:nvPr/>
          </p:nvSpPr>
          <p:spPr>
            <a:xfrm>
              <a:off x="8039100" y="4543425"/>
              <a:ext cx="152400" cy="171450"/>
            </a:xfrm>
            <a:custGeom>
              <a:avLst/>
              <a:gdLst/>
              <a:ahLst/>
              <a:cxnLst/>
              <a:rect l="l" t="t" r="r" b="b"/>
              <a:pathLst>
                <a:path w="152400" h="171450">
                  <a:moveTo>
                    <a:pt x="152400" y="85725"/>
                  </a:moveTo>
                  <a:lnTo>
                    <a:pt x="0" y="0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</p:sp>
      </p:grpSp>
      <p:grpSp>
        <p:nvGrpSpPr>
          <p:cNvPr id="36" name="Group 36"/>
          <p:cNvGrpSpPr/>
          <p:nvPr/>
        </p:nvGrpSpPr>
        <p:grpSpPr>
          <a:xfrm>
            <a:off x="914400" y="2114550"/>
            <a:ext cx="1771650" cy="1813751"/>
            <a:chOff x="914400" y="2114550"/>
            <a:chExt cx="1771650" cy="1813751"/>
          </a:xfrm>
        </p:grpSpPr>
        <p:sp>
          <p:nvSpPr>
            <p:cNvPr id="28" name="Rectangle 28"/>
            <p:cNvSpPr/>
            <p:nvPr/>
          </p:nvSpPr>
          <p:spPr>
            <a:xfrm>
              <a:off x="914400" y="2114550"/>
              <a:ext cx="1771650" cy="1809750"/>
            </a:xfrm>
            <a:prstGeom prst="roundRect">
              <a:avLst>
                <a:gd name="adj" fmla="val 537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1647825" y="2405063"/>
              <a:ext cx="309563" cy="371475"/>
              <a:chOff x="1647825" y="2405063"/>
              <a:chExt cx="309563" cy="371475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1689100" y="2405063"/>
                <a:ext cx="165100" cy="165100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165100">
                    <a:moveTo>
                      <a:pt x="0" y="82550"/>
                    </a:moveTo>
                    <a:cubicBezTo>
                      <a:pt x="0" y="128141"/>
                      <a:pt x="36959" y="165100"/>
                      <a:pt x="82550" y="165100"/>
                    </a:cubicBezTo>
                    <a:cubicBezTo>
                      <a:pt x="128141" y="165100"/>
                      <a:pt x="165100" y="128141"/>
                      <a:pt x="165100" y="82550"/>
                    </a:cubicBezTo>
                    <a:cubicBezTo>
                      <a:pt x="165100" y="36959"/>
                      <a:pt x="128141" y="0"/>
                      <a:pt x="82550" y="0"/>
                    </a:cubicBezTo>
                    <a:cubicBezTo>
                      <a:pt x="36959" y="0"/>
                      <a:pt x="0" y="36959"/>
                      <a:pt x="0" y="82550"/>
                    </a:cubicBezTo>
                  </a:path>
                </a:pathLst>
              </a:custGeom>
              <a:noFill/>
              <a:ln w="41275">
                <a:solidFill>
                  <a:schemeClr val="accent1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1647825" y="2652713"/>
                <a:ext cx="165100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123825">
                    <a:moveTo>
                      <a:pt x="0" y="123825"/>
                    </a:moveTo>
                    <a:lnTo>
                      <a:pt x="0" y="82550"/>
                    </a:lnTo>
                    <a:cubicBezTo>
                      <a:pt x="0" y="36959"/>
                      <a:pt x="36959" y="0"/>
                      <a:pt x="82550" y="0"/>
                    </a:cubicBezTo>
                    <a:lnTo>
                      <a:pt x="165100" y="0"/>
                    </a:lnTo>
                  </a:path>
                </a:pathLst>
              </a:custGeom>
              <a:noFill/>
              <a:ln w="41275">
                <a:solidFill>
                  <a:schemeClr val="accent1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1833563" y="2693988"/>
                <a:ext cx="123825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123825" h="82550">
                    <a:moveTo>
                      <a:pt x="0" y="41275"/>
                    </a:moveTo>
                    <a:lnTo>
                      <a:pt x="41275" y="82550"/>
                    </a:lnTo>
                    <a:lnTo>
                      <a:pt x="123825" y="0"/>
                    </a:lnTo>
                  </a:path>
                </a:pathLst>
              </a:custGeom>
              <a:noFill/>
              <a:ln w="41275">
                <a:solidFill>
                  <a:schemeClr val="accent1"/>
                </a:solidFill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1027786" y="2967990"/>
              <a:ext cx="154487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四角色工作台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016441" y="3397568"/>
              <a:ext cx="15675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issuer · reviewer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84637" y="3664268"/>
              <a:ext cx="16311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student · verifier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3600450" y="2114550"/>
            <a:ext cx="1619250" cy="1485900"/>
            <a:chOff x="3600450" y="2114550"/>
            <a:chExt cx="1619250" cy="1485900"/>
          </a:xfrm>
        </p:grpSpPr>
        <p:sp>
          <p:nvSpPr>
            <p:cNvPr id="37" name="Rectangle 37"/>
            <p:cNvSpPr/>
            <p:nvPr/>
          </p:nvSpPr>
          <p:spPr>
            <a:xfrm>
              <a:off x="3600450" y="2114550"/>
              <a:ext cx="1619250" cy="1485900"/>
            </a:xfrm>
            <a:prstGeom prst="roundRect">
              <a:avLst>
                <a:gd name="adj" fmla="val 6410"/>
              </a:avLst>
            </a:prstGeom>
            <a:solidFill>
              <a:schemeClr val="lt2"/>
            </a:solidFill>
            <a:ln w="19050">
              <a:solidFill>
                <a:schemeClr val="accent3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3798216" y="2377440"/>
              <a:ext cx="122371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Vue 3 Web</a:t>
              </a:r>
            </a:p>
          </p:txBody>
        </p:sp>
        <p:sp>
          <p:nvSpPr>
            <p:cNvPr id="39" name="Line 39"/>
            <p:cNvSpPr/>
            <p:nvPr/>
          </p:nvSpPr>
          <p:spPr>
            <a:xfrm>
              <a:off x="3867150" y="2781300"/>
              <a:ext cx="1085850" cy="9525"/>
            </a:xfrm>
            <a:custGeom>
              <a:avLst/>
              <a:gdLst/>
              <a:ahLst/>
              <a:cxnLst/>
              <a:rect l="l" t="t" r="r" b="b"/>
              <a:pathLst>
                <a:path w="1085850" h="9525">
                  <a:moveTo>
                    <a:pt x="0" y="0"/>
                  </a:moveTo>
                  <a:lnTo>
                    <a:pt x="1085850" y="0"/>
                  </a:lnTo>
                </a:path>
              </a:pathLst>
            </a:custGeom>
            <a:noFill/>
            <a:ln w="19050">
              <a:solidFill>
                <a:srgbClr val="D6D8DA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3790390" y="2997518"/>
              <a:ext cx="12393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HttpOnly 会话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3971163" y="3283268"/>
              <a:ext cx="8778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CSRF 校验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5619750" y="2114550"/>
            <a:ext cx="1028700" cy="1485900"/>
            <a:chOff x="5619750" y="2114550"/>
            <a:chExt cx="1028700" cy="1485900"/>
          </a:xfrm>
        </p:grpSpPr>
        <p:sp>
          <p:nvSpPr>
            <p:cNvPr id="43" name="Rectangle 43"/>
            <p:cNvSpPr/>
            <p:nvPr/>
          </p:nvSpPr>
          <p:spPr>
            <a:xfrm>
              <a:off x="5619750" y="2114550"/>
              <a:ext cx="1028700" cy="1485900"/>
            </a:xfrm>
            <a:prstGeom prst="roundRect">
              <a:avLst>
                <a:gd name="adj" fmla="val 9259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5936772" y="2453640"/>
              <a:ext cx="39465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8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API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5763768" y="28832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固定身份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5756249" y="3188018"/>
              <a:ext cx="75570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Gateway</a:t>
              </a:r>
            </a:p>
          </p:txBody>
        </p:sp>
      </p:grpSp>
      <p:grpSp>
        <p:nvGrpSpPr>
          <p:cNvPr id="59" name="Group 59"/>
          <p:cNvGrpSpPr/>
          <p:nvPr/>
        </p:nvGrpSpPr>
        <p:grpSpPr>
          <a:xfrm>
            <a:off x="7467600" y="2114550"/>
            <a:ext cx="3581400" cy="2362200"/>
            <a:chOff x="7467600" y="2114550"/>
            <a:chExt cx="3581400" cy="2362200"/>
          </a:xfrm>
        </p:grpSpPr>
        <p:sp>
          <p:nvSpPr>
            <p:cNvPr id="48" name="Rectangle 48"/>
            <p:cNvSpPr/>
            <p:nvPr/>
          </p:nvSpPr>
          <p:spPr>
            <a:xfrm>
              <a:off x="7467600" y="2114550"/>
              <a:ext cx="1485900" cy="971550"/>
            </a:xfrm>
            <a:prstGeom prst="roundRect">
              <a:avLst>
                <a:gd name="adj" fmla="val 9804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</p:sp>
        <p:grpSp>
          <p:nvGrpSpPr>
            <p:cNvPr id="52" name="Group 52"/>
            <p:cNvGrpSpPr/>
            <p:nvPr/>
          </p:nvGrpSpPr>
          <p:grpSpPr>
            <a:xfrm>
              <a:off x="7747000" y="2395537"/>
              <a:ext cx="279399" cy="314325"/>
              <a:chOff x="7747000" y="2395537"/>
              <a:chExt cx="279399" cy="314325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7747000" y="2395537"/>
                <a:ext cx="279399" cy="104775"/>
              </a:xfrm>
              <a:custGeom>
                <a:avLst/>
                <a:gdLst/>
                <a:ahLst/>
                <a:cxnLst/>
                <a:rect l="l" t="t" r="r" b="b"/>
                <a:pathLst>
                  <a:path w="279399" h="104775">
                    <a:moveTo>
                      <a:pt x="0" y="52387"/>
                    </a:moveTo>
                    <a:cubicBezTo>
                      <a:pt x="0" y="81320"/>
                      <a:pt x="62546" y="104775"/>
                      <a:pt x="139700" y="104775"/>
                    </a:cubicBezTo>
                    <a:cubicBezTo>
                      <a:pt x="216854" y="104775"/>
                      <a:pt x="279399" y="81320"/>
                      <a:pt x="279399" y="52387"/>
                    </a:cubicBezTo>
                    <a:cubicBezTo>
                      <a:pt x="279399" y="23455"/>
                      <a:pt x="216854" y="0"/>
                      <a:pt x="139700" y="0"/>
                    </a:cubicBezTo>
                    <a:cubicBezTo>
                      <a:pt x="62546" y="0"/>
                      <a:pt x="0" y="23455"/>
                      <a:pt x="0" y="52387"/>
                    </a:cubicBez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7747000" y="2447925"/>
                <a:ext cx="279399" cy="157162"/>
              </a:xfrm>
              <a:custGeom>
                <a:avLst/>
                <a:gdLst/>
                <a:ahLst/>
                <a:cxnLst/>
                <a:rect l="l" t="t" r="r" b="b"/>
                <a:pathLst>
                  <a:path w="279399" h="157162">
                    <a:moveTo>
                      <a:pt x="0" y="0"/>
                    </a:moveTo>
                    <a:lnTo>
                      <a:pt x="0" y="104775"/>
                    </a:lnTo>
                    <a:cubicBezTo>
                      <a:pt x="0" y="133708"/>
                      <a:pt x="62546" y="157162"/>
                      <a:pt x="139700" y="157162"/>
                    </a:cubicBezTo>
                    <a:cubicBezTo>
                      <a:pt x="216854" y="157162"/>
                      <a:pt x="279399" y="133708"/>
                      <a:pt x="279399" y="104775"/>
                    </a:cubicBezTo>
                    <a:lnTo>
                      <a:pt x="279399" y="0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7747000" y="2552700"/>
                <a:ext cx="279399" cy="157162"/>
              </a:xfrm>
              <a:custGeom>
                <a:avLst/>
                <a:gdLst/>
                <a:ahLst/>
                <a:cxnLst/>
                <a:rect l="l" t="t" r="r" b="b"/>
                <a:pathLst>
                  <a:path w="279399" h="157162">
                    <a:moveTo>
                      <a:pt x="0" y="0"/>
                    </a:moveTo>
                    <a:lnTo>
                      <a:pt x="0" y="104775"/>
                    </a:lnTo>
                    <a:cubicBezTo>
                      <a:pt x="0" y="133708"/>
                      <a:pt x="62546" y="157162"/>
                      <a:pt x="139700" y="157162"/>
                    </a:cubicBezTo>
                    <a:cubicBezTo>
                      <a:pt x="216854" y="157162"/>
                      <a:pt x="279399" y="133708"/>
                      <a:pt x="279399" y="104775"/>
                    </a:cubicBezTo>
                    <a:lnTo>
                      <a:pt x="279399" y="0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</p:grpSp>
        <p:sp>
          <p:nvSpPr>
            <p:cNvPr id="53" name="TextBox 53"/>
            <p:cNvSpPr txBox="1"/>
            <p:nvPr/>
          </p:nvSpPr>
          <p:spPr>
            <a:xfrm>
              <a:off x="8296656" y="2339340"/>
              <a:ext cx="122163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Chaincode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298942" y="2673668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状态与校验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9258300" y="3200400"/>
              <a:ext cx="1790700" cy="609600"/>
            </a:xfrm>
            <a:prstGeom prst="roundRect">
              <a:avLst>
                <a:gd name="adj" fmla="val 12500"/>
              </a:avLst>
            </a:prstGeom>
            <a:solidFill>
              <a:schemeClr val="lt2"/>
            </a:solidFill>
            <a:ln w="19050">
              <a:solidFill>
                <a:schemeClr val="accent3"/>
              </a:solidFill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9511067" y="3387090"/>
              <a:ext cx="128516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Org1 Peer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9258300" y="3867150"/>
              <a:ext cx="1790700" cy="609600"/>
            </a:xfrm>
            <a:prstGeom prst="roundRect">
              <a:avLst>
                <a:gd name="adj" fmla="val 12500"/>
              </a:avLst>
            </a:prstGeom>
            <a:solidFill>
              <a:schemeClr val="lt2"/>
            </a:solidFill>
            <a:ln w="19050">
              <a:solidFill>
                <a:schemeClr val="accent3"/>
              </a:solidFill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9511067" y="4053840"/>
              <a:ext cx="128516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Org2 Peer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3562350" y="4514850"/>
            <a:ext cx="6762750" cy="742950"/>
            <a:chOff x="3562350" y="4514850"/>
            <a:chExt cx="6762750" cy="742950"/>
          </a:xfrm>
        </p:grpSpPr>
        <p:sp>
          <p:nvSpPr>
            <p:cNvPr id="60" name="Rectangle 60"/>
            <p:cNvSpPr/>
            <p:nvPr/>
          </p:nvSpPr>
          <p:spPr>
            <a:xfrm>
              <a:off x="3562350" y="4514850"/>
              <a:ext cx="6762750" cy="742950"/>
            </a:xfrm>
            <a:prstGeom prst="roundRect">
              <a:avLst>
                <a:gd name="adj" fmla="val 10256"/>
              </a:avLst>
            </a:prstGeom>
            <a:solidFill>
              <a:srgbClr val="E7F1EC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3784092" y="4673918"/>
              <a:ext cx="173113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transient 私有路径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3784092" y="4978718"/>
              <a:ext cx="624489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成绩、申诉和决定正文不进入交易参数；公共状态只留下 SHA-256 承诺。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685800" y="5505450"/>
            <a:ext cx="10820400" cy="443484"/>
            <a:chOff x="685800" y="5505450"/>
            <a:chExt cx="10820400" cy="443484"/>
          </a:xfrm>
        </p:grpSpPr>
        <p:sp>
          <p:nvSpPr>
            <p:cNvPr id="64" name="Rectangle 64"/>
            <p:cNvSpPr/>
            <p:nvPr/>
          </p:nvSpPr>
          <p:spPr>
            <a:xfrm>
              <a:off x="685800" y="5505450"/>
              <a:ext cx="10820400" cy="438150"/>
            </a:xfrm>
            <a:prstGeom prst="roundRect">
              <a:avLst>
                <a:gd name="adj" fmla="val 13043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1711589" y="5596890"/>
              <a:ext cx="876882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浏览器不能提交证书路径或任意 MSP 身份——动作只映射到服务器固定身份</a:t>
              </a:r>
            </a:p>
          </p:txBody>
        </p:sp>
      </p:grpSp>
      <p:grpSp>
        <p:nvGrpSpPr>
          <p:cNvPr id="69" name="Group 69"/>
          <p:cNvGrpSpPr/>
          <p:nvPr/>
        </p:nvGrpSpPr>
        <p:grpSpPr>
          <a:xfrm>
            <a:off x="678942" y="6236018"/>
            <a:ext cx="10834116" cy="264033"/>
            <a:chOff x="678942" y="6236018"/>
            <a:chExt cx="10834116" cy="264033"/>
          </a:xfrm>
        </p:grpSpPr>
        <p:sp>
          <p:nvSpPr>
            <p:cNvPr id="67" name="TextBox 67"/>
            <p:cNvSpPr txBox="1"/>
            <p:nvPr/>
          </p:nvSpPr>
          <p:spPr>
            <a:xfrm>
              <a:off x="678942" y="6236018"/>
              <a:ext cx="51415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实现边界：Vue 3 → Node API → Fabric Gateway → 双组织 Peer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1299431" y="6236018"/>
              <a:ext cx="2136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69798" y="495300"/>
            <a:ext cx="6147968" cy="847535"/>
            <a:chOff x="669798" y="495300"/>
            <a:chExt cx="6147968" cy="847535"/>
          </a:xfrm>
        </p:grpSpPr>
        <p:sp>
          <p:nvSpPr>
            <p:cNvPr id="2" name="Rectangle 2"/>
            <p:cNvSpPr/>
            <p:nvPr/>
          </p:nvSpPr>
          <p:spPr>
            <a:xfrm>
              <a:off x="685800" y="495300"/>
              <a:ext cx="438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69798" y="726758"/>
              <a:ext cx="6147968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四类角色，各自只做该做的事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219200" y="2009775"/>
            <a:ext cx="9753600" cy="247650"/>
            <a:chOff x="1219200" y="2009775"/>
            <a:chExt cx="9753600" cy="247650"/>
          </a:xfrm>
        </p:grpSpPr>
        <p:sp>
          <p:nvSpPr>
            <p:cNvPr id="5" name="Line 5"/>
            <p:cNvSpPr/>
            <p:nvPr/>
          </p:nvSpPr>
          <p:spPr>
            <a:xfrm>
              <a:off x="1219200" y="2133600"/>
              <a:ext cx="9753600" cy="9525"/>
            </a:xfrm>
            <a:custGeom>
              <a:avLst/>
              <a:gdLst/>
              <a:ahLst/>
              <a:cxnLst/>
              <a:rect l="l" t="t" r="r" b="b"/>
              <a:pathLst>
                <a:path w="9753600" h="9525">
                  <a:moveTo>
                    <a:pt x="0" y="0"/>
                  </a:moveTo>
                  <a:lnTo>
                    <a:pt x="9753600" y="0"/>
                  </a:lnTo>
                </a:path>
              </a:pathLst>
            </a:custGeom>
            <a:noFill/>
            <a:ln w="76200">
              <a:solidFill>
                <a:srgbClr val="C8CDD3"/>
              </a:solidFill>
            </a:ln>
          </p:spPr>
        </p:sp>
        <p:sp>
          <p:nvSpPr>
            <p:cNvPr id="6" name="Ellipse 6"/>
            <p:cNvSpPr/>
            <p:nvPr/>
          </p:nvSpPr>
          <p:spPr>
            <a:xfrm>
              <a:off x="1800225" y="2009775"/>
              <a:ext cx="247650" cy="2476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Ellipse 7"/>
            <p:cNvSpPr/>
            <p:nvPr/>
          </p:nvSpPr>
          <p:spPr>
            <a:xfrm>
              <a:off x="4486275" y="2009775"/>
              <a:ext cx="247650" cy="2476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7210425" y="2009775"/>
              <a:ext cx="247650" cy="24765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9" name="Ellipse 9"/>
            <p:cNvSpPr/>
            <p:nvPr/>
          </p:nvSpPr>
          <p:spPr>
            <a:xfrm>
              <a:off x="10010775" y="2009775"/>
              <a:ext cx="247650" cy="24765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</p:grpSp>
      <p:grpSp>
        <p:nvGrpSpPr>
          <p:cNvPr id="18" name="Group 18"/>
          <p:cNvGrpSpPr/>
          <p:nvPr/>
        </p:nvGrpSpPr>
        <p:grpSpPr>
          <a:xfrm>
            <a:off x="905256" y="2768918"/>
            <a:ext cx="1678896" cy="2111883"/>
            <a:chOff x="905256" y="2768918"/>
            <a:chExt cx="1678896" cy="2111883"/>
          </a:xfrm>
        </p:grpSpPr>
        <p:sp>
          <p:nvSpPr>
            <p:cNvPr id="11" name="TextBox 11"/>
            <p:cNvSpPr txBox="1"/>
            <p:nvPr/>
          </p:nvSpPr>
          <p:spPr>
            <a:xfrm>
              <a:off x="907542" y="2768918"/>
              <a:ext cx="146541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ISSUER · 签发者</a:t>
              </a:r>
            </a:p>
          </p:txBody>
        </p:sp>
        <p:grpSp>
          <p:nvGrpSpPr>
            <p:cNvPr id="14" name="Group 14"/>
            <p:cNvGrpSpPr/>
            <p:nvPr/>
          </p:nvGrpSpPr>
          <p:grpSpPr>
            <a:xfrm>
              <a:off x="952500" y="3257550"/>
              <a:ext cx="381000" cy="266700"/>
              <a:chOff x="952500" y="3257550"/>
              <a:chExt cx="381000" cy="26670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952500" y="3257550"/>
                <a:ext cx="381000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190500">
                    <a:moveTo>
                      <a:pt x="381000" y="76200"/>
                    </a:moveTo>
                    <a:lnTo>
                      <a:pt x="190500" y="0"/>
                    </a:lnTo>
                    <a:lnTo>
                      <a:pt x="0" y="76200"/>
                    </a:lnTo>
                    <a:lnTo>
                      <a:pt x="190500" y="152400"/>
                    </a:lnTo>
                    <a:lnTo>
                      <a:pt x="381000" y="76200"/>
                    </a:lnTo>
                    <a:lnTo>
                      <a:pt x="381000" y="19050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1028700" y="3364230"/>
                <a:ext cx="228600" cy="16002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160020">
                    <a:moveTo>
                      <a:pt x="0" y="0"/>
                    </a:moveTo>
                    <a:lnTo>
                      <a:pt x="0" y="102870"/>
                    </a:lnTo>
                    <a:cubicBezTo>
                      <a:pt x="0" y="134433"/>
                      <a:pt x="51174" y="160020"/>
                      <a:pt x="114300" y="160020"/>
                    </a:cubicBezTo>
                    <a:cubicBezTo>
                      <a:pt x="177426" y="160020"/>
                      <a:pt x="228600" y="134433"/>
                      <a:pt x="228600" y="102870"/>
                    </a:cubicBezTo>
                    <a:lnTo>
                      <a:pt x="228600" y="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905256" y="3806190"/>
              <a:ext cx="103601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创建凭证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07542" y="4216718"/>
              <a:ext cx="16766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批量导入 · 提出修订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07542" y="4616768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A13B3B"/>
                  </a:solidFill>
                  <a:latin typeface="+mn-lt"/>
                  <a:ea typeface="+mn-ea"/>
                  <a:cs typeface="+mn-cs"/>
                </a:rPr>
                <a:t>不能自行批准生效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3486150" y="2381250"/>
            <a:ext cx="2381250" cy="2667000"/>
            <a:chOff x="3486150" y="2381250"/>
            <a:chExt cx="2381250" cy="2667000"/>
          </a:xfrm>
        </p:grpSpPr>
        <p:sp>
          <p:nvSpPr>
            <p:cNvPr id="19" name="Rectangle 19"/>
            <p:cNvSpPr/>
            <p:nvPr/>
          </p:nvSpPr>
          <p:spPr>
            <a:xfrm>
              <a:off x="3486150" y="2381250"/>
              <a:ext cx="2381250" cy="2667000"/>
            </a:xfrm>
            <a:prstGeom prst="roundRect">
              <a:avLst>
                <a:gd name="adj" fmla="val 4000"/>
              </a:avLst>
            </a:prstGeom>
            <a:solidFill>
              <a:srgbClr val="FFF6D9"/>
            </a:solidFill>
            <a:ln w="28575">
              <a:solidFill>
                <a:schemeClr val="accent2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726942" y="2673668"/>
              <a:ext cx="17275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8A6812"/>
                  </a:solidFill>
                  <a:latin typeface="+mn-lt"/>
                  <a:ea typeface="+mn-ea"/>
                  <a:cs typeface="+mn-cs"/>
                </a:rPr>
                <a:t>REVIEWER · 复核者</a:t>
              </a:r>
            </a:p>
          </p:txBody>
        </p:sp>
        <p:grpSp>
          <p:nvGrpSpPr>
            <p:cNvPr id="24" name="Group 24"/>
            <p:cNvGrpSpPr/>
            <p:nvPr/>
          </p:nvGrpSpPr>
          <p:grpSpPr>
            <a:xfrm>
              <a:off x="3848100" y="3124200"/>
              <a:ext cx="285750" cy="342900"/>
              <a:chOff x="3848100" y="3124200"/>
              <a:chExt cx="285750" cy="342900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3886200" y="3124200"/>
                <a:ext cx="1524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152400">
                    <a:moveTo>
                      <a:pt x="0" y="76200"/>
                    </a:moveTo>
                    <a:cubicBezTo>
                      <a:pt x="0" y="118284"/>
                      <a:pt x="34116" y="152400"/>
                      <a:pt x="76200" y="152400"/>
                    </a:cubicBezTo>
                    <a:cubicBezTo>
                      <a:pt x="118284" y="152400"/>
                      <a:pt x="152400" y="118284"/>
                      <a:pt x="152400" y="76200"/>
                    </a:cubicBezTo>
                    <a:cubicBezTo>
                      <a:pt x="152400" y="34116"/>
                      <a:pt x="118284" y="0"/>
                      <a:pt x="76200" y="0"/>
                    </a:cubicBezTo>
                    <a:cubicBezTo>
                      <a:pt x="34116" y="0"/>
                      <a:pt x="0" y="34116"/>
                      <a:pt x="0" y="76200"/>
                    </a:cubicBez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3848100" y="3352800"/>
                <a:ext cx="1524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114300">
                    <a:moveTo>
                      <a:pt x="0" y="114300"/>
                    </a:moveTo>
                    <a:lnTo>
                      <a:pt x="0" y="76200"/>
                    </a:lnTo>
                    <a:cubicBezTo>
                      <a:pt x="0" y="34116"/>
                      <a:pt x="34116" y="0"/>
                      <a:pt x="76200" y="0"/>
                    </a:cubicBezTo>
                    <a:lnTo>
                      <a:pt x="152400" y="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4019550" y="3390900"/>
                <a:ext cx="1143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76200">
                    <a:moveTo>
                      <a:pt x="0" y="38100"/>
                    </a:moveTo>
                    <a:lnTo>
                      <a:pt x="38100" y="76200"/>
                    </a:lnTo>
                    <a:lnTo>
                      <a:pt x="114300" y="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</p:grpSp>
        <p:sp>
          <p:nvSpPr>
            <p:cNvPr id="25" name="TextBox 25"/>
            <p:cNvSpPr txBox="1"/>
            <p:nvPr/>
          </p:nvSpPr>
          <p:spPr>
            <a:xfrm>
              <a:off x="3724656" y="3710940"/>
              <a:ext cx="129044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独立做决定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726942" y="4121468"/>
              <a:ext cx="152213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批准 · 拒绝 · 撤销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726942" y="44262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处理申诉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726942" y="4750118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A13B3B"/>
                  </a:solidFill>
                  <a:latin typeface="+mn-lt"/>
                  <a:ea typeface="+mn-ea"/>
                  <a:cs typeface="+mn-cs"/>
                </a:rPr>
                <a:t>不能替学生提交理由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6334506" y="2768918"/>
            <a:ext cx="1678896" cy="2111883"/>
            <a:chOff x="6334506" y="2768918"/>
            <a:chExt cx="1678896" cy="2111883"/>
          </a:xfrm>
        </p:grpSpPr>
        <p:sp>
          <p:nvSpPr>
            <p:cNvPr id="30" name="TextBox 30"/>
            <p:cNvSpPr txBox="1"/>
            <p:nvPr/>
          </p:nvSpPr>
          <p:spPr>
            <a:xfrm>
              <a:off x="6336792" y="2768918"/>
              <a:ext cx="162671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STUDENT · 持有者</a:t>
              </a:r>
            </a:p>
          </p:txBody>
        </p:sp>
        <p:grpSp>
          <p:nvGrpSpPr>
            <p:cNvPr id="35" name="Group 35"/>
            <p:cNvGrpSpPr/>
            <p:nvPr/>
          </p:nvGrpSpPr>
          <p:grpSpPr>
            <a:xfrm>
              <a:off x="6400800" y="3219450"/>
              <a:ext cx="304800" cy="361950"/>
              <a:chOff x="6400800" y="3219450"/>
              <a:chExt cx="304800" cy="361950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6610350" y="3219450"/>
                <a:ext cx="9525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95250">
                    <a:moveTo>
                      <a:pt x="0" y="0"/>
                    </a:moveTo>
                    <a:lnTo>
                      <a:pt x="0" y="76200"/>
                    </a:lnTo>
                    <a:cubicBezTo>
                      <a:pt x="0" y="86721"/>
                      <a:pt x="8529" y="95250"/>
                      <a:pt x="19050" y="95250"/>
                    </a:cubicBezTo>
                    <a:lnTo>
                      <a:pt x="95250" y="95250"/>
                    </a:lnTo>
                  </a:path>
                </a:pathLst>
              </a:custGeom>
              <a:noFill/>
              <a:ln w="38100">
                <a:solidFill>
                  <a:schemeClr val="accent3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6438900" y="3219450"/>
                <a:ext cx="26670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w="266700" h="342900">
                    <a:moveTo>
                      <a:pt x="0" y="95250"/>
                    </a:moveTo>
                    <a:lnTo>
                      <a:pt x="0" y="38100"/>
                    </a:lnTo>
                    <a:cubicBezTo>
                      <a:pt x="0" y="17058"/>
                      <a:pt x="17058" y="0"/>
                      <a:pt x="38100" y="0"/>
                    </a:cubicBezTo>
                    <a:lnTo>
                      <a:pt x="171450" y="0"/>
                    </a:lnTo>
                    <a:lnTo>
                      <a:pt x="266700" y="95250"/>
                    </a:lnTo>
                    <a:lnTo>
                      <a:pt x="266700" y="304800"/>
                    </a:lnTo>
                    <a:cubicBezTo>
                      <a:pt x="266700" y="325842"/>
                      <a:pt x="249642" y="342900"/>
                      <a:pt x="228600" y="342900"/>
                    </a:cubicBezTo>
                    <a:lnTo>
                      <a:pt x="133350" y="342900"/>
                    </a:lnTo>
                  </a:path>
                </a:pathLst>
              </a:custGeom>
              <a:noFill/>
              <a:ln w="38100">
                <a:solidFill>
                  <a:schemeClr val="accent3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6400800" y="3371850"/>
                <a:ext cx="1143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14300">
                    <a:moveTo>
                      <a:pt x="0" y="57150"/>
                    </a:moveTo>
                    <a:cubicBezTo>
                      <a:pt x="0" y="88713"/>
                      <a:pt x="25587" y="114300"/>
                      <a:pt x="57150" y="114300"/>
                    </a:cubicBezTo>
                    <a:cubicBezTo>
                      <a:pt x="88713" y="114300"/>
                      <a:pt x="114300" y="88713"/>
                      <a:pt x="114300" y="57150"/>
                    </a:cubicBezTo>
                    <a:cubicBezTo>
                      <a:pt x="114300" y="25587"/>
                      <a:pt x="88713" y="0"/>
                      <a:pt x="57150" y="0"/>
                    </a:cubicBezTo>
                    <a:cubicBezTo>
                      <a:pt x="25587" y="0"/>
                      <a:pt x="0" y="25587"/>
                      <a:pt x="0" y="57150"/>
                    </a:cubicBezTo>
                  </a:path>
                </a:pathLst>
              </a:custGeom>
              <a:noFill/>
              <a:ln w="38100">
                <a:solidFill>
                  <a:schemeClr val="accent3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6400800" y="3486150"/>
                <a:ext cx="11430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95250">
                    <a:moveTo>
                      <a:pt x="28575" y="0"/>
                    </a:moveTo>
                    <a:lnTo>
                      <a:pt x="0" y="95250"/>
                    </a:lnTo>
                    <a:lnTo>
                      <a:pt x="57150" y="66675"/>
                    </a:lnTo>
                    <a:lnTo>
                      <a:pt x="114300" y="95250"/>
                    </a:lnTo>
                    <a:lnTo>
                      <a:pt x="85725" y="0"/>
                    </a:lnTo>
                  </a:path>
                </a:pathLst>
              </a:custGeom>
              <a:noFill/>
              <a:ln w="38100">
                <a:solidFill>
                  <a:schemeClr val="accent3"/>
                </a:solidFill>
              </a:ln>
            </p:spPr>
          </p:sp>
        </p:grpSp>
        <p:sp>
          <p:nvSpPr>
            <p:cNvPr id="36" name="TextBox 36"/>
            <p:cNvSpPr txBox="1"/>
            <p:nvPr/>
          </p:nvSpPr>
          <p:spPr>
            <a:xfrm>
              <a:off x="6334506" y="3806190"/>
              <a:ext cx="154487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查看本人详情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336792" y="4216718"/>
              <a:ext cx="16766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发起申诉 · 授权披露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336792" y="4616768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A13B3B"/>
                  </a:solidFill>
                  <a:latin typeface="+mn-lt"/>
                  <a:ea typeface="+mn-ea"/>
                  <a:cs typeface="+mn-cs"/>
                </a:rPr>
                <a:t>不能修改原凭证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8982456" y="2768918"/>
            <a:ext cx="1639085" cy="2111883"/>
            <a:chOff x="8982456" y="2768918"/>
            <a:chExt cx="1639085" cy="2111883"/>
          </a:xfrm>
        </p:grpSpPr>
        <p:sp>
          <p:nvSpPr>
            <p:cNvPr id="40" name="TextBox 40"/>
            <p:cNvSpPr txBox="1"/>
            <p:nvPr/>
          </p:nvSpPr>
          <p:spPr>
            <a:xfrm>
              <a:off x="8984742" y="2768918"/>
              <a:ext cx="163679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VERIFIER · 验证者</a:t>
              </a:r>
            </a:p>
          </p:txBody>
        </p:sp>
        <p:grpSp>
          <p:nvGrpSpPr>
            <p:cNvPr id="43" name="Group 43"/>
            <p:cNvGrpSpPr/>
            <p:nvPr/>
          </p:nvGrpSpPr>
          <p:grpSpPr>
            <a:xfrm>
              <a:off x="9023041" y="3219450"/>
              <a:ext cx="372013" cy="342900"/>
              <a:chOff x="9023041" y="3219450"/>
              <a:chExt cx="372013" cy="342900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9023041" y="3219450"/>
                <a:ext cx="372013" cy="339966"/>
              </a:xfrm>
              <a:custGeom>
                <a:avLst/>
                <a:gdLst/>
                <a:ahLst/>
                <a:cxnLst/>
                <a:rect l="l" t="t" r="r" b="b"/>
                <a:pathLst>
                  <a:path w="372013" h="339966">
                    <a:moveTo>
                      <a:pt x="186872" y="339966"/>
                    </a:moveTo>
                    <a:cubicBezTo>
                      <a:pt x="67532" y="302974"/>
                      <a:pt x="0" y="177021"/>
                      <a:pt x="35234" y="57150"/>
                    </a:cubicBezTo>
                    <a:cubicBezTo>
                      <a:pt x="94585" y="59866"/>
                      <a:pt x="152661" y="39368"/>
                      <a:pt x="197159" y="0"/>
                    </a:cubicBezTo>
                    <a:cubicBezTo>
                      <a:pt x="241657" y="39368"/>
                      <a:pt x="299733" y="59866"/>
                      <a:pt x="359084" y="57150"/>
                    </a:cubicBezTo>
                    <a:cubicBezTo>
                      <a:pt x="372013" y="101139"/>
                      <a:pt x="371415" y="147998"/>
                      <a:pt x="357369" y="191643"/>
                    </a:cubicBezTo>
                  </a:path>
                </a:pathLst>
              </a:custGeom>
              <a:noFill/>
              <a:ln w="38100">
                <a:solidFill>
                  <a:schemeClr val="accent6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9277350" y="3486150"/>
                <a:ext cx="1143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76200">
                    <a:moveTo>
                      <a:pt x="0" y="38100"/>
                    </a:moveTo>
                    <a:lnTo>
                      <a:pt x="38100" y="76200"/>
                    </a:lnTo>
                    <a:lnTo>
                      <a:pt x="114300" y="0"/>
                    </a:lnTo>
                  </a:path>
                </a:pathLst>
              </a:custGeom>
              <a:noFill/>
              <a:ln w="38100">
                <a:solidFill>
                  <a:schemeClr val="accent6"/>
                </a:solidFill>
              </a:ln>
            </p:spPr>
          </p:sp>
        </p:grpSp>
        <p:sp>
          <p:nvSpPr>
            <p:cNvPr id="44" name="TextBox 44"/>
            <p:cNvSpPr txBox="1"/>
            <p:nvPr/>
          </p:nvSpPr>
          <p:spPr>
            <a:xfrm>
              <a:off x="8982456" y="3806190"/>
              <a:ext cx="154487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验证公开状态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984742" y="421671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消费授权字段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984742" y="4616768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A13B3B"/>
                  </a:solidFill>
                  <a:latin typeface="+mn-lt"/>
                  <a:ea typeface="+mn-ea"/>
                  <a:cs typeface="+mn-cs"/>
                </a:rPr>
                <a:t>不能读取全部成绩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2000250" y="5429250"/>
            <a:ext cx="8191500" cy="538734"/>
            <a:chOff x="2000250" y="5429250"/>
            <a:chExt cx="8191500" cy="538734"/>
          </a:xfrm>
        </p:grpSpPr>
        <p:sp>
          <p:nvSpPr>
            <p:cNvPr id="48" name="Line 48"/>
            <p:cNvSpPr/>
            <p:nvPr/>
          </p:nvSpPr>
          <p:spPr>
            <a:xfrm>
              <a:off x="2000250" y="5429250"/>
              <a:ext cx="8191500" cy="9525"/>
            </a:xfrm>
            <a:custGeom>
              <a:avLst/>
              <a:gdLst/>
              <a:ahLst/>
              <a:cxnLst/>
              <a:rect l="l" t="t" r="r" b="b"/>
              <a:pathLst>
                <a:path w="8191500" h="9525">
                  <a:moveTo>
                    <a:pt x="0" y="0"/>
                  </a:moveTo>
                  <a:lnTo>
                    <a:pt x="81915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3020953" y="5615940"/>
              <a:ext cx="615009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没有“超级管理员”捷径：可信来自互相制约的权限边界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678942" y="6236018"/>
            <a:ext cx="10834116" cy="264033"/>
            <a:chOff x="678942" y="6236018"/>
            <a:chExt cx="10834116" cy="264033"/>
          </a:xfrm>
        </p:grpSpPr>
        <p:sp>
          <p:nvSpPr>
            <p:cNvPr id="51" name="TextBox 51"/>
            <p:cNvSpPr txBox="1"/>
            <p:nvPr/>
          </p:nvSpPr>
          <p:spPr>
            <a:xfrm>
              <a:off x="678942" y="6236018"/>
              <a:ext cx="34125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会话、API 与链码三层重复执行角色校验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299431" y="6236018"/>
              <a:ext cx="2136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69798" y="495300"/>
            <a:ext cx="8029804" cy="847535"/>
            <a:chOff x="669798" y="495300"/>
            <a:chExt cx="8029804" cy="847535"/>
          </a:xfrm>
        </p:grpSpPr>
        <p:sp>
          <p:nvSpPr>
            <p:cNvPr id="2" name="Rectangle 2"/>
            <p:cNvSpPr/>
            <p:nvPr/>
          </p:nvSpPr>
          <p:spPr>
            <a:xfrm>
              <a:off x="685800" y="495300"/>
              <a:ext cx="438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69798" y="726758"/>
              <a:ext cx="8029804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凭证不会被覆盖，只会留下下一段历史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23925" y="2273618"/>
            <a:ext cx="8810625" cy="2403157"/>
            <a:chOff x="923925" y="2273618"/>
            <a:chExt cx="8810625" cy="2403157"/>
          </a:xfrm>
        </p:grpSpPr>
        <p:sp>
          <p:nvSpPr>
            <p:cNvPr id="5" name="Ellipse 5"/>
            <p:cNvSpPr/>
            <p:nvPr/>
          </p:nvSpPr>
          <p:spPr>
            <a:xfrm>
              <a:off x="923925" y="2619375"/>
              <a:ext cx="133350" cy="13335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</p:sp>
        <p:sp>
          <p:nvSpPr>
            <p:cNvPr id="6" name="Line 6"/>
            <p:cNvSpPr/>
            <p:nvPr/>
          </p:nvSpPr>
          <p:spPr>
            <a:xfrm>
              <a:off x="1057275" y="2686050"/>
              <a:ext cx="561975" cy="9525"/>
            </a:xfrm>
            <a:custGeom>
              <a:avLst/>
              <a:gdLst/>
              <a:ahLst/>
              <a:cxnLst/>
              <a:rect l="l" t="t" r="r" b="b"/>
              <a:pathLst>
                <a:path w="561975" h="9525">
                  <a:moveTo>
                    <a:pt x="0" y="0"/>
                  </a:moveTo>
                  <a:lnTo>
                    <a:pt x="561975" y="0"/>
                  </a:lnTo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</p:sp>
        <p:sp>
          <p:nvSpPr>
            <p:cNvPr id="7" name="Polygon 7"/>
            <p:cNvSpPr/>
            <p:nvPr/>
          </p:nvSpPr>
          <p:spPr>
            <a:xfrm>
              <a:off x="1581150" y="2600325"/>
              <a:ext cx="152400" cy="171450"/>
            </a:xfrm>
            <a:custGeom>
              <a:avLst/>
              <a:gdLst/>
              <a:ahLst/>
              <a:cxnLst/>
              <a:rect l="l" t="t" r="r" b="b"/>
              <a:pathLst>
                <a:path w="152400" h="171450">
                  <a:moveTo>
                    <a:pt x="152400" y="85725"/>
                  </a:moveTo>
                  <a:lnTo>
                    <a:pt x="0" y="0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8" name="Line 8"/>
            <p:cNvSpPr/>
            <p:nvPr/>
          </p:nvSpPr>
          <p:spPr>
            <a:xfrm>
              <a:off x="3352800" y="2686050"/>
              <a:ext cx="742950" cy="9525"/>
            </a:xfrm>
            <a:custGeom>
              <a:avLst/>
              <a:gdLst/>
              <a:ahLst/>
              <a:cxnLst/>
              <a:rect l="l" t="t" r="r" b="b"/>
              <a:pathLst>
                <a:path w="742950" h="9525">
                  <a:moveTo>
                    <a:pt x="0" y="0"/>
                  </a:moveTo>
                  <a:lnTo>
                    <a:pt x="742950" y="0"/>
                  </a:lnTo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</p:sp>
        <p:sp>
          <p:nvSpPr>
            <p:cNvPr id="9" name="Polygon 9"/>
            <p:cNvSpPr/>
            <p:nvPr/>
          </p:nvSpPr>
          <p:spPr>
            <a:xfrm>
              <a:off x="4057650" y="2600325"/>
              <a:ext cx="152400" cy="171450"/>
            </a:xfrm>
            <a:custGeom>
              <a:avLst/>
              <a:gdLst/>
              <a:ahLst/>
              <a:cxnLst/>
              <a:rect l="l" t="t" r="r" b="b"/>
              <a:pathLst>
                <a:path w="152400" h="171450">
                  <a:moveTo>
                    <a:pt x="152400" y="85725"/>
                  </a:moveTo>
                  <a:lnTo>
                    <a:pt x="0" y="0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3122666" y="2273618"/>
              <a:ext cx="12222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reviewer 批准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6019800" y="2686050"/>
              <a:ext cx="781050" cy="9525"/>
            </a:xfrm>
            <a:custGeom>
              <a:avLst/>
              <a:gdLst/>
              <a:ahLst/>
              <a:cxnLst/>
              <a:rect l="l" t="t" r="r" b="b"/>
              <a:pathLst>
                <a:path w="781050" h="9525">
                  <a:moveTo>
                    <a:pt x="0" y="0"/>
                  </a:moveTo>
                  <a:lnTo>
                    <a:pt x="781050" y="0"/>
                  </a:lnTo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</p:sp>
        <p:sp>
          <p:nvSpPr>
            <p:cNvPr id="12" name="Polygon 12"/>
            <p:cNvSpPr/>
            <p:nvPr/>
          </p:nvSpPr>
          <p:spPr>
            <a:xfrm>
              <a:off x="6762750" y="2600325"/>
              <a:ext cx="152400" cy="171450"/>
            </a:xfrm>
            <a:custGeom>
              <a:avLst/>
              <a:gdLst/>
              <a:ahLst/>
              <a:cxnLst/>
              <a:rect l="l" t="t" r="r" b="b"/>
              <a:pathLst>
                <a:path w="152400" h="171450">
                  <a:moveTo>
                    <a:pt x="152400" y="85725"/>
                  </a:moveTo>
                  <a:lnTo>
                    <a:pt x="0" y="0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049518" y="22736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修订生效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8743950" y="2686050"/>
              <a:ext cx="876300" cy="9525"/>
            </a:xfrm>
            <a:custGeom>
              <a:avLst/>
              <a:gdLst/>
              <a:ahLst/>
              <a:cxnLst/>
              <a:rect l="l" t="t" r="r" b="b"/>
              <a:pathLst>
                <a:path w="876300" h="9525">
                  <a:moveTo>
                    <a:pt x="0" y="0"/>
                  </a:moveTo>
                  <a:lnTo>
                    <a:pt x="876300" y="0"/>
                  </a:lnTo>
                </a:path>
              </a:pathLst>
            </a:custGeom>
            <a:noFill/>
            <a:ln w="28575">
              <a:solidFill>
                <a:schemeClr val="accent6"/>
              </a:solidFill>
            </a:ln>
          </p:spPr>
        </p:sp>
        <p:sp>
          <p:nvSpPr>
            <p:cNvPr id="15" name="Polygon 15"/>
            <p:cNvSpPr/>
            <p:nvPr/>
          </p:nvSpPr>
          <p:spPr>
            <a:xfrm>
              <a:off x="9582150" y="2600325"/>
              <a:ext cx="152400" cy="171450"/>
            </a:xfrm>
            <a:custGeom>
              <a:avLst/>
              <a:gdLst/>
              <a:ahLst/>
              <a:cxnLst/>
              <a:rect l="l" t="t" r="r" b="b"/>
              <a:pathLst>
                <a:path w="152400" h="171450">
                  <a:moveTo>
                    <a:pt x="152400" y="85725"/>
                  </a:moveTo>
                  <a:lnTo>
                    <a:pt x="0" y="0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</p:sp>
        <p:sp>
          <p:nvSpPr>
            <p:cNvPr id="16" name="Freeform 16"/>
            <p:cNvSpPr/>
            <p:nvPr/>
          </p:nvSpPr>
          <p:spPr>
            <a:xfrm>
              <a:off x="2800350" y="3086100"/>
              <a:ext cx="2152650" cy="819150"/>
            </a:xfrm>
            <a:custGeom>
              <a:avLst/>
              <a:gdLst/>
              <a:ahLst/>
              <a:cxnLst/>
              <a:rect l="l" t="t" r="r" b="b"/>
              <a:pathLst>
                <a:path w="2152650" h="819150">
                  <a:moveTo>
                    <a:pt x="2152650" y="0"/>
                  </a:moveTo>
                  <a:lnTo>
                    <a:pt x="2152650" y="819150"/>
                  </a:lnTo>
                  <a:lnTo>
                    <a:pt x="0" y="819150"/>
                  </a:lnTo>
                </a:path>
              </a:pathLst>
            </a:custGeom>
            <a:noFill/>
            <a:ln w="19050">
              <a:solidFill>
                <a:srgbClr val="A13B3B"/>
              </a:solidFill>
            </a:ln>
          </p:spPr>
        </p:sp>
        <p:sp>
          <p:nvSpPr>
            <p:cNvPr id="17" name="Polygon 17"/>
            <p:cNvSpPr/>
            <p:nvPr/>
          </p:nvSpPr>
          <p:spPr>
            <a:xfrm>
              <a:off x="2686050" y="3819525"/>
              <a:ext cx="152400" cy="171450"/>
            </a:xfrm>
            <a:custGeom>
              <a:avLst/>
              <a:gdLst/>
              <a:ahLst/>
              <a:cxnLst/>
              <a:rect l="l" t="t" r="r" b="b"/>
              <a:pathLst>
                <a:path w="152400" h="171450">
                  <a:moveTo>
                    <a:pt x="0" y="85725"/>
                  </a:moveTo>
                  <a:lnTo>
                    <a:pt x="152400" y="0"/>
                  </a:lnTo>
                  <a:lnTo>
                    <a:pt x="152400" y="171450"/>
                  </a:lnTo>
                  <a:close/>
                </a:path>
              </a:pathLst>
            </a:custGeom>
            <a:solidFill>
              <a:srgbClr val="A13B3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3332216" y="3607118"/>
              <a:ext cx="12222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A13B3B"/>
                  </a:solidFill>
                  <a:latin typeface="+mn-lt"/>
                  <a:ea typeface="+mn-ea"/>
                  <a:cs typeface="+mn-cs"/>
                </a:rPr>
                <a:t>reviewer 拒绝</a:t>
              </a:r>
            </a:p>
          </p:txBody>
        </p:sp>
        <p:sp>
          <p:nvSpPr>
            <p:cNvPr id="19" name="Freeform 19"/>
            <p:cNvSpPr/>
            <p:nvPr/>
          </p:nvSpPr>
          <p:spPr>
            <a:xfrm>
              <a:off x="5181600" y="3086100"/>
              <a:ext cx="628650" cy="1504950"/>
            </a:xfrm>
            <a:custGeom>
              <a:avLst/>
              <a:gdLst/>
              <a:ahLst/>
              <a:cxnLst/>
              <a:rect l="l" t="t" r="r" b="b"/>
              <a:pathLst>
                <a:path w="628650" h="1504950">
                  <a:moveTo>
                    <a:pt x="0" y="0"/>
                  </a:moveTo>
                  <a:lnTo>
                    <a:pt x="0" y="1504950"/>
                  </a:lnTo>
                  <a:lnTo>
                    <a:pt x="628650" y="1504950"/>
                  </a:lnTo>
                </a:path>
              </a:pathLst>
            </a:custGeom>
            <a:noFill/>
            <a:ln w="19050">
              <a:solidFill>
                <a:schemeClr val="accent3"/>
              </a:solidFill>
            </a:ln>
          </p:spPr>
        </p:sp>
        <p:sp>
          <p:nvSpPr>
            <p:cNvPr id="20" name="Polygon 20"/>
            <p:cNvSpPr/>
            <p:nvPr/>
          </p:nvSpPr>
          <p:spPr>
            <a:xfrm>
              <a:off x="5772150" y="4505325"/>
              <a:ext cx="152400" cy="171450"/>
            </a:xfrm>
            <a:custGeom>
              <a:avLst/>
              <a:gdLst/>
              <a:ahLst/>
              <a:cxnLst/>
              <a:rect l="l" t="t" r="r" b="b"/>
              <a:pathLst>
                <a:path w="152400" h="171450">
                  <a:moveTo>
                    <a:pt x="152400" y="85725"/>
                  </a:moveTo>
                  <a:lnTo>
                    <a:pt x="0" y="0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825451" y="4216718"/>
              <a:ext cx="113139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student 申诉</a:t>
              </a:r>
            </a:p>
          </p:txBody>
        </p:sp>
        <p:sp>
          <p:nvSpPr>
            <p:cNvPr id="22" name="Freeform 22"/>
            <p:cNvSpPr/>
            <p:nvPr/>
          </p:nvSpPr>
          <p:spPr>
            <a:xfrm>
              <a:off x="5067300" y="4210050"/>
              <a:ext cx="857250" cy="9525"/>
            </a:xfrm>
            <a:custGeom>
              <a:avLst/>
              <a:gdLst/>
              <a:ahLst/>
              <a:cxnLst/>
              <a:rect l="l" t="t" r="r" b="b"/>
              <a:pathLst>
                <a:path w="857250" h="9525">
                  <a:moveTo>
                    <a:pt x="0" y="0"/>
                  </a:moveTo>
                  <a:lnTo>
                    <a:pt x="857250" y="0"/>
                  </a:lnTo>
                </a:path>
              </a:pathLst>
            </a:custGeom>
            <a:noFill/>
            <a:ln w="19050">
              <a:solidFill>
                <a:schemeClr val="accent3"/>
              </a:solidFill>
            </a:ln>
          </p:spPr>
        </p:sp>
        <p:sp>
          <p:nvSpPr>
            <p:cNvPr id="23" name="Polygon 23"/>
            <p:cNvSpPr/>
            <p:nvPr/>
          </p:nvSpPr>
          <p:spPr>
            <a:xfrm>
              <a:off x="5886450" y="4124325"/>
              <a:ext cx="152400" cy="171450"/>
            </a:xfrm>
            <a:custGeom>
              <a:avLst/>
              <a:gdLst/>
              <a:ahLst/>
              <a:cxnLst/>
              <a:rect l="l" t="t" r="r" b="b"/>
              <a:pathLst>
                <a:path w="152400" h="171450">
                  <a:moveTo>
                    <a:pt x="152400" y="85725"/>
                  </a:moveTo>
                  <a:lnTo>
                    <a:pt x="0" y="0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5154168" y="38928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允许再审</a:t>
              </a:r>
            </a:p>
          </p:txBody>
        </p:sp>
        <p:sp>
          <p:nvSpPr>
            <p:cNvPr id="25" name="Freeform 25"/>
            <p:cNvSpPr/>
            <p:nvPr/>
          </p:nvSpPr>
          <p:spPr>
            <a:xfrm>
              <a:off x="7810500" y="3086100"/>
              <a:ext cx="1714500" cy="819150"/>
            </a:xfrm>
            <a:custGeom>
              <a:avLst/>
              <a:gdLst/>
              <a:ahLst/>
              <a:cxnLst/>
              <a:rect l="l" t="t" r="r" b="b"/>
              <a:pathLst>
                <a:path w="1714500" h="819150">
                  <a:moveTo>
                    <a:pt x="0" y="0"/>
                  </a:moveTo>
                  <a:lnTo>
                    <a:pt x="0" y="819150"/>
                  </a:lnTo>
                  <a:lnTo>
                    <a:pt x="1714500" y="819150"/>
                  </a:lnTo>
                </a:path>
              </a:pathLst>
            </a:custGeom>
            <a:noFill/>
            <a:ln w="19050">
              <a:solidFill>
                <a:srgbClr val="A13B3B"/>
              </a:solidFill>
            </a:ln>
          </p:spPr>
        </p:sp>
        <p:sp>
          <p:nvSpPr>
            <p:cNvPr id="26" name="Polygon 26"/>
            <p:cNvSpPr/>
            <p:nvPr/>
          </p:nvSpPr>
          <p:spPr>
            <a:xfrm>
              <a:off x="9486900" y="3819525"/>
              <a:ext cx="152400" cy="171450"/>
            </a:xfrm>
            <a:custGeom>
              <a:avLst/>
              <a:gdLst/>
              <a:ahLst/>
              <a:cxnLst/>
              <a:rect l="l" t="t" r="r" b="b"/>
              <a:pathLst>
                <a:path w="152400" h="171450">
                  <a:moveTo>
                    <a:pt x="152400" y="85725"/>
                  </a:moveTo>
                  <a:lnTo>
                    <a:pt x="0" y="0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rgbClr val="A13B3B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132816" y="3607118"/>
              <a:ext cx="12222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A13B3B"/>
                  </a:solidFill>
                  <a:latin typeface="+mn-lt"/>
                  <a:ea typeface="+mn-ea"/>
                  <a:cs typeface="+mn-cs"/>
                </a:rPr>
                <a:t>reviewer 撤销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733550" y="2286000"/>
            <a:ext cx="1619250" cy="805434"/>
            <a:chOff x="1733550" y="2286000"/>
            <a:chExt cx="1619250" cy="805434"/>
          </a:xfrm>
        </p:grpSpPr>
        <p:sp>
          <p:nvSpPr>
            <p:cNvPr id="29" name="Rectangle 29"/>
            <p:cNvSpPr/>
            <p:nvPr/>
          </p:nvSpPr>
          <p:spPr>
            <a:xfrm>
              <a:off x="1733550" y="2286000"/>
              <a:ext cx="1619250" cy="800100"/>
            </a:xfrm>
            <a:prstGeom prst="roundRect">
              <a:avLst>
                <a:gd name="adj" fmla="val 9524"/>
              </a:avLst>
            </a:prstGeom>
            <a:solidFill>
              <a:schemeClr val="lt2"/>
            </a:solidFill>
            <a:ln w="19050">
              <a:solidFill>
                <a:schemeClr val="accent3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2042335" y="2483168"/>
              <a:ext cx="100167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SUBMITTED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152383" y="2739390"/>
              <a:ext cx="7815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待复核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4210050" y="2286000"/>
            <a:ext cx="1809750" cy="805434"/>
            <a:chOff x="4210050" y="2286000"/>
            <a:chExt cx="1809750" cy="805434"/>
          </a:xfrm>
        </p:grpSpPr>
        <p:sp>
          <p:nvSpPr>
            <p:cNvPr id="33" name="Rectangle 33"/>
            <p:cNvSpPr/>
            <p:nvPr/>
          </p:nvSpPr>
          <p:spPr>
            <a:xfrm>
              <a:off x="4210050" y="2286000"/>
              <a:ext cx="1809750" cy="800100"/>
            </a:xfrm>
            <a:prstGeom prst="roundRect">
              <a:avLst>
                <a:gd name="adj" fmla="val 9524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800589" y="2483168"/>
              <a:ext cx="6286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ACTIVE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724133" y="2739390"/>
              <a:ext cx="7815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已生效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6915150" y="2286000"/>
            <a:ext cx="1828800" cy="805434"/>
            <a:chOff x="6915150" y="2286000"/>
            <a:chExt cx="1828800" cy="805434"/>
          </a:xfrm>
        </p:grpSpPr>
        <p:sp>
          <p:nvSpPr>
            <p:cNvPr id="37" name="Rectangle 37"/>
            <p:cNvSpPr/>
            <p:nvPr/>
          </p:nvSpPr>
          <p:spPr>
            <a:xfrm>
              <a:off x="6915150" y="2286000"/>
              <a:ext cx="1828800" cy="800100"/>
            </a:xfrm>
            <a:prstGeom prst="roundRect">
              <a:avLst>
                <a:gd name="adj" fmla="val 9524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268223" y="2483168"/>
              <a:ext cx="112265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SUPERSEDED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929895" y="2739390"/>
              <a:ext cx="179931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已被新版本替代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9810750" y="2567940"/>
            <a:ext cx="1331671" cy="352044"/>
            <a:chOff x="9810750" y="2567940"/>
            <a:chExt cx="1331671" cy="352044"/>
          </a:xfrm>
        </p:grpSpPr>
        <p:sp>
          <p:nvSpPr>
            <p:cNvPr id="41" name="Ellipse 41"/>
            <p:cNvSpPr/>
            <p:nvPr/>
          </p:nvSpPr>
          <p:spPr>
            <a:xfrm>
              <a:off x="9810750" y="2590800"/>
              <a:ext cx="190500" cy="190500"/>
            </a:xfrm>
            <a:prstGeom prst="ellipse">
              <a:avLst/>
            </a:prstGeom>
            <a:noFill/>
            <a:ln w="28575">
              <a:solidFill>
                <a:schemeClr val="accent6"/>
              </a:solidFill>
            </a:ln>
          </p:spPr>
        </p:sp>
        <p:sp>
          <p:nvSpPr>
            <p:cNvPr id="42" name="Ellipse 42"/>
            <p:cNvSpPr/>
            <p:nvPr/>
          </p:nvSpPr>
          <p:spPr>
            <a:xfrm>
              <a:off x="9858375" y="2638425"/>
              <a:ext cx="95250" cy="9525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10106406" y="2567940"/>
              <a:ext cx="103601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历史保留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1066800" y="3733800"/>
            <a:ext cx="1619250" cy="805434"/>
            <a:chOff x="1066800" y="3733800"/>
            <a:chExt cx="1619250" cy="805434"/>
          </a:xfrm>
        </p:grpSpPr>
        <p:sp>
          <p:nvSpPr>
            <p:cNvPr id="45" name="Rectangle 45"/>
            <p:cNvSpPr/>
            <p:nvPr/>
          </p:nvSpPr>
          <p:spPr>
            <a:xfrm>
              <a:off x="1066800" y="3733800"/>
              <a:ext cx="1619250" cy="800100"/>
            </a:xfrm>
            <a:prstGeom prst="roundRect">
              <a:avLst>
                <a:gd name="adj" fmla="val 9524"/>
              </a:avLst>
            </a:prstGeom>
            <a:solidFill>
              <a:srgbClr val="F9E8E8"/>
            </a:solidFill>
            <a:ln w="19050">
              <a:solidFill>
                <a:srgbClr val="A13B3B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1425992" y="3930968"/>
              <a:ext cx="9008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A13B3B"/>
                  </a:solidFill>
                  <a:latin typeface="+mn-lt"/>
                  <a:ea typeface="+mn-ea"/>
                  <a:cs typeface="+mn-cs"/>
                </a:rPr>
                <a:t>REJECTED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485633" y="4187190"/>
              <a:ext cx="7815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已拒绝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6038850" y="3810000"/>
            <a:ext cx="1828800" cy="805434"/>
            <a:chOff x="6038850" y="3810000"/>
            <a:chExt cx="1828800" cy="805434"/>
          </a:xfrm>
        </p:grpSpPr>
        <p:sp>
          <p:nvSpPr>
            <p:cNvPr id="49" name="Rectangle 49"/>
            <p:cNvSpPr/>
            <p:nvPr/>
          </p:nvSpPr>
          <p:spPr>
            <a:xfrm>
              <a:off x="6038850" y="3810000"/>
              <a:ext cx="1828800" cy="800100"/>
            </a:xfrm>
            <a:prstGeom prst="roundRect">
              <a:avLst>
                <a:gd name="adj" fmla="val 9524"/>
              </a:avLst>
            </a:prstGeom>
            <a:solidFill>
              <a:srgbClr val="E8EEF5"/>
            </a:solidFill>
            <a:ln w="19050">
              <a:solidFill>
                <a:schemeClr val="accent3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502817" y="4007168"/>
              <a:ext cx="9008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APPEALED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308026" y="4263390"/>
              <a:ext cx="129044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申诉处理中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9639300" y="3733800"/>
            <a:ext cx="1600200" cy="805434"/>
            <a:chOff x="9639300" y="3733800"/>
            <a:chExt cx="1600200" cy="805434"/>
          </a:xfrm>
        </p:grpSpPr>
        <p:sp>
          <p:nvSpPr>
            <p:cNvPr id="53" name="Rectangle 53"/>
            <p:cNvSpPr/>
            <p:nvPr/>
          </p:nvSpPr>
          <p:spPr>
            <a:xfrm>
              <a:off x="9639300" y="3733800"/>
              <a:ext cx="1600200" cy="800100"/>
            </a:xfrm>
            <a:prstGeom prst="roundRect">
              <a:avLst>
                <a:gd name="adj" fmla="val 9524"/>
              </a:avLst>
            </a:prstGeom>
            <a:solidFill>
              <a:srgbClr val="F9E8E8"/>
            </a:solidFill>
            <a:ln w="19050">
              <a:solidFill>
                <a:srgbClr val="A13B3B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10024251" y="3930968"/>
              <a:ext cx="8302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A13B3B"/>
                  </a:solidFill>
                  <a:latin typeface="+mn-lt"/>
                  <a:ea typeface="+mn-ea"/>
                  <a:cs typeface="+mn-cs"/>
                </a:rPr>
                <a:t>REVOKED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0048608" y="4187190"/>
              <a:ext cx="7815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已撤销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1352550" y="5219700"/>
            <a:ext cx="9486900" cy="729234"/>
            <a:chOff x="1352550" y="5219700"/>
            <a:chExt cx="9486900" cy="729234"/>
          </a:xfrm>
        </p:grpSpPr>
        <p:sp>
          <p:nvSpPr>
            <p:cNvPr id="57" name="Rectangle 57"/>
            <p:cNvSpPr/>
            <p:nvPr/>
          </p:nvSpPr>
          <p:spPr>
            <a:xfrm>
              <a:off x="1352550" y="5219700"/>
              <a:ext cx="9486900" cy="685800"/>
            </a:xfrm>
            <a:prstGeom prst="roundRect">
              <a:avLst>
                <a:gd name="adj" fmla="val 11111"/>
              </a:avLst>
            </a:prstGeom>
            <a:solidFill>
              <a:srgbClr val="FFF6D9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5322966" y="5359718"/>
              <a:ext cx="154606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8A6812"/>
                  </a:solidFill>
                  <a:latin typeface="+mn-lt"/>
                  <a:ea typeface="+mn-ea"/>
                  <a:cs typeface="+mn-cs"/>
                </a:rPr>
                <a:t>修订不是 UPDATE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2652027" y="5596890"/>
              <a:ext cx="688794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新凭证链接旧版本；旧记录继续可验证，状态变化继续可追责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678942" y="6236018"/>
            <a:ext cx="10834116" cy="264033"/>
            <a:chOff x="678942" y="6236018"/>
            <a:chExt cx="10834116" cy="264033"/>
          </a:xfrm>
        </p:grpSpPr>
        <p:sp>
          <p:nvSpPr>
            <p:cNvPr id="61" name="TextBox 61"/>
            <p:cNvSpPr txBox="1"/>
            <p:nvPr/>
          </p:nvSpPr>
          <p:spPr>
            <a:xfrm>
              <a:off x="678942" y="6236018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状态与角色共同约束转移；拒绝、撤销和修订均不删除历史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299431" y="6236018"/>
              <a:ext cx="2136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69798" y="495300"/>
            <a:ext cx="7559345" cy="847535"/>
            <a:chOff x="669798" y="495300"/>
            <a:chExt cx="7559345" cy="847535"/>
          </a:xfrm>
        </p:grpSpPr>
        <p:sp>
          <p:nvSpPr>
            <p:cNvPr id="2" name="Rectangle 2"/>
            <p:cNvSpPr/>
            <p:nvPr/>
          </p:nvSpPr>
          <p:spPr>
            <a:xfrm>
              <a:off x="685800" y="495300"/>
              <a:ext cx="438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69798" y="726758"/>
              <a:ext cx="7559345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轻量申诉，让纠错进入同一条证据链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819150" y="1805940"/>
            <a:ext cx="3512681" cy="3417761"/>
            <a:chOff x="819150" y="1805940"/>
            <a:chExt cx="3512681" cy="3417761"/>
          </a:xfrm>
        </p:grpSpPr>
        <p:sp>
          <p:nvSpPr>
            <p:cNvPr id="5" name="Line 5"/>
            <p:cNvSpPr/>
            <p:nvPr/>
          </p:nvSpPr>
          <p:spPr>
            <a:xfrm>
              <a:off x="990600" y="2114550"/>
              <a:ext cx="9525" cy="2800350"/>
            </a:xfrm>
            <a:custGeom>
              <a:avLst/>
              <a:gdLst/>
              <a:ahLst/>
              <a:cxnLst/>
              <a:rect l="l" t="t" r="r" b="b"/>
              <a:pathLst>
                <a:path w="9525" h="2800350">
                  <a:moveTo>
                    <a:pt x="0" y="0"/>
                  </a:moveTo>
                  <a:lnTo>
                    <a:pt x="0" y="2800350"/>
                  </a:lnTo>
                </a:path>
              </a:pathLst>
            </a:custGeom>
            <a:noFill/>
            <a:ln w="38100">
              <a:solidFill>
                <a:srgbClr val="C8CDD3"/>
              </a:solidFill>
            </a:ln>
          </p:spPr>
        </p:sp>
        <p:sp>
          <p:nvSpPr>
            <p:cNvPr id="6" name="Ellipse 6"/>
            <p:cNvSpPr/>
            <p:nvPr/>
          </p:nvSpPr>
          <p:spPr>
            <a:xfrm>
              <a:off x="819150" y="1943100"/>
              <a:ext cx="342900" cy="3429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Ellipse 7"/>
            <p:cNvSpPr/>
            <p:nvPr/>
          </p:nvSpPr>
          <p:spPr>
            <a:xfrm>
              <a:off x="819150" y="2876550"/>
              <a:ext cx="342900" cy="3429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819150" y="3810000"/>
              <a:ext cx="342900" cy="3429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Ellipse 9"/>
            <p:cNvSpPr/>
            <p:nvPr/>
          </p:nvSpPr>
          <p:spPr>
            <a:xfrm>
              <a:off x="819150" y="4743450"/>
              <a:ext cx="342900" cy="3429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31265" y="2035492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31265" y="2968942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31265" y="3902392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31265" y="4835842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400556" y="1805940"/>
              <a:ext cx="154487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学生提交理由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402842" y="2159318"/>
              <a:ext cx="292898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appealDetails 通过 transient 传递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400556" y="2739390"/>
              <a:ext cx="154487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链码复算承诺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402842" y="3092768"/>
              <a:ext cx="253588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reasonHash 不一致则交易失败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00556" y="3672840"/>
              <a:ext cx="179931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复核员给出决定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402842" y="4026218"/>
              <a:ext cx="263086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appealResolution 仍是私有正文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400556" y="4606290"/>
              <a:ext cx="205374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公共账本记录过程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402842" y="4959668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状态、哈希、身份与时间可审计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057900" y="1733550"/>
            <a:ext cx="5314950" cy="3848100"/>
            <a:chOff x="6057900" y="1733550"/>
            <a:chExt cx="5314950" cy="3848100"/>
          </a:xfrm>
        </p:grpSpPr>
        <p:sp>
          <p:nvSpPr>
            <p:cNvPr id="23" name="Rectangle 23"/>
            <p:cNvSpPr/>
            <p:nvPr/>
          </p:nvSpPr>
          <p:spPr>
            <a:xfrm>
              <a:off x="6057900" y="1733550"/>
              <a:ext cx="5314950" cy="3848100"/>
            </a:xfrm>
            <a:prstGeom prst="roundRect">
              <a:avLst>
                <a:gd name="adj" fmla="val 1980"/>
              </a:avLst>
            </a:prstGeom>
            <a:solidFill>
              <a:schemeClr val="lt2"/>
            </a:solidFill>
            <a:ln w="19050">
              <a:solidFill>
                <a:srgbClr val="C8CDD3"/>
              </a:solidFill>
            </a:ln>
          </p:spPr>
        </p:sp>
        <p:pic>
          <p:nvPicPr>
            <p:cNvPr id="24" name="Image 2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191250" y="1866900"/>
              <a:ext cx="5048250" cy="3505200"/>
            </a:xfrm>
            <a:prstGeom prst="rect">
              <a:avLst/>
            </a:prstGeom>
          </p:spPr>
        </p:pic>
        <p:sp>
          <p:nvSpPr>
            <p:cNvPr id="25" name="Ellipse 25"/>
            <p:cNvSpPr/>
            <p:nvPr/>
          </p:nvSpPr>
          <p:spPr>
            <a:xfrm>
              <a:off x="10706100" y="1924050"/>
              <a:ext cx="381000" cy="381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0837265" y="2035492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6184392" y="5683568"/>
            <a:ext cx="4011930" cy="264033"/>
            <a:chOff x="6184392" y="5683568"/>
            <a:chExt cx="4011930" cy="264033"/>
          </a:xfrm>
        </p:grpSpPr>
        <p:sp>
          <p:nvSpPr>
            <p:cNvPr id="28" name="TextBox 28"/>
            <p:cNvSpPr txBox="1"/>
            <p:nvPr/>
          </p:nvSpPr>
          <p:spPr>
            <a:xfrm>
              <a:off x="6184392" y="5683568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真实浏览器验收：学生端申诉进度与链上状态同步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678942" y="6236018"/>
            <a:ext cx="10834116" cy="264033"/>
            <a:chOff x="678942" y="6236018"/>
            <a:chExt cx="10834116" cy="264033"/>
          </a:xfrm>
        </p:grpSpPr>
        <p:sp>
          <p:nvSpPr>
            <p:cNvPr id="30" name="TextBox 30"/>
            <p:cNvSpPr txBox="1"/>
            <p:nvPr/>
          </p:nvSpPr>
          <p:spPr>
            <a:xfrm>
              <a:off x="678942" y="6236018"/>
              <a:ext cx="51983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理由与决定正文留在 Org1 隐式私有集合，公共账本只保留承诺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1299431" y="6236018"/>
              <a:ext cx="2136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69798" y="495300"/>
            <a:ext cx="7559345" cy="847535"/>
            <a:chOff x="669798" y="495300"/>
            <a:chExt cx="7559345" cy="847535"/>
          </a:xfrm>
        </p:grpSpPr>
        <p:sp>
          <p:nvSpPr>
            <p:cNvPr id="2" name="Rectangle 2"/>
            <p:cNvSpPr/>
            <p:nvPr/>
          </p:nvSpPr>
          <p:spPr>
            <a:xfrm>
              <a:off x="685800" y="495300"/>
              <a:ext cx="438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69798" y="726758"/>
              <a:ext cx="7559345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同一份成绩，对不同人暴露不同内容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85800" y="1600200"/>
            <a:ext cx="10820400" cy="3448050"/>
            <a:chOff x="685800" y="1600200"/>
            <a:chExt cx="10820400" cy="3448050"/>
          </a:xfrm>
        </p:grpSpPr>
        <p:sp>
          <p:nvSpPr>
            <p:cNvPr id="5" name="Rectangle 5"/>
            <p:cNvSpPr/>
            <p:nvPr/>
          </p:nvSpPr>
          <p:spPr>
            <a:xfrm>
              <a:off x="685800" y="1714500"/>
              <a:ext cx="3143250" cy="3333750"/>
            </a:xfrm>
            <a:prstGeom prst="roundRect">
              <a:avLst>
                <a:gd name="adj" fmla="val 3030"/>
              </a:avLst>
            </a:prstGeom>
            <a:solidFill>
              <a:schemeClr val="lt2"/>
            </a:solidFill>
            <a:ln w="19050">
              <a:solidFill>
                <a:srgbClr val="C8CDD3"/>
              </a:solidFill>
              <a:custDash>
                <a:ds d="400000" sp="300000"/>
              </a:custDash>
            </a:ln>
          </p:spPr>
        </p:sp>
        <p:sp>
          <p:nvSpPr>
            <p:cNvPr id="6" name="Rectangle 6"/>
            <p:cNvSpPr/>
            <p:nvPr/>
          </p:nvSpPr>
          <p:spPr>
            <a:xfrm>
              <a:off x="4133850" y="1714500"/>
              <a:ext cx="3505200" cy="3333750"/>
            </a:xfrm>
            <a:prstGeom prst="roundRect">
              <a:avLst>
                <a:gd name="adj" fmla="val 2857"/>
              </a:avLst>
            </a:prstGeom>
            <a:solidFill>
              <a:srgbClr val="E8EEF5"/>
            </a:solidFill>
            <a:ln w="19050">
              <a:solidFill>
                <a:schemeClr val="accent1"/>
              </a:solidFill>
              <a:custDash>
                <a:ds d="400000" sp="300000"/>
              </a:custDash>
            </a:ln>
          </p:spPr>
        </p:sp>
        <p:sp>
          <p:nvSpPr>
            <p:cNvPr id="7" name="Rectangle 7"/>
            <p:cNvSpPr/>
            <p:nvPr/>
          </p:nvSpPr>
          <p:spPr>
            <a:xfrm>
              <a:off x="7943850" y="1714500"/>
              <a:ext cx="3562350" cy="3333750"/>
            </a:xfrm>
            <a:prstGeom prst="roundRect">
              <a:avLst>
                <a:gd name="adj" fmla="val 2857"/>
              </a:avLst>
            </a:prstGeom>
            <a:solidFill>
              <a:schemeClr val="lt2"/>
            </a:solidFill>
            <a:ln w="19050">
              <a:solidFill>
                <a:srgbClr val="C8CDD3"/>
              </a:solidFill>
              <a:custDash>
                <a:ds d="400000" sp="300000"/>
              </a:custDash>
            </a:ln>
          </p:spPr>
        </p:sp>
        <p:sp>
          <p:nvSpPr>
            <p:cNvPr id="8" name="Rectangle 8"/>
            <p:cNvSpPr/>
            <p:nvPr/>
          </p:nvSpPr>
          <p:spPr>
            <a:xfrm>
              <a:off x="876300" y="1600200"/>
              <a:ext cx="1314450" cy="2286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4324350" y="1600200"/>
              <a:ext cx="1600200" cy="2286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8134350" y="1600200"/>
              <a:ext cx="1314450" cy="2286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49607" y="1625918"/>
              <a:ext cx="96783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公开可验证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545120" y="1625918"/>
              <a:ext cx="11586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授权后可读取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403069" y="1625918"/>
              <a:ext cx="7770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不同主体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3524250" y="2254568"/>
            <a:ext cx="5086350" cy="1945957"/>
            <a:chOff x="3524250" y="2254568"/>
            <a:chExt cx="5086350" cy="1945957"/>
          </a:xfrm>
        </p:grpSpPr>
        <p:sp>
          <p:nvSpPr>
            <p:cNvPr id="15" name="Line 15"/>
            <p:cNvSpPr/>
            <p:nvPr/>
          </p:nvSpPr>
          <p:spPr>
            <a:xfrm>
              <a:off x="3524250" y="2857500"/>
              <a:ext cx="971550" cy="9525"/>
            </a:xfrm>
            <a:custGeom>
              <a:avLst/>
              <a:gdLst/>
              <a:ahLst/>
              <a:cxnLst/>
              <a:rect l="l" t="t" r="r" b="b"/>
              <a:pathLst>
                <a:path w="971550" h="9525">
                  <a:moveTo>
                    <a:pt x="0" y="0"/>
                  </a:moveTo>
                  <a:lnTo>
                    <a:pt x="971550" y="0"/>
                  </a:lnTo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</p:sp>
        <p:sp>
          <p:nvSpPr>
            <p:cNvPr id="16" name="Polygon 16"/>
            <p:cNvSpPr/>
            <p:nvPr/>
          </p:nvSpPr>
          <p:spPr>
            <a:xfrm>
              <a:off x="4457700" y="2771775"/>
              <a:ext cx="152400" cy="171450"/>
            </a:xfrm>
            <a:custGeom>
              <a:avLst/>
              <a:gdLst/>
              <a:ahLst/>
              <a:cxnLst/>
              <a:rect l="l" t="t" r="r" b="b"/>
              <a:pathLst>
                <a:path w="152400" h="171450">
                  <a:moveTo>
                    <a:pt x="152400" y="85725"/>
                  </a:moveTo>
                  <a:lnTo>
                    <a:pt x="0" y="0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7162800" y="2609850"/>
              <a:ext cx="1333500" cy="9525"/>
            </a:xfrm>
            <a:custGeom>
              <a:avLst/>
              <a:gdLst/>
              <a:ahLst/>
              <a:cxnLst/>
              <a:rect l="l" t="t" r="r" b="b"/>
              <a:pathLst>
                <a:path w="1333500" h="9525">
                  <a:moveTo>
                    <a:pt x="0" y="0"/>
                  </a:moveTo>
                  <a:lnTo>
                    <a:pt x="1333500" y="0"/>
                  </a:lnTo>
                </a:path>
              </a:pathLst>
            </a:custGeom>
            <a:noFill/>
            <a:ln w="28575">
              <a:solidFill>
                <a:schemeClr val="accent3"/>
              </a:solidFill>
            </a:ln>
          </p:spPr>
        </p:sp>
        <p:sp>
          <p:nvSpPr>
            <p:cNvPr id="18" name="Polygon 18"/>
            <p:cNvSpPr/>
            <p:nvPr/>
          </p:nvSpPr>
          <p:spPr>
            <a:xfrm>
              <a:off x="8458200" y="2524125"/>
              <a:ext cx="152400" cy="171450"/>
            </a:xfrm>
            <a:custGeom>
              <a:avLst/>
              <a:gdLst/>
              <a:ahLst/>
              <a:cxnLst/>
              <a:rect l="l" t="t" r="r" b="b"/>
              <a:pathLst>
                <a:path w="152400" h="171450">
                  <a:moveTo>
                    <a:pt x="152400" y="85725"/>
                  </a:moveTo>
                  <a:lnTo>
                    <a:pt x="0" y="0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7162800" y="3390900"/>
              <a:ext cx="1333500" cy="723900"/>
            </a:xfrm>
            <a:custGeom>
              <a:avLst/>
              <a:gdLst/>
              <a:ahLst/>
              <a:cxnLst/>
              <a:rect l="l" t="t" r="r" b="b"/>
              <a:pathLst>
                <a:path w="1333500" h="723900">
                  <a:moveTo>
                    <a:pt x="0" y="0"/>
                  </a:moveTo>
                  <a:lnTo>
                    <a:pt x="647700" y="0"/>
                  </a:lnTo>
                  <a:lnTo>
                    <a:pt x="647700" y="723900"/>
                  </a:lnTo>
                  <a:lnTo>
                    <a:pt x="1333500" y="723900"/>
                  </a:lnTo>
                </a:path>
              </a:pathLst>
            </a:custGeom>
            <a:noFill/>
            <a:ln w="19050">
              <a:solidFill>
                <a:schemeClr val="accent6"/>
              </a:solidFill>
              <a:custDash>
                <a:ds d="400000" sp="300000"/>
              </a:custDash>
            </a:ln>
          </p:spPr>
        </p:sp>
        <p:sp>
          <p:nvSpPr>
            <p:cNvPr id="20" name="Polygon 20"/>
            <p:cNvSpPr/>
            <p:nvPr/>
          </p:nvSpPr>
          <p:spPr>
            <a:xfrm>
              <a:off x="8458200" y="4029075"/>
              <a:ext cx="152400" cy="171450"/>
            </a:xfrm>
            <a:custGeom>
              <a:avLst/>
              <a:gdLst/>
              <a:ahLst/>
              <a:cxnLst/>
              <a:rect l="l" t="t" r="r" b="b"/>
              <a:pathLst>
                <a:path w="152400" h="171450">
                  <a:moveTo>
                    <a:pt x="152400" y="85725"/>
                  </a:moveTo>
                  <a:lnTo>
                    <a:pt x="0" y="0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459218" y="22545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本人身份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349299" y="3797618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一次性授权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983742" y="2212181"/>
            <a:ext cx="2540508" cy="2283619"/>
            <a:chOff x="983742" y="2212181"/>
            <a:chExt cx="2540508" cy="2283619"/>
          </a:xfrm>
        </p:grpSpPr>
        <p:grpSp>
          <p:nvGrpSpPr>
            <p:cNvPr id="27" name="Group 27"/>
            <p:cNvGrpSpPr/>
            <p:nvPr/>
          </p:nvGrpSpPr>
          <p:grpSpPr>
            <a:xfrm>
              <a:off x="1279525" y="2212181"/>
              <a:ext cx="317499" cy="357187"/>
              <a:chOff x="1279525" y="2212181"/>
              <a:chExt cx="317499" cy="357187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1279525" y="2212181"/>
                <a:ext cx="317499" cy="119062"/>
              </a:xfrm>
              <a:custGeom>
                <a:avLst/>
                <a:gdLst/>
                <a:ahLst/>
                <a:cxnLst/>
                <a:rect l="l" t="t" r="r" b="b"/>
                <a:pathLst>
                  <a:path w="317499" h="119062">
                    <a:moveTo>
                      <a:pt x="0" y="59531"/>
                    </a:moveTo>
                    <a:cubicBezTo>
                      <a:pt x="0" y="92409"/>
                      <a:pt x="71075" y="119062"/>
                      <a:pt x="158750" y="119062"/>
                    </a:cubicBezTo>
                    <a:cubicBezTo>
                      <a:pt x="246425" y="119062"/>
                      <a:pt x="317499" y="92409"/>
                      <a:pt x="317499" y="59531"/>
                    </a:cubicBezTo>
                    <a:cubicBezTo>
                      <a:pt x="317499" y="26653"/>
                      <a:pt x="246425" y="0"/>
                      <a:pt x="158750" y="0"/>
                    </a:cubicBezTo>
                    <a:cubicBezTo>
                      <a:pt x="71075" y="0"/>
                      <a:pt x="0" y="26653"/>
                      <a:pt x="0" y="59531"/>
                    </a:cubicBezTo>
                  </a:path>
                </a:pathLst>
              </a:custGeom>
              <a:noFill/>
              <a:ln w="39687">
                <a:solidFill>
                  <a:schemeClr val="accent1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1279525" y="2271712"/>
                <a:ext cx="317499" cy="178593"/>
              </a:xfrm>
              <a:custGeom>
                <a:avLst/>
                <a:gdLst/>
                <a:ahLst/>
                <a:cxnLst/>
                <a:rect l="l" t="t" r="r" b="b"/>
                <a:pathLst>
                  <a:path w="317499" h="178593">
                    <a:moveTo>
                      <a:pt x="0" y="0"/>
                    </a:moveTo>
                    <a:lnTo>
                      <a:pt x="0" y="119062"/>
                    </a:lnTo>
                    <a:cubicBezTo>
                      <a:pt x="0" y="151940"/>
                      <a:pt x="71075" y="178593"/>
                      <a:pt x="158750" y="178593"/>
                    </a:cubicBezTo>
                    <a:cubicBezTo>
                      <a:pt x="246425" y="178593"/>
                      <a:pt x="317499" y="151940"/>
                      <a:pt x="317499" y="119062"/>
                    </a:cubicBezTo>
                    <a:lnTo>
                      <a:pt x="317499" y="0"/>
                    </a:lnTo>
                  </a:path>
                </a:pathLst>
              </a:custGeom>
              <a:noFill/>
              <a:ln w="39687">
                <a:solidFill>
                  <a:schemeClr val="accent1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1279525" y="2390775"/>
                <a:ext cx="317499" cy="178593"/>
              </a:xfrm>
              <a:custGeom>
                <a:avLst/>
                <a:gdLst/>
                <a:ahLst/>
                <a:cxnLst/>
                <a:rect l="l" t="t" r="r" b="b"/>
                <a:pathLst>
                  <a:path w="317499" h="178593">
                    <a:moveTo>
                      <a:pt x="0" y="0"/>
                    </a:moveTo>
                    <a:lnTo>
                      <a:pt x="0" y="119062"/>
                    </a:lnTo>
                    <a:cubicBezTo>
                      <a:pt x="0" y="151940"/>
                      <a:pt x="71075" y="178593"/>
                      <a:pt x="158750" y="178593"/>
                    </a:cubicBezTo>
                    <a:cubicBezTo>
                      <a:pt x="246425" y="178593"/>
                      <a:pt x="317499" y="151940"/>
                      <a:pt x="317499" y="119062"/>
                    </a:cubicBezTo>
                    <a:lnTo>
                      <a:pt x="317499" y="0"/>
                    </a:lnTo>
                  </a:path>
                </a:pathLst>
              </a:custGeom>
              <a:noFill/>
              <a:ln w="39687">
                <a:solidFill>
                  <a:schemeClr val="accent1"/>
                </a:solidFill>
              </a:ln>
            </p:spPr>
          </p:sp>
        </p:grpSp>
        <p:sp>
          <p:nvSpPr>
            <p:cNvPr id="28" name="TextBox 28"/>
            <p:cNvSpPr txBox="1"/>
            <p:nvPr/>
          </p:nvSpPr>
          <p:spPr>
            <a:xfrm>
              <a:off x="1876806" y="2282190"/>
              <a:ext cx="103601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公共账本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990600" y="2819400"/>
              <a:ext cx="2533650" cy="9525"/>
            </a:xfrm>
            <a:custGeom>
              <a:avLst/>
              <a:gdLst/>
              <a:ahLst/>
              <a:cxnLst/>
              <a:rect l="l" t="t" r="r" b="b"/>
              <a:pathLst>
                <a:path w="2533650" h="9525">
                  <a:moveTo>
                    <a:pt x="0" y="0"/>
                  </a:moveTo>
                  <a:lnTo>
                    <a:pt x="2533650" y="0"/>
                  </a:lnTo>
                </a:path>
              </a:pathLst>
            </a:custGeom>
            <a:noFill/>
            <a:ln w="19050">
              <a:solidFill>
                <a:srgbClr val="D6D8DA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83742" y="3035618"/>
              <a:ext cx="9275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detailHash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83742" y="3340418"/>
              <a:ext cx="22885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subjectHash · courseHash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83742" y="3645218"/>
              <a:ext cx="188560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状态 · 时间 · 交易身份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90600" y="4114800"/>
              <a:ext cx="1866900" cy="381000"/>
            </a:xfrm>
            <a:prstGeom prst="roundRect">
              <a:avLst>
                <a:gd name="adj" fmla="val 15000"/>
              </a:avLst>
            </a:prstGeom>
            <a:solidFill>
              <a:srgbClr val="F9E8E8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344720" y="4216718"/>
              <a:ext cx="11586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A13B3B"/>
                  </a:solidFill>
                  <a:latin typeface="+mn-lt"/>
                  <a:ea typeface="+mn-ea"/>
                  <a:cs typeface="+mn-cs"/>
                </a:rPr>
                <a:t>没有成绩明文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4603242" y="2212181"/>
            <a:ext cx="2559558" cy="2283619"/>
            <a:chOff x="4603242" y="2212181"/>
            <a:chExt cx="2559558" cy="2283619"/>
          </a:xfrm>
        </p:grpSpPr>
        <p:grpSp>
          <p:nvGrpSpPr>
            <p:cNvPr id="39" name="Group 39"/>
            <p:cNvGrpSpPr/>
            <p:nvPr/>
          </p:nvGrpSpPr>
          <p:grpSpPr>
            <a:xfrm>
              <a:off x="4918869" y="2212181"/>
              <a:ext cx="277812" cy="357187"/>
              <a:chOff x="4918869" y="2212181"/>
              <a:chExt cx="277812" cy="357187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4918869" y="2370931"/>
                <a:ext cx="277812" cy="198437"/>
              </a:xfrm>
              <a:custGeom>
                <a:avLst/>
                <a:gdLst/>
                <a:ahLst/>
                <a:cxnLst/>
                <a:rect l="l" t="t" r="r" b="b"/>
                <a:pathLst>
                  <a:path w="277812" h="198437">
                    <a:moveTo>
                      <a:pt x="0" y="39687"/>
                    </a:moveTo>
                    <a:cubicBezTo>
                      <a:pt x="0" y="17769"/>
                      <a:pt x="17769" y="0"/>
                      <a:pt x="39687" y="0"/>
                    </a:cubicBezTo>
                    <a:lnTo>
                      <a:pt x="238125" y="0"/>
                    </a:lnTo>
                    <a:cubicBezTo>
                      <a:pt x="260043" y="0"/>
                      <a:pt x="277812" y="17769"/>
                      <a:pt x="277812" y="39687"/>
                    </a:cubicBezTo>
                    <a:lnTo>
                      <a:pt x="277812" y="158750"/>
                    </a:lnTo>
                    <a:cubicBezTo>
                      <a:pt x="277812" y="180669"/>
                      <a:pt x="260043" y="198437"/>
                      <a:pt x="238125" y="198437"/>
                    </a:cubicBezTo>
                    <a:lnTo>
                      <a:pt x="39687" y="198437"/>
                    </a:lnTo>
                    <a:cubicBezTo>
                      <a:pt x="17769" y="198437"/>
                      <a:pt x="0" y="180669"/>
                      <a:pt x="0" y="158750"/>
                    </a:cubicBezTo>
                    <a:lnTo>
                      <a:pt x="0" y="39687"/>
                    </a:lnTo>
                  </a:path>
                </a:pathLst>
              </a:custGeom>
              <a:noFill/>
              <a:ln w="39687">
                <a:solidFill>
                  <a:schemeClr val="accent1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5037931" y="2450306"/>
                <a:ext cx="39687" cy="39687"/>
              </a:xfrm>
              <a:custGeom>
                <a:avLst/>
                <a:gdLst/>
                <a:ahLst/>
                <a:cxnLst/>
                <a:rect l="l" t="t" r="r" b="b"/>
                <a:pathLst>
                  <a:path w="39687" h="39687">
                    <a:moveTo>
                      <a:pt x="0" y="19844"/>
                    </a:moveTo>
                    <a:cubicBezTo>
                      <a:pt x="0" y="30803"/>
                      <a:pt x="8884" y="39687"/>
                      <a:pt x="19844" y="39687"/>
                    </a:cubicBezTo>
                    <a:cubicBezTo>
                      <a:pt x="30803" y="39687"/>
                      <a:pt x="39687" y="30803"/>
                      <a:pt x="39687" y="19844"/>
                    </a:cubicBezTo>
                    <a:cubicBezTo>
                      <a:pt x="39687" y="8884"/>
                      <a:pt x="30803" y="0"/>
                      <a:pt x="19844" y="0"/>
                    </a:cubicBezTo>
                    <a:cubicBezTo>
                      <a:pt x="8884" y="0"/>
                      <a:pt x="0" y="8884"/>
                      <a:pt x="0" y="19844"/>
                    </a:cubicBezTo>
                  </a:path>
                </a:pathLst>
              </a:custGeom>
              <a:noFill/>
              <a:ln w="39687">
                <a:solidFill>
                  <a:schemeClr val="accent1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4978400" y="2212181"/>
                <a:ext cx="158750" cy="158750"/>
              </a:xfrm>
              <a:custGeom>
                <a:avLst/>
                <a:gdLst/>
                <a:ahLst/>
                <a:cxnLst/>
                <a:rect l="l" t="t" r="r" b="b"/>
                <a:pathLst>
                  <a:path w="158750" h="158750">
                    <a:moveTo>
                      <a:pt x="0" y="158750"/>
                    </a:moveTo>
                    <a:lnTo>
                      <a:pt x="0" y="79375"/>
                    </a:lnTo>
                    <a:cubicBezTo>
                      <a:pt x="0" y="35537"/>
                      <a:pt x="35537" y="0"/>
                      <a:pt x="79375" y="0"/>
                    </a:cubicBezTo>
                    <a:cubicBezTo>
                      <a:pt x="123212" y="0"/>
                      <a:pt x="158750" y="35537"/>
                      <a:pt x="158750" y="79375"/>
                    </a:cubicBezTo>
                    <a:lnTo>
                      <a:pt x="158750" y="158750"/>
                    </a:lnTo>
                  </a:path>
                </a:pathLst>
              </a:custGeom>
              <a:noFill/>
              <a:ln w="39687">
                <a:solidFill>
                  <a:schemeClr val="accent1"/>
                </a:solidFill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5496306" y="2282190"/>
              <a:ext cx="154487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隐式私有集合</a:t>
              </a:r>
            </a:p>
          </p:txBody>
        </p:sp>
        <p:sp>
          <p:nvSpPr>
            <p:cNvPr id="41" name="Line 41"/>
            <p:cNvSpPr/>
            <p:nvPr/>
          </p:nvSpPr>
          <p:spPr>
            <a:xfrm>
              <a:off x="4610100" y="2819400"/>
              <a:ext cx="2552700" cy="9525"/>
            </a:xfrm>
            <a:custGeom>
              <a:avLst/>
              <a:gdLst/>
              <a:ahLst/>
              <a:cxnLst/>
              <a:rect l="l" t="t" r="r" b="b"/>
              <a:pathLst>
                <a:path w="2552700" h="9525">
                  <a:moveTo>
                    <a:pt x="0" y="0"/>
                  </a:moveTo>
                  <a:lnTo>
                    <a:pt x="2552700" y="0"/>
                  </a:lnTo>
                </a:path>
              </a:pathLst>
            </a:custGeom>
            <a:noFill/>
            <a:ln w="19050">
              <a:solidFill>
                <a:srgbClr val="AAB8C5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4603242" y="3035618"/>
              <a:ext cx="10554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courseName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603242" y="3340418"/>
              <a:ext cx="12222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score · grade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4603242" y="3645218"/>
              <a:ext cx="16766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申诉理由 · 复核决定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4610100" y="4114800"/>
              <a:ext cx="2152650" cy="381000"/>
            </a:xfrm>
            <a:prstGeom prst="roundRect">
              <a:avLst>
                <a:gd name="adj" fmla="val 15000"/>
              </a:avLst>
            </a:prstGeom>
            <a:solidFill>
              <a:srgbClr val="FFF6D9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5011684" y="4216718"/>
              <a:ext cx="134948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8A6812"/>
                  </a:solidFill>
                  <a:latin typeface="+mn-lt"/>
                  <a:ea typeface="+mn-ea"/>
                  <a:cs typeface="+mn-cs"/>
                </a:rPr>
                <a:t>正文与承诺绑定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8610600" y="2076450"/>
            <a:ext cx="2590800" cy="1028700"/>
            <a:chOff x="8610600" y="2076450"/>
            <a:chExt cx="2590800" cy="1028700"/>
          </a:xfrm>
        </p:grpSpPr>
        <p:sp>
          <p:nvSpPr>
            <p:cNvPr id="48" name="Rectangle 48"/>
            <p:cNvSpPr/>
            <p:nvPr/>
          </p:nvSpPr>
          <p:spPr>
            <a:xfrm>
              <a:off x="8610600" y="2076450"/>
              <a:ext cx="2590800" cy="1028700"/>
            </a:xfrm>
            <a:prstGeom prst="roundRect">
              <a:avLst>
                <a:gd name="adj" fmla="val 7407"/>
              </a:avLst>
            </a:prstGeom>
            <a:solidFill>
              <a:srgbClr val="E8EEF5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8849106" y="2263140"/>
              <a:ext cx="103601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学生本人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851392" y="2673668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读取完整本人详情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8610600" y="3352800"/>
            <a:ext cx="2590800" cy="1413701"/>
            <a:chOff x="8610600" y="3352800"/>
            <a:chExt cx="2590800" cy="1413701"/>
          </a:xfrm>
        </p:grpSpPr>
        <p:sp>
          <p:nvSpPr>
            <p:cNvPr id="52" name="Rectangle 52"/>
            <p:cNvSpPr/>
            <p:nvPr/>
          </p:nvSpPr>
          <p:spPr>
            <a:xfrm>
              <a:off x="8610600" y="3352800"/>
              <a:ext cx="2590800" cy="1371600"/>
            </a:xfrm>
            <a:prstGeom prst="roundRect">
              <a:avLst>
                <a:gd name="adj" fmla="val 5556"/>
              </a:avLst>
            </a:prstGeom>
            <a:solidFill>
              <a:srgbClr val="E7F1EC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8849106" y="3539490"/>
              <a:ext cx="129044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外部验证者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851392" y="3930968"/>
              <a:ext cx="206734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字段白名单 · 用途 · 期限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851392" y="4235768"/>
              <a:ext cx="137674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1–10 次使用上限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851392" y="4502468"/>
              <a:ext cx="198196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链上只保存 tokenHash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1428750" y="5391150"/>
            <a:ext cx="9334500" cy="552450"/>
            <a:chOff x="1428750" y="5391150"/>
            <a:chExt cx="9334500" cy="552450"/>
          </a:xfrm>
        </p:grpSpPr>
        <p:sp>
          <p:nvSpPr>
            <p:cNvPr id="58" name="Rectangle 58"/>
            <p:cNvSpPr/>
            <p:nvPr/>
          </p:nvSpPr>
          <p:spPr>
            <a:xfrm>
              <a:off x="1428750" y="5391150"/>
              <a:ext cx="9334500" cy="552450"/>
            </a:xfrm>
            <a:prstGeom prst="roundRect">
              <a:avLst>
                <a:gd name="adj" fmla="val 13793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2372152" y="5558790"/>
              <a:ext cx="744769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公开查询证明“它有效”，授权披露只证明“对方被允许知道的字段”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678942" y="6236018"/>
            <a:ext cx="10834116" cy="264033"/>
            <a:chOff x="678942" y="6236018"/>
            <a:chExt cx="10834116" cy="264033"/>
          </a:xfrm>
        </p:grpSpPr>
        <p:sp>
          <p:nvSpPr>
            <p:cNvPr id="61" name="TextBox 61"/>
            <p:cNvSpPr txBox="1"/>
            <p:nvPr/>
          </p:nvSpPr>
          <p:spPr>
            <a:xfrm>
              <a:off x="678942" y="6236018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最小披露：字段、用途、验证者、期限和次数共同限定一次授权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299431" y="6236018"/>
              <a:ext cx="2136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69798" y="495300"/>
            <a:ext cx="8500262" cy="847535"/>
            <a:chOff x="669798" y="495300"/>
            <a:chExt cx="8500262" cy="847535"/>
          </a:xfrm>
        </p:grpSpPr>
        <p:sp>
          <p:nvSpPr>
            <p:cNvPr id="2" name="Rectangle 2"/>
            <p:cNvSpPr/>
            <p:nvPr/>
          </p:nvSpPr>
          <p:spPr>
            <a:xfrm>
              <a:off x="685800" y="495300"/>
              <a:ext cx="438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69798" y="726758"/>
              <a:ext cx="8500262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产品不是四张原型，而是四个真实工作台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676656" y="1558290"/>
            <a:ext cx="4969002" cy="352044"/>
            <a:chOff x="676656" y="1558290"/>
            <a:chExt cx="4969002" cy="352044"/>
          </a:xfrm>
        </p:grpSpPr>
        <p:sp>
          <p:nvSpPr>
            <p:cNvPr id="5" name="TextBox 5"/>
            <p:cNvSpPr txBox="1"/>
            <p:nvPr/>
          </p:nvSpPr>
          <p:spPr>
            <a:xfrm>
              <a:off x="676656" y="1558290"/>
              <a:ext cx="302922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ISSUER · 创建与账本队列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3871976" y="1606868"/>
              <a:ext cx="17736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3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ledgerMode = fabric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85800" y="1981200"/>
            <a:ext cx="4953000" cy="3699701"/>
            <a:chOff x="685800" y="1981200"/>
            <a:chExt cx="4953000" cy="3699701"/>
          </a:xfrm>
        </p:grpSpPr>
        <p:sp>
          <p:nvSpPr>
            <p:cNvPr id="8" name="Rectangle 8"/>
            <p:cNvSpPr/>
            <p:nvPr/>
          </p:nvSpPr>
          <p:spPr>
            <a:xfrm>
              <a:off x="685800" y="1981200"/>
              <a:ext cx="4953000" cy="3657600"/>
            </a:xfrm>
            <a:prstGeom prst="roundRect">
              <a:avLst>
                <a:gd name="adj" fmla="val 2083"/>
              </a:avLst>
            </a:prstGeom>
            <a:solidFill>
              <a:schemeClr val="lt2"/>
            </a:solidFill>
            <a:ln w="19050">
              <a:solidFill>
                <a:srgbClr val="C8CDD3"/>
              </a:solidFill>
            </a:ln>
          </p:spPr>
        </p:sp>
        <p:pic>
          <p:nvPicPr>
            <p:cNvPr id="9" name="Image 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83576" y="2114550"/>
              <a:ext cx="4757449" cy="3305175"/>
            </a:xfrm>
            <a:prstGeom prst="rect">
              <a:avLst/>
            </a:prstGeom>
          </p:spPr>
        </p:pic>
        <p:sp>
          <p:nvSpPr>
            <p:cNvPr id="10" name="TextBox 10"/>
            <p:cNvSpPr txBox="1"/>
            <p:nvPr/>
          </p:nvSpPr>
          <p:spPr>
            <a:xfrm>
              <a:off x="774192" y="5416868"/>
              <a:ext cx="204008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真实浏览器验收 · 签发端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544056" y="1558290"/>
            <a:ext cx="4969002" cy="352044"/>
            <a:chOff x="6544056" y="1558290"/>
            <a:chExt cx="4969002" cy="352044"/>
          </a:xfrm>
        </p:grpSpPr>
        <p:sp>
          <p:nvSpPr>
            <p:cNvPr id="12" name="TextBox 12"/>
            <p:cNvSpPr txBox="1"/>
            <p:nvPr/>
          </p:nvSpPr>
          <p:spPr>
            <a:xfrm>
              <a:off x="6544056" y="1558290"/>
              <a:ext cx="310987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8A6812"/>
                  </a:solidFill>
                  <a:latin typeface="+mn-lt"/>
                  <a:ea typeface="+mn-ea"/>
                  <a:cs typeface="+mn-cs"/>
                </a:rPr>
                <a:t>REVIEWER · 独立复核队列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408920" y="160686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真实链上状态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6553200" y="1981200"/>
            <a:ext cx="4953000" cy="3699701"/>
            <a:chOff x="6553200" y="1981200"/>
            <a:chExt cx="4953000" cy="3699701"/>
          </a:xfrm>
        </p:grpSpPr>
        <p:sp>
          <p:nvSpPr>
            <p:cNvPr id="15" name="Rectangle 15"/>
            <p:cNvSpPr/>
            <p:nvPr/>
          </p:nvSpPr>
          <p:spPr>
            <a:xfrm>
              <a:off x="6553200" y="1981200"/>
              <a:ext cx="4953000" cy="3657600"/>
            </a:xfrm>
            <a:prstGeom prst="roundRect">
              <a:avLst>
                <a:gd name="adj" fmla="val 2083"/>
              </a:avLst>
            </a:prstGeom>
            <a:solidFill>
              <a:schemeClr val="lt2"/>
            </a:solidFill>
            <a:ln w="28575">
              <a:solidFill>
                <a:schemeClr val="accent2"/>
              </a:solidFill>
            </a:ln>
          </p:spPr>
        </p:sp>
        <p:pic>
          <p:nvPicPr>
            <p:cNvPr id="16" name="Image 16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650976" y="2114550"/>
              <a:ext cx="4757449" cy="3305175"/>
            </a:xfrm>
            <a:prstGeom prst="rect">
              <a:avLst/>
            </a:prstGeom>
          </p:spPr>
        </p:pic>
        <p:sp>
          <p:nvSpPr>
            <p:cNvPr id="17" name="TextBox 17"/>
            <p:cNvSpPr txBox="1"/>
            <p:nvPr/>
          </p:nvSpPr>
          <p:spPr>
            <a:xfrm>
              <a:off x="6641592" y="5416868"/>
              <a:ext cx="204008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真实浏览器验收 · 复核端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3573262" y="5844540"/>
            <a:ext cx="5045476" cy="352044"/>
            <a:chOff x="3573262" y="5844540"/>
            <a:chExt cx="5045476" cy="352044"/>
          </a:xfrm>
        </p:grpSpPr>
        <p:sp>
          <p:nvSpPr>
            <p:cNvPr id="19" name="TextBox 19"/>
            <p:cNvSpPr txBox="1"/>
            <p:nvPr/>
          </p:nvSpPr>
          <p:spPr>
            <a:xfrm>
              <a:off x="3573262" y="5844540"/>
              <a:ext cx="50454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角色越权会在会话、API 与链码三层被拒绝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678942" y="6236018"/>
            <a:ext cx="10834116" cy="264033"/>
            <a:chOff x="678942" y="6236018"/>
            <a:chExt cx="10834116" cy="264033"/>
          </a:xfrm>
        </p:grpSpPr>
        <p:sp>
          <p:nvSpPr>
            <p:cNvPr id="21" name="TextBox 21"/>
            <p:cNvSpPr txBox="1"/>
            <p:nvPr/>
          </p:nvSpPr>
          <p:spPr>
            <a:xfrm>
              <a:off x="678942" y="6236018"/>
              <a:ext cx="496334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界面状态来自 Fabric Gateway 返回值，不使用前端模拟数据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1299431" y="6236018"/>
              <a:ext cx="2136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69798" y="495300"/>
            <a:ext cx="6618427" cy="847535"/>
            <a:chOff x="669798" y="495300"/>
            <a:chExt cx="6618427" cy="847535"/>
          </a:xfrm>
        </p:grpSpPr>
        <p:sp>
          <p:nvSpPr>
            <p:cNvPr id="2" name="Rectangle 2"/>
            <p:cNvSpPr/>
            <p:nvPr/>
          </p:nvSpPr>
          <p:spPr>
            <a:xfrm>
              <a:off x="685800" y="495300"/>
              <a:ext cx="438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69798" y="726758"/>
              <a:ext cx="6618427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隐私边界，也能在界面上被看见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61206" y="1493044"/>
            <a:ext cx="2737974" cy="388715"/>
            <a:chOff x="761206" y="1493044"/>
            <a:chExt cx="2737974" cy="388715"/>
          </a:xfrm>
        </p:grpSpPr>
        <p:grpSp>
          <p:nvGrpSpPr>
            <p:cNvPr id="8" name="Group 8"/>
            <p:cNvGrpSpPr/>
            <p:nvPr/>
          </p:nvGrpSpPr>
          <p:grpSpPr>
            <a:xfrm>
              <a:off x="761206" y="1493044"/>
              <a:ext cx="211137" cy="271461"/>
              <a:chOff x="761206" y="1493044"/>
              <a:chExt cx="211137" cy="271461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761206" y="1613693"/>
                <a:ext cx="211137" cy="150812"/>
              </a:xfrm>
              <a:custGeom>
                <a:avLst/>
                <a:gdLst/>
                <a:ahLst/>
                <a:cxnLst/>
                <a:rect l="l" t="t" r="r" b="b"/>
                <a:pathLst>
                  <a:path w="211137" h="150812">
                    <a:moveTo>
                      <a:pt x="0" y="30162"/>
                    </a:moveTo>
                    <a:cubicBezTo>
                      <a:pt x="0" y="13504"/>
                      <a:pt x="13504" y="0"/>
                      <a:pt x="30162" y="0"/>
                    </a:cubicBezTo>
                    <a:lnTo>
                      <a:pt x="180975" y="0"/>
                    </a:lnTo>
                    <a:cubicBezTo>
                      <a:pt x="197633" y="0"/>
                      <a:pt x="211137" y="13504"/>
                      <a:pt x="211137" y="30162"/>
                    </a:cubicBezTo>
                    <a:lnTo>
                      <a:pt x="211137" y="120650"/>
                    </a:lnTo>
                    <a:cubicBezTo>
                      <a:pt x="211137" y="137308"/>
                      <a:pt x="197633" y="150812"/>
                      <a:pt x="180975" y="150812"/>
                    </a:cubicBezTo>
                    <a:lnTo>
                      <a:pt x="30162" y="150812"/>
                    </a:lnTo>
                    <a:cubicBezTo>
                      <a:pt x="13504" y="150812"/>
                      <a:pt x="0" y="137308"/>
                      <a:pt x="0" y="120650"/>
                    </a:cubicBezTo>
                    <a:lnTo>
                      <a:pt x="0" y="30162"/>
                    </a:lnTo>
                  </a:path>
                </a:pathLst>
              </a:custGeom>
              <a:noFill/>
              <a:ln w="30162">
                <a:solidFill>
                  <a:schemeClr val="accent1"/>
                </a:solidFill>
              </a:ln>
            </p:spPr>
          </p:sp>
          <p:sp>
            <p:nvSpPr>
              <p:cNvPr id="6" name="Freeform 6"/>
              <p:cNvSpPr/>
              <p:nvPr/>
            </p:nvSpPr>
            <p:spPr>
              <a:xfrm>
                <a:off x="851693" y="1674018"/>
                <a:ext cx="30162" cy="30162"/>
              </a:xfrm>
              <a:custGeom>
                <a:avLst/>
                <a:gdLst/>
                <a:ahLst/>
                <a:cxnLst/>
                <a:rect l="l" t="t" r="r" b="b"/>
                <a:pathLst>
                  <a:path w="30162" h="30162">
                    <a:moveTo>
                      <a:pt x="0" y="15081"/>
                    </a:moveTo>
                    <a:cubicBezTo>
                      <a:pt x="0" y="23410"/>
                      <a:pt x="6752" y="30162"/>
                      <a:pt x="15081" y="30162"/>
                    </a:cubicBezTo>
                    <a:cubicBezTo>
                      <a:pt x="23410" y="30162"/>
                      <a:pt x="30162" y="23410"/>
                      <a:pt x="30162" y="15081"/>
                    </a:cubicBezTo>
                    <a:cubicBezTo>
                      <a:pt x="30162" y="6752"/>
                      <a:pt x="23410" y="0"/>
                      <a:pt x="15081" y="0"/>
                    </a:cubicBezTo>
                    <a:cubicBezTo>
                      <a:pt x="6752" y="0"/>
                      <a:pt x="0" y="6752"/>
                      <a:pt x="0" y="15081"/>
                    </a:cubicBezTo>
                  </a:path>
                </a:pathLst>
              </a:custGeom>
              <a:noFill/>
              <a:ln w="30162">
                <a:solidFill>
                  <a:schemeClr val="accent1"/>
                </a:solidFill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806450" y="1493044"/>
                <a:ext cx="120650" cy="120650"/>
              </a:xfrm>
              <a:custGeom>
                <a:avLst/>
                <a:gdLst/>
                <a:ahLst/>
                <a:cxnLst/>
                <a:rect l="l" t="t" r="r" b="b"/>
                <a:pathLst>
                  <a:path w="120650" h="120650">
                    <a:moveTo>
                      <a:pt x="0" y="120650"/>
                    </a:moveTo>
                    <a:lnTo>
                      <a:pt x="0" y="60325"/>
                    </a:lnTo>
                    <a:cubicBezTo>
                      <a:pt x="0" y="27008"/>
                      <a:pt x="27008" y="0"/>
                      <a:pt x="60325" y="0"/>
                    </a:cubicBezTo>
                    <a:cubicBezTo>
                      <a:pt x="93641" y="0"/>
                      <a:pt x="120650" y="27008"/>
                      <a:pt x="120650" y="60325"/>
                    </a:cubicBezTo>
                    <a:lnTo>
                      <a:pt x="120650" y="120650"/>
                    </a:lnTo>
                  </a:path>
                </a:pathLst>
              </a:custGeom>
              <a:noFill/>
              <a:ln w="30162">
                <a:solidFill>
                  <a:schemeClr val="accent1"/>
                </a:solidFill>
              </a:ln>
            </p:spPr>
          </p:sp>
        </p:grpSp>
        <p:sp>
          <p:nvSpPr>
            <p:cNvPr id="9" name="TextBox 9"/>
            <p:cNvSpPr txBox="1"/>
            <p:nvPr/>
          </p:nvSpPr>
          <p:spPr>
            <a:xfrm>
              <a:off x="1191006" y="1529715"/>
              <a:ext cx="230817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学生本人：私有详情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85800" y="1981200"/>
            <a:ext cx="4953000" cy="3699701"/>
            <a:chOff x="685800" y="1981200"/>
            <a:chExt cx="4953000" cy="3699701"/>
          </a:xfrm>
        </p:grpSpPr>
        <p:sp>
          <p:nvSpPr>
            <p:cNvPr id="11" name="Rectangle 11"/>
            <p:cNvSpPr/>
            <p:nvPr/>
          </p:nvSpPr>
          <p:spPr>
            <a:xfrm>
              <a:off x="685800" y="1981200"/>
              <a:ext cx="4953000" cy="3657600"/>
            </a:xfrm>
            <a:prstGeom prst="roundRect">
              <a:avLst>
                <a:gd name="adj" fmla="val 2083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</p:sp>
        <p:pic>
          <p:nvPicPr>
            <p:cNvPr id="12" name="Image 1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83576" y="2114550"/>
              <a:ext cx="4757449" cy="3305175"/>
            </a:xfrm>
            <a:prstGeom prst="rect">
              <a:avLst/>
            </a:prstGeom>
          </p:spPr>
        </p:pic>
        <p:sp>
          <p:nvSpPr>
            <p:cNvPr id="13" name="TextBox 13"/>
            <p:cNvSpPr txBox="1"/>
            <p:nvPr/>
          </p:nvSpPr>
          <p:spPr>
            <a:xfrm>
              <a:off x="774192" y="5416868"/>
              <a:ext cx="41143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本人会话通过后读取 courseName、score、grade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5993730" y="2495550"/>
            <a:ext cx="204540" cy="2152650"/>
            <a:chOff x="5993730" y="2495550"/>
            <a:chExt cx="204540" cy="2152650"/>
          </a:xfrm>
        </p:grpSpPr>
        <p:sp>
          <p:nvSpPr>
            <p:cNvPr id="15" name="Line 15"/>
            <p:cNvSpPr/>
            <p:nvPr/>
          </p:nvSpPr>
          <p:spPr>
            <a:xfrm>
              <a:off x="6096000" y="2571750"/>
              <a:ext cx="9525" cy="2000250"/>
            </a:xfrm>
            <a:custGeom>
              <a:avLst/>
              <a:gdLst/>
              <a:ahLst/>
              <a:cxnLst/>
              <a:rect l="l" t="t" r="r" b="b"/>
              <a:pathLst>
                <a:path w="9525" h="2000250">
                  <a:moveTo>
                    <a:pt x="0" y="0"/>
                  </a:moveTo>
                  <a:lnTo>
                    <a:pt x="0" y="2000250"/>
                  </a:lnTo>
                </a:path>
              </a:pathLst>
            </a:custGeom>
            <a:noFill/>
            <a:ln w="38100">
              <a:solidFill>
                <a:schemeClr val="accent2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019800" y="2495550"/>
              <a:ext cx="152400" cy="1524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Ellipse 17"/>
            <p:cNvSpPr/>
            <p:nvPr/>
          </p:nvSpPr>
          <p:spPr>
            <a:xfrm>
              <a:off x="6019800" y="4495800"/>
              <a:ext cx="152400" cy="1524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993730" y="3168968"/>
              <a:ext cx="20454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8A6812"/>
                  </a:solidFill>
                  <a:latin typeface="+mn-lt"/>
                  <a:ea typeface="+mn-ea"/>
                  <a:cs typeface="+mn-cs"/>
                </a:rPr>
                <a:t>同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993730" y="3473768"/>
              <a:ext cx="20454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8A6812"/>
                  </a:solidFill>
                  <a:latin typeface="+mn-lt"/>
                  <a:ea typeface="+mn-ea"/>
                  <a:cs typeface="+mn-cs"/>
                </a:rPr>
                <a:t>一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993730" y="3778568"/>
              <a:ext cx="20454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8A6812"/>
                  </a:solidFill>
                  <a:latin typeface="+mn-lt"/>
                  <a:ea typeface="+mn-ea"/>
                  <a:cs typeface="+mn-cs"/>
                </a:rPr>
                <a:t>凭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993730" y="4083368"/>
              <a:ext cx="20454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8A6812"/>
                  </a:solidFill>
                  <a:latin typeface="+mn-lt"/>
                  <a:ea typeface="+mn-ea"/>
                  <a:cs typeface="+mn-cs"/>
                </a:rPr>
                <a:t>证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6578091" y="1428750"/>
            <a:ext cx="4928109" cy="453009"/>
            <a:chOff x="6578091" y="1428750"/>
            <a:chExt cx="4928109" cy="453009"/>
          </a:xfrm>
        </p:grpSpPr>
        <p:grpSp>
          <p:nvGrpSpPr>
            <p:cNvPr id="25" name="Group 25"/>
            <p:cNvGrpSpPr/>
            <p:nvPr/>
          </p:nvGrpSpPr>
          <p:grpSpPr>
            <a:xfrm>
              <a:off x="6578091" y="1493044"/>
              <a:ext cx="294509" cy="271462"/>
              <a:chOff x="6578091" y="1493044"/>
              <a:chExt cx="294509" cy="271462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6578091" y="1493044"/>
                <a:ext cx="294509" cy="269139"/>
              </a:xfrm>
              <a:custGeom>
                <a:avLst/>
                <a:gdLst/>
                <a:ahLst/>
                <a:cxnLst/>
                <a:rect l="l" t="t" r="r" b="b"/>
                <a:pathLst>
                  <a:path w="294509" h="269139">
                    <a:moveTo>
                      <a:pt x="147940" y="269139"/>
                    </a:moveTo>
                    <a:cubicBezTo>
                      <a:pt x="53463" y="239854"/>
                      <a:pt x="0" y="140141"/>
                      <a:pt x="27893" y="45244"/>
                    </a:cubicBezTo>
                    <a:cubicBezTo>
                      <a:pt x="74879" y="47394"/>
                      <a:pt x="120857" y="31166"/>
                      <a:pt x="156084" y="0"/>
                    </a:cubicBezTo>
                    <a:cubicBezTo>
                      <a:pt x="191311" y="31166"/>
                      <a:pt x="237288" y="47394"/>
                      <a:pt x="284274" y="45244"/>
                    </a:cubicBezTo>
                    <a:cubicBezTo>
                      <a:pt x="294509" y="80068"/>
                      <a:pt x="294037" y="117165"/>
                      <a:pt x="282917" y="151717"/>
                    </a:cubicBezTo>
                  </a:path>
                </a:pathLst>
              </a:custGeom>
              <a:noFill/>
              <a:ln w="30162">
                <a:solidFill>
                  <a:schemeClr val="accent6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6779418" y="1704181"/>
                <a:ext cx="90487" cy="60325"/>
              </a:xfrm>
              <a:custGeom>
                <a:avLst/>
                <a:gdLst/>
                <a:ahLst/>
                <a:cxnLst/>
                <a:rect l="l" t="t" r="r" b="b"/>
                <a:pathLst>
                  <a:path w="90487" h="60325">
                    <a:moveTo>
                      <a:pt x="0" y="30162"/>
                    </a:moveTo>
                    <a:lnTo>
                      <a:pt x="30162" y="60325"/>
                    </a:lnTo>
                    <a:lnTo>
                      <a:pt x="90487" y="0"/>
                    </a:lnTo>
                  </a:path>
                </a:pathLst>
              </a:custGeom>
              <a:noFill/>
              <a:ln w="30162">
                <a:solidFill>
                  <a:schemeClr val="accent6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7058406" y="1529715"/>
              <a:ext cx="256260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公众验真：状态与承诺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9734550" y="1428750"/>
              <a:ext cx="1771650" cy="361950"/>
            </a:xfrm>
            <a:prstGeom prst="roundRect">
              <a:avLst>
                <a:gd name="adj" fmla="val 15789"/>
              </a:avLst>
            </a:prstGeom>
            <a:solidFill>
              <a:srgbClr val="F9E8E8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10136457" y="1530668"/>
              <a:ext cx="96783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A13B3B"/>
                  </a:solidFill>
                  <a:latin typeface="+mn-lt"/>
                  <a:ea typeface="+mn-ea"/>
                  <a:cs typeface="+mn-cs"/>
                </a:rPr>
                <a:t>无成绩明文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6553200" y="1981200"/>
            <a:ext cx="4953000" cy="3699701"/>
            <a:chOff x="6553200" y="1981200"/>
            <a:chExt cx="4953000" cy="3699701"/>
          </a:xfrm>
        </p:grpSpPr>
        <p:sp>
          <p:nvSpPr>
            <p:cNvPr id="30" name="Rectangle 30"/>
            <p:cNvSpPr/>
            <p:nvPr/>
          </p:nvSpPr>
          <p:spPr>
            <a:xfrm>
              <a:off x="6553200" y="1981200"/>
              <a:ext cx="4953000" cy="3657600"/>
            </a:xfrm>
            <a:prstGeom prst="roundRect">
              <a:avLst>
                <a:gd name="adj" fmla="val 2083"/>
              </a:avLst>
            </a:prstGeom>
            <a:solidFill>
              <a:schemeClr val="lt2"/>
            </a:solidFill>
            <a:ln w="19050">
              <a:solidFill>
                <a:schemeClr val="accent6"/>
              </a:solidFill>
            </a:ln>
          </p:spPr>
        </p:sp>
        <p:pic>
          <p:nvPicPr>
            <p:cNvPr id="31" name="Image 3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650976" y="2114550"/>
              <a:ext cx="4757449" cy="3305175"/>
            </a:xfrm>
            <a:prstGeom prst="rect">
              <a:avLst/>
            </a:prstGeom>
          </p:spPr>
        </p:pic>
        <p:sp>
          <p:nvSpPr>
            <p:cNvPr id="32" name="TextBox 32"/>
            <p:cNvSpPr txBox="1"/>
            <p:nvPr/>
          </p:nvSpPr>
          <p:spPr>
            <a:xfrm>
              <a:off x="6641592" y="5416868"/>
              <a:ext cx="411342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无需登录即可验证 ACTIVE、哈希承诺与交易信息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3415322" y="5844540"/>
            <a:ext cx="5361356" cy="352044"/>
            <a:chOff x="3415322" y="5844540"/>
            <a:chExt cx="5361356" cy="352044"/>
          </a:xfrm>
        </p:grpSpPr>
        <p:sp>
          <p:nvSpPr>
            <p:cNvPr id="34" name="TextBox 34"/>
            <p:cNvSpPr txBox="1"/>
            <p:nvPr/>
          </p:nvSpPr>
          <p:spPr>
            <a:xfrm>
              <a:off x="3415322" y="5844540"/>
              <a:ext cx="536135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差异是系统行为，而不是报告里的一句隐私承诺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678942" y="6236018"/>
            <a:ext cx="10834116" cy="264033"/>
            <a:chOff x="678942" y="6236018"/>
            <a:chExt cx="10834116" cy="264033"/>
          </a:xfrm>
        </p:grpSpPr>
        <p:sp>
          <p:nvSpPr>
            <p:cNvPr id="36" name="TextBox 36"/>
            <p:cNvSpPr txBox="1"/>
            <p:nvPr/>
          </p:nvSpPr>
          <p:spPr>
            <a:xfrm>
              <a:off x="678942" y="6236018"/>
              <a:ext cx="54530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真实浏览器验收：学生端与公开验真端使用同一条 Fabric 凭证记录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1299431" y="6236018"/>
              <a:ext cx="2136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69798" y="495300"/>
            <a:ext cx="9168146" cy="847535"/>
            <a:chOff x="669798" y="495300"/>
            <a:chExt cx="9168146" cy="847535"/>
          </a:xfrm>
        </p:grpSpPr>
        <p:sp>
          <p:nvSpPr>
            <p:cNvPr id="2" name="Rectangle 2"/>
            <p:cNvSpPr/>
            <p:nvPr/>
          </p:nvSpPr>
          <p:spPr>
            <a:xfrm>
              <a:off x="685800" y="495300"/>
              <a:ext cx="438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69798" y="726758"/>
              <a:ext cx="9168146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真实 Fabric 的证据，不是一行“连接成功”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2038350" y="2562225"/>
            <a:ext cx="3257550" cy="1847850"/>
            <a:chOff x="2038350" y="2562225"/>
            <a:chExt cx="3257550" cy="1847850"/>
          </a:xfrm>
        </p:grpSpPr>
        <p:sp>
          <p:nvSpPr>
            <p:cNvPr id="5" name="Line 5"/>
            <p:cNvSpPr/>
            <p:nvPr/>
          </p:nvSpPr>
          <p:spPr>
            <a:xfrm>
              <a:off x="2228850" y="2647950"/>
              <a:ext cx="971550" cy="9525"/>
            </a:xfrm>
            <a:custGeom>
              <a:avLst/>
              <a:gdLst/>
              <a:ahLst/>
              <a:cxnLst/>
              <a:rect l="l" t="t" r="r" b="b"/>
              <a:pathLst>
                <a:path w="971550" h="9525">
                  <a:moveTo>
                    <a:pt x="0" y="0"/>
                  </a:moveTo>
                  <a:lnTo>
                    <a:pt x="971550" y="0"/>
                  </a:lnTo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</p:sp>
        <p:sp>
          <p:nvSpPr>
            <p:cNvPr id="6" name="Polygon 6"/>
            <p:cNvSpPr/>
            <p:nvPr/>
          </p:nvSpPr>
          <p:spPr>
            <a:xfrm>
              <a:off x="3162300" y="2562225"/>
              <a:ext cx="152400" cy="171450"/>
            </a:xfrm>
            <a:custGeom>
              <a:avLst/>
              <a:gdLst/>
              <a:ahLst/>
              <a:cxnLst/>
              <a:rect l="l" t="t" r="r" b="b"/>
              <a:pathLst>
                <a:path w="152400" h="171450">
                  <a:moveTo>
                    <a:pt x="152400" y="85725"/>
                  </a:moveTo>
                  <a:lnTo>
                    <a:pt x="0" y="0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7" name="Line 7"/>
            <p:cNvSpPr/>
            <p:nvPr/>
          </p:nvSpPr>
          <p:spPr>
            <a:xfrm>
              <a:off x="4438650" y="2647950"/>
              <a:ext cx="742950" cy="9525"/>
            </a:xfrm>
            <a:custGeom>
              <a:avLst/>
              <a:gdLst/>
              <a:ahLst/>
              <a:cxnLst/>
              <a:rect l="l" t="t" r="r" b="b"/>
              <a:pathLst>
                <a:path w="742950" h="9525">
                  <a:moveTo>
                    <a:pt x="0" y="0"/>
                  </a:moveTo>
                  <a:lnTo>
                    <a:pt x="742950" y="0"/>
                  </a:lnTo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</p:sp>
        <p:sp>
          <p:nvSpPr>
            <p:cNvPr id="8" name="Polygon 8"/>
            <p:cNvSpPr/>
            <p:nvPr/>
          </p:nvSpPr>
          <p:spPr>
            <a:xfrm>
              <a:off x="5143500" y="2562225"/>
              <a:ext cx="152400" cy="171450"/>
            </a:xfrm>
            <a:custGeom>
              <a:avLst/>
              <a:gdLst/>
              <a:ahLst/>
              <a:cxnLst/>
              <a:rect l="l" t="t" r="r" b="b"/>
              <a:pathLst>
                <a:path w="152400" h="171450">
                  <a:moveTo>
                    <a:pt x="152400" y="85725"/>
                  </a:moveTo>
                  <a:lnTo>
                    <a:pt x="0" y="0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2152650" y="3105150"/>
              <a:ext cx="1943100" cy="742950"/>
            </a:xfrm>
            <a:custGeom>
              <a:avLst/>
              <a:gdLst/>
              <a:ahLst/>
              <a:cxnLst/>
              <a:rect l="l" t="t" r="r" b="b"/>
              <a:pathLst>
                <a:path w="1943100" h="742950">
                  <a:moveTo>
                    <a:pt x="1943100" y="0"/>
                  </a:moveTo>
                  <a:lnTo>
                    <a:pt x="1943100" y="742950"/>
                  </a:lnTo>
                  <a:lnTo>
                    <a:pt x="0" y="742950"/>
                  </a:lnTo>
                </a:path>
              </a:pathLst>
            </a:custGeom>
            <a:noFill/>
            <a:ln w="19050">
              <a:solidFill>
                <a:schemeClr val="accent3"/>
              </a:solidFill>
            </a:ln>
          </p:spPr>
        </p:sp>
        <p:sp>
          <p:nvSpPr>
            <p:cNvPr id="10" name="Polygon 10"/>
            <p:cNvSpPr/>
            <p:nvPr/>
          </p:nvSpPr>
          <p:spPr>
            <a:xfrm>
              <a:off x="2038350" y="3762375"/>
              <a:ext cx="152400" cy="171450"/>
            </a:xfrm>
            <a:custGeom>
              <a:avLst/>
              <a:gdLst/>
              <a:ahLst/>
              <a:cxnLst/>
              <a:rect l="l" t="t" r="r" b="b"/>
              <a:pathLst>
                <a:path w="152400" h="171450">
                  <a:moveTo>
                    <a:pt x="0" y="85725"/>
                  </a:moveTo>
                  <a:lnTo>
                    <a:pt x="152400" y="0"/>
                  </a:lnTo>
                  <a:lnTo>
                    <a:pt x="152400" y="17145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3981450" y="3105150"/>
              <a:ext cx="114300" cy="1219200"/>
            </a:xfrm>
            <a:custGeom>
              <a:avLst/>
              <a:gdLst/>
              <a:ahLst/>
              <a:cxnLst/>
              <a:rect l="l" t="t" r="r" b="b"/>
              <a:pathLst>
                <a:path w="114300" h="1219200">
                  <a:moveTo>
                    <a:pt x="114300" y="0"/>
                  </a:moveTo>
                  <a:lnTo>
                    <a:pt x="114300" y="1219200"/>
                  </a:lnTo>
                  <a:lnTo>
                    <a:pt x="0" y="1219200"/>
                  </a:lnTo>
                </a:path>
              </a:pathLst>
            </a:custGeom>
            <a:noFill/>
            <a:ln w="19050">
              <a:solidFill>
                <a:schemeClr val="accent3"/>
              </a:solidFill>
            </a:ln>
          </p:spPr>
        </p:sp>
        <p:sp>
          <p:nvSpPr>
            <p:cNvPr id="12" name="Polygon 12"/>
            <p:cNvSpPr/>
            <p:nvPr/>
          </p:nvSpPr>
          <p:spPr>
            <a:xfrm>
              <a:off x="3867150" y="4238625"/>
              <a:ext cx="152400" cy="171450"/>
            </a:xfrm>
            <a:custGeom>
              <a:avLst/>
              <a:gdLst/>
              <a:ahLst/>
              <a:cxnLst/>
              <a:rect l="l" t="t" r="r" b="b"/>
              <a:pathLst>
                <a:path w="152400" h="171450">
                  <a:moveTo>
                    <a:pt x="0" y="85725"/>
                  </a:moveTo>
                  <a:lnTo>
                    <a:pt x="152400" y="0"/>
                  </a:lnTo>
                  <a:lnTo>
                    <a:pt x="152400" y="17145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</p:grpSp>
      <p:grpSp>
        <p:nvGrpSpPr>
          <p:cNvPr id="17" name="Group 17"/>
          <p:cNvGrpSpPr/>
          <p:nvPr/>
        </p:nvGrpSpPr>
        <p:grpSpPr>
          <a:xfrm>
            <a:off x="876300" y="2190750"/>
            <a:ext cx="1352550" cy="914400"/>
            <a:chOff x="876300" y="2190750"/>
            <a:chExt cx="1352550" cy="914400"/>
          </a:xfrm>
        </p:grpSpPr>
        <p:sp>
          <p:nvSpPr>
            <p:cNvPr id="14" name="Rectangle 14"/>
            <p:cNvSpPr/>
            <p:nvPr/>
          </p:nvSpPr>
          <p:spPr>
            <a:xfrm>
              <a:off x="876300" y="2190750"/>
              <a:ext cx="1352550" cy="914400"/>
            </a:xfrm>
            <a:prstGeom prst="roundRect">
              <a:avLst>
                <a:gd name="adj" fmla="val 8333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238239" y="2406968"/>
              <a:ext cx="6286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ISSUER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288999" y="2701290"/>
              <a:ext cx="5271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创建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3314700" y="2190750"/>
            <a:ext cx="1123950" cy="914400"/>
            <a:chOff x="3314700" y="2190750"/>
            <a:chExt cx="1123950" cy="914400"/>
          </a:xfrm>
        </p:grpSpPr>
        <p:sp>
          <p:nvSpPr>
            <p:cNvPr id="18" name="Rectangle 18"/>
            <p:cNvSpPr/>
            <p:nvPr/>
          </p:nvSpPr>
          <p:spPr>
            <a:xfrm>
              <a:off x="3314700" y="2190750"/>
              <a:ext cx="1123950" cy="914400"/>
            </a:xfrm>
            <a:prstGeom prst="roundRect">
              <a:avLst>
                <a:gd name="adj" fmla="val 8333"/>
              </a:avLst>
            </a:prstGeom>
            <a:solidFill>
              <a:srgbClr val="FFF6D9"/>
            </a:solidFill>
            <a:ln w="28575">
              <a:solidFill>
                <a:schemeClr val="accent2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3431282" y="2406968"/>
              <a:ext cx="8907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8A6812"/>
                  </a:solidFill>
                  <a:latin typeface="+mn-lt"/>
                  <a:ea typeface="+mn-ea"/>
                  <a:cs typeface="+mn-cs"/>
                </a:rPr>
                <a:t>REVIEWER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099" y="2701290"/>
              <a:ext cx="5271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批准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5295900" y="2190750"/>
            <a:ext cx="1200150" cy="914400"/>
            <a:chOff x="5295900" y="2190750"/>
            <a:chExt cx="1200150" cy="914400"/>
          </a:xfrm>
        </p:grpSpPr>
        <p:sp>
          <p:nvSpPr>
            <p:cNvPr id="22" name="Rectangle 22"/>
            <p:cNvSpPr/>
            <p:nvPr/>
          </p:nvSpPr>
          <p:spPr>
            <a:xfrm>
              <a:off x="5295900" y="2190750"/>
              <a:ext cx="1200150" cy="914400"/>
            </a:xfrm>
            <a:prstGeom prst="roundRect">
              <a:avLst>
                <a:gd name="adj" fmla="val 8333"/>
              </a:avLst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581639" y="2426018"/>
              <a:ext cx="6286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ACTIVE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525643" y="27498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真实交易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1143000" y="3600450"/>
            <a:ext cx="3585917" cy="1238250"/>
            <a:chOff x="1143000" y="3600450"/>
            <a:chExt cx="3585917" cy="1238250"/>
          </a:xfrm>
        </p:grpSpPr>
        <p:sp>
          <p:nvSpPr>
            <p:cNvPr id="26" name="Rectangle 26"/>
            <p:cNvSpPr/>
            <p:nvPr/>
          </p:nvSpPr>
          <p:spPr>
            <a:xfrm>
              <a:off x="1143000" y="3600450"/>
              <a:ext cx="1619250" cy="762000"/>
            </a:xfrm>
            <a:prstGeom prst="roundRect">
              <a:avLst>
                <a:gd name="adj" fmla="val 10000"/>
              </a:avLst>
            </a:prstGeom>
            <a:solidFill>
              <a:srgbClr val="E8EEF5"/>
            </a:solidFill>
            <a:ln w="19050">
              <a:solidFill>
                <a:schemeClr val="accent3"/>
              </a:solidFill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1383506" y="3838575"/>
              <a:ext cx="300038" cy="266700"/>
              <a:chOff x="1383506" y="3838575"/>
              <a:chExt cx="300038" cy="266700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1383506" y="3838575"/>
                <a:ext cx="300038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300038" h="133350">
                    <a:moveTo>
                      <a:pt x="0" y="50006"/>
                    </a:moveTo>
                    <a:cubicBezTo>
                      <a:pt x="0" y="22389"/>
                      <a:pt x="22389" y="0"/>
                      <a:pt x="50006" y="0"/>
                    </a:cubicBezTo>
                    <a:lnTo>
                      <a:pt x="250031" y="0"/>
                    </a:lnTo>
                    <a:cubicBezTo>
                      <a:pt x="277649" y="0"/>
                      <a:pt x="300038" y="22389"/>
                      <a:pt x="300038" y="50006"/>
                    </a:cubicBezTo>
                    <a:lnTo>
                      <a:pt x="300038" y="83344"/>
                    </a:lnTo>
                    <a:cubicBezTo>
                      <a:pt x="300038" y="110961"/>
                      <a:pt x="277649" y="133350"/>
                      <a:pt x="250031" y="133350"/>
                    </a:cubicBezTo>
                    <a:lnTo>
                      <a:pt x="50006" y="133350"/>
                    </a:lnTo>
                    <a:cubicBezTo>
                      <a:pt x="22389" y="133350"/>
                      <a:pt x="0" y="110961"/>
                      <a:pt x="0" y="83344"/>
                    </a:cubicBezTo>
                  </a:path>
                </a:pathLst>
              </a:custGeom>
              <a:noFill/>
              <a:ln w="33338">
                <a:solidFill>
                  <a:schemeClr val="accent3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1383506" y="3971925"/>
                <a:ext cx="300038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300038" h="133350">
                    <a:moveTo>
                      <a:pt x="0" y="50006"/>
                    </a:moveTo>
                    <a:cubicBezTo>
                      <a:pt x="0" y="22389"/>
                      <a:pt x="22389" y="0"/>
                      <a:pt x="50006" y="0"/>
                    </a:cubicBezTo>
                    <a:lnTo>
                      <a:pt x="250031" y="0"/>
                    </a:lnTo>
                    <a:cubicBezTo>
                      <a:pt x="277649" y="0"/>
                      <a:pt x="300038" y="22389"/>
                      <a:pt x="300038" y="50006"/>
                    </a:cubicBezTo>
                    <a:lnTo>
                      <a:pt x="300038" y="83344"/>
                    </a:lnTo>
                    <a:cubicBezTo>
                      <a:pt x="300038" y="110961"/>
                      <a:pt x="277649" y="133350"/>
                      <a:pt x="250031" y="133350"/>
                    </a:cubicBezTo>
                    <a:lnTo>
                      <a:pt x="50006" y="133350"/>
                    </a:lnTo>
                    <a:cubicBezTo>
                      <a:pt x="22389" y="133350"/>
                      <a:pt x="0" y="110961"/>
                      <a:pt x="0" y="83344"/>
                    </a:cubicBezTo>
                    <a:lnTo>
                      <a:pt x="0" y="50006"/>
                    </a:lnTo>
                  </a:path>
                </a:pathLst>
              </a:custGeom>
              <a:noFill/>
              <a:ln w="33338">
                <a:solidFill>
                  <a:schemeClr val="accent3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1450181" y="39052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67"/>
                    </a:lnTo>
                  </a:path>
                </a:pathLst>
              </a:custGeom>
              <a:noFill/>
              <a:ln w="33338">
                <a:solidFill>
                  <a:schemeClr val="accent3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1450181" y="40386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67"/>
                    </a:lnTo>
                  </a:path>
                </a:pathLst>
              </a:custGeom>
              <a:noFill/>
              <a:ln w="33338">
                <a:solidFill>
                  <a:schemeClr val="accent3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1860042" y="3778568"/>
              <a:ext cx="963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Org1 Peer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860042" y="4064318"/>
              <a:ext cx="8300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Height 12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3048000" y="4076700"/>
              <a:ext cx="1619250" cy="762000"/>
            </a:xfrm>
            <a:prstGeom prst="roundRect">
              <a:avLst>
                <a:gd name="adj" fmla="val 10000"/>
              </a:avLst>
            </a:prstGeom>
            <a:solidFill>
              <a:srgbClr val="E8EEF5"/>
            </a:solidFill>
            <a:ln w="19050">
              <a:solidFill>
                <a:schemeClr val="accent3"/>
              </a:solidFill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3288506" y="4314825"/>
              <a:ext cx="300038" cy="266700"/>
              <a:chOff x="3288506" y="4314825"/>
              <a:chExt cx="300038" cy="26670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3288506" y="4314825"/>
                <a:ext cx="300038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300038" h="133350">
                    <a:moveTo>
                      <a:pt x="0" y="50006"/>
                    </a:moveTo>
                    <a:cubicBezTo>
                      <a:pt x="0" y="22389"/>
                      <a:pt x="22389" y="0"/>
                      <a:pt x="50006" y="0"/>
                    </a:cubicBezTo>
                    <a:lnTo>
                      <a:pt x="250031" y="0"/>
                    </a:lnTo>
                    <a:cubicBezTo>
                      <a:pt x="277649" y="0"/>
                      <a:pt x="300038" y="22389"/>
                      <a:pt x="300038" y="50006"/>
                    </a:cubicBezTo>
                    <a:lnTo>
                      <a:pt x="300038" y="83344"/>
                    </a:lnTo>
                    <a:cubicBezTo>
                      <a:pt x="300038" y="110961"/>
                      <a:pt x="277649" y="133350"/>
                      <a:pt x="250031" y="133350"/>
                    </a:cubicBezTo>
                    <a:lnTo>
                      <a:pt x="50006" y="133350"/>
                    </a:lnTo>
                    <a:cubicBezTo>
                      <a:pt x="22389" y="133350"/>
                      <a:pt x="0" y="110961"/>
                      <a:pt x="0" y="83344"/>
                    </a:cubicBezTo>
                  </a:path>
                </a:pathLst>
              </a:custGeom>
              <a:noFill/>
              <a:ln w="33338">
                <a:solidFill>
                  <a:schemeClr val="accent3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3288506" y="4448175"/>
                <a:ext cx="300038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300038" h="133350">
                    <a:moveTo>
                      <a:pt x="0" y="50006"/>
                    </a:moveTo>
                    <a:cubicBezTo>
                      <a:pt x="0" y="22389"/>
                      <a:pt x="22389" y="0"/>
                      <a:pt x="50006" y="0"/>
                    </a:cubicBezTo>
                    <a:lnTo>
                      <a:pt x="250031" y="0"/>
                    </a:lnTo>
                    <a:cubicBezTo>
                      <a:pt x="277649" y="0"/>
                      <a:pt x="300038" y="22389"/>
                      <a:pt x="300038" y="50006"/>
                    </a:cubicBezTo>
                    <a:lnTo>
                      <a:pt x="300038" y="83344"/>
                    </a:lnTo>
                    <a:cubicBezTo>
                      <a:pt x="300038" y="110961"/>
                      <a:pt x="277649" y="133350"/>
                      <a:pt x="250031" y="133350"/>
                    </a:cubicBezTo>
                    <a:lnTo>
                      <a:pt x="50006" y="133350"/>
                    </a:lnTo>
                    <a:cubicBezTo>
                      <a:pt x="22389" y="133350"/>
                      <a:pt x="0" y="110961"/>
                      <a:pt x="0" y="83344"/>
                    </a:cubicBezTo>
                    <a:lnTo>
                      <a:pt x="0" y="50006"/>
                    </a:lnTo>
                  </a:path>
                </a:pathLst>
              </a:custGeom>
              <a:noFill/>
              <a:ln w="33338">
                <a:solidFill>
                  <a:schemeClr val="accent3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3355181" y="43815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67"/>
                    </a:lnTo>
                  </a:path>
                </a:pathLst>
              </a:custGeom>
              <a:noFill/>
              <a:ln w="33338">
                <a:solidFill>
                  <a:schemeClr val="accent3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3355181" y="45148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67"/>
                    </a:lnTo>
                  </a:path>
                </a:pathLst>
              </a:custGeom>
              <a:noFill/>
              <a:ln w="33338">
                <a:solidFill>
                  <a:schemeClr val="accent3"/>
                </a:solidFill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3765042" y="4254818"/>
              <a:ext cx="963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Org2 Peer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3765042" y="4540568"/>
              <a:ext cx="8300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Height 12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7106412" y="1835468"/>
            <a:ext cx="2860396" cy="1032700"/>
            <a:chOff x="7106412" y="1835468"/>
            <a:chExt cx="2860396" cy="1032700"/>
          </a:xfrm>
        </p:grpSpPr>
        <p:sp>
          <p:nvSpPr>
            <p:cNvPr id="43" name="TextBox 43"/>
            <p:cNvSpPr txBox="1"/>
            <p:nvPr/>
          </p:nvSpPr>
          <p:spPr>
            <a:xfrm>
              <a:off x="7117842" y="1835468"/>
              <a:ext cx="15863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双 PEER 账本高度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106412" y="2164080"/>
              <a:ext cx="1741269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12 / 12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439656" y="2320290"/>
              <a:ext cx="5271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一致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7112508" y="3092768"/>
            <a:ext cx="2408309" cy="851344"/>
            <a:chOff x="7112508" y="3092768"/>
            <a:chExt cx="2408309" cy="851344"/>
          </a:xfrm>
        </p:grpSpPr>
        <p:sp>
          <p:nvSpPr>
            <p:cNvPr id="47" name="TextBox 47"/>
            <p:cNvSpPr txBox="1"/>
            <p:nvPr/>
          </p:nvSpPr>
          <p:spPr>
            <a:xfrm>
              <a:off x="7117842" y="3092768"/>
              <a:ext cx="24029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CURRENT / PREVIOUS HASH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112508" y="3474720"/>
              <a:ext cx="1381354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完全一致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7115556" y="4292918"/>
            <a:ext cx="2409947" cy="722566"/>
            <a:chOff x="7115556" y="4292918"/>
            <a:chExt cx="2409947" cy="722566"/>
          </a:xfrm>
        </p:grpSpPr>
        <p:sp>
          <p:nvSpPr>
            <p:cNvPr id="50" name="TextBox 50"/>
            <p:cNvSpPr txBox="1"/>
            <p:nvPr/>
          </p:nvSpPr>
          <p:spPr>
            <a:xfrm>
              <a:off x="7117842" y="4292918"/>
              <a:ext cx="21610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REVIEWER 独立批准交易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115556" y="4663440"/>
              <a:ext cx="240994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c7f5827e … becf7a7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876300" y="5295900"/>
            <a:ext cx="10325100" cy="647700"/>
            <a:chOff x="876300" y="5295900"/>
            <a:chExt cx="10325100" cy="647700"/>
          </a:xfrm>
        </p:grpSpPr>
        <p:sp>
          <p:nvSpPr>
            <p:cNvPr id="53" name="Rectangle 53"/>
            <p:cNvSpPr/>
            <p:nvPr/>
          </p:nvSpPr>
          <p:spPr>
            <a:xfrm>
              <a:off x="876300" y="5295900"/>
              <a:ext cx="10325100" cy="647700"/>
            </a:xfrm>
            <a:prstGeom prst="roundRect">
              <a:avLst>
                <a:gd name="adj" fmla="val 11765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3084658" y="5501640"/>
              <a:ext cx="59083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原子批量导入：任何一行校验失败，整批保持 0 写入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678942" y="6236018"/>
            <a:ext cx="10834116" cy="264033"/>
            <a:chOff x="678942" y="6236018"/>
            <a:chExt cx="10834116" cy="264033"/>
          </a:xfrm>
        </p:grpSpPr>
        <p:sp>
          <p:nvSpPr>
            <p:cNvPr id="56" name="TextBox 56"/>
            <p:cNvSpPr txBox="1"/>
            <p:nvPr/>
          </p:nvSpPr>
          <p:spPr>
            <a:xfrm>
              <a:off x="678942" y="6236018"/>
              <a:ext cx="39854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证据来源：真实 Fabric 恢复彩排与最终实验报告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1299431" y="6236018"/>
              <a:ext cx="2136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69798" y="495300"/>
            <a:ext cx="7135932" cy="847535"/>
            <a:chOff x="669798" y="495300"/>
            <a:chExt cx="7135932" cy="847535"/>
          </a:xfrm>
        </p:grpSpPr>
        <p:sp>
          <p:nvSpPr>
            <p:cNvPr id="2" name="Rectangle 2"/>
            <p:cNvSpPr/>
            <p:nvPr/>
          </p:nvSpPr>
          <p:spPr>
            <a:xfrm>
              <a:off x="685800" y="495300"/>
              <a:ext cx="438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69798" y="726758"/>
              <a:ext cx="7135932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我们把“完成”拆成四组可复核指标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67512" y="1695450"/>
            <a:ext cx="2841127" cy="2175701"/>
            <a:chOff x="667512" y="1695450"/>
            <a:chExt cx="2841127" cy="2175701"/>
          </a:xfrm>
        </p:grpSpPr>
        <p:grpSp>
          <p:nvGrpSpPr>
            <p:cNvPr id="9" name="Group 9"/>
            <p:cNvGrpSpPr/>
            <p:nvPr/>
          </p:nvGrpSpPr>
          <p:grpSpPr>
            <a:xfrm>
              <a:off x="737642" y="1695450"/>
              <a:ext cx="352191" cy="348236"/>
              <a:chOff x="737642" y="1695450"/>
              <a:chExt cx="352191" cy="348236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737642" y="1714500"/>
                <a:ext cx="329158" cy="329186"/>
              </a:xfrm>
              <a:custGeom>
                <a:avLst/>
                <a:gdLst/>
                <a:ahLst/>
                <a:cxnLst/>
                <a:rect l="l" t="t" r="r" b="b"/>
                <a:pathLst>
                  <a:path w="329158" h="329186">
                    <a:moveTo>
                      <a:pt x="329158" y="76962"/>
                    </a:moveTo>
                    <a:lnTo>
                      <a:pt x="98234" y="307924"/>
                    </a:lnTo>
                    <a:cubicBezTo>
                      <a:pt x="76981" y="329182"/>
                      <a:pt x="42520" y="329186"/>
                      <a:pt x="21262" y="307934"/>
                    </a:cubicBezTo>
                    <a:cubicBezTo>
                      <a:pt x="4" y="286681"/>
                      <a:pt x="0" y="252220"/>
                      <a:pt x="21252" y="230962"/>
                    </a:cubicBezTo>
                    <a:lnTo>
                      <a:pt x="252177" y="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6" name="Freeform 6"/>
              <p:cNvSpPr/>
              <p:nvPr/>
            </p:nvSpPr>
            <p:spPr>
              <a:xfrm>
                <a:off x="819150" y="1885950"/>
                <a:ext cx="152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9525">
                    <a:moveTo>
                      <a:pt x="0" y="0"/>
                    </a:moveTo>
                    <a:lnTo>
                      <a:pt x="152400" y="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1005666" y="1924050"/>
                <a:ext cx="84167" cy="97315"/>
              </a:xfrm>
              <a:custGeom>
                <a:avLst/>
                <a:gdLst/>
                <a:ahLst/>
                <a:cxnLst/>
                <a:rect l="l" t="t" r="r" b="b"/>
                <a:pathLst>
                  <a:path w="84167" h="97315">
                    <a:moveTo>
                      <a:pt x="42084" y="0"/>
                    </a:moveTo>
                    <a:lnTo>
                      <a:pt x="70659" y="30480"/>
                    </a:lnTo>
                    <a:cubicBezTo>
                      <a:pt x="84167" y="45797"/>
                      <a:pt x="83196" y="69042"/>
                      <a:pt x="68456" y="83178"/>
                    </a:cubicBezTo>
                    <a:cubicBezTo>
                      <a:pt x="53716" y="97315"/>
                      <a:pt x="30451" y="97315"/>
                      <a:pt x="15711" y="83178"/>
                    </a:cubicBezTo>
                    <a:cubicBezTo>
                      <a:pt x="972" y="69042"/>
                      <a:pt x="0" y="45797"/>
                      <a:pt x="13509" y="30480"/>
                    </a:cubicBezTo>
                    <a:lnTo>
                      <a:pt x="42084" y="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8" name="Freeform 8"/>
              <p:cNvSpPr/>
              <p:nvPr/>
            </p:nvSpPr>
            <p:spPr>
              <a:xfrm>
                <a:off x="971550" y="1695450"/>
                <a:ext cx="1143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14300">
                    <a:moveTo>
                      <a:pt x="0" y="0"/>
                    </a:moveTo>
                    <a:lnTo>
                      <a:pt x="114300" y="11430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</p:grpSp>
        <p:sp>
          <p:nvSpPr>
            <p:cNvPr id="10" name="TextBox 10"/>
            <p:cNvSpPr txBox="1"/>
            <p:nvPr/>
          </p:nvSpPr>
          <p:spPr>
            <a:xfrm>
              <a:off x="1326642" y="1816418"/>
              <a:ext cx="170736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AUTOMATED TESTS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67512" y="2564130"/>
              <a:ext cx="1741269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52 / 52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76656" y="3177540"/>
              <a:ext cx="103601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全部通过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78942" y="3607118"/>
              <a:ext cx="28296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shared 6 · chaincode 20 · API 26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673608" y="4000500"/>
            <a:ext cx="4398912" cy="1070801"/>
            <a:chOff x="673608" y="4000500"/>
            <a:chExt cx="4398912" cy="1070801"/>
          </a:xfrm>
        </p:grpSpPr>
        <p:sp>
          <p:nvSpPr>
            <p:cNvPr id="15" name="Line 15"/>
            <p:cNvSpPr/>
            <p:nvPr/>
          </p:nvSpPr>
          <p:spPr>
            <a:xfrm>
              <a:off x="685800" y="4000500"/>
              <a:ext cx="4076700" cy="9525"/>
            </a:xfrm>
            <a:custGeom>
              <a:avLst/>
              <a:gdLst/>
              <a:ahLst/>
              <a:cxnLst/>
              <a:rect l="l" t="t" r="r" b="b"/>
              <a:pathLst>
                <a:path w="4076700" h="9525">
                  <a:moveTo>
                    <a:pt x="0" y="0"/>
                  </a:moveTo>
                  <a:lnTo>
                    <a:pt x="4076700" y="0"/>
                  </a:lnTo>
                </a:path>
              </a:pathLst>
            </a:custGeom>
            <a:noFill/>
            <a:ln w="19050">
              <a:solidFill>
                <a:srgbClr val="D6D8DA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73608" y="4198620"/>
              <a:ext cx="397551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4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45692" y="42738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链码方法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711958" y="4198620"/>
              <a:ext cx="397551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4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384042" y="4273868"/>
              <a:ext cx="8778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HTTP 路由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78942" y="4807268"/>
              <a:ext cx="43935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功能面与测试面一并统计，不用“基本完成”代替数字。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5724906" y="1729740"/>
            <a:ext cx="5502402" cy="3394710"/>
            <a:chOff x="5724906" y="1729740"/>
            <a:chExt cx="5502402" cy="3394710"/>
          </a:xfrm>
        </p:grpSpPr>
        <p:sp>
          <p:nvSpPr>
            <p:cNvPr id="22" name="TextBox 22"/>
            <p:cNvSpPr txBox="1"/>
            <p:nvPr/>
          </p:nvSpPr>
          <p:spPr>
            <a:xfrm>
              <a:off x="5724906" y="1729740"/>
              <a:ext cx="129044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链码覆盖率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727192" y="221646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语句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124700" y="2171700"/>
              <a:ext cx="3429000" cy="209550"/>
            </a:xfrm>
            <a:prstGeom prst="roundRect">
              <a:avLst>
                <a:gd name="adj" fmla="val 27273"/>
              </a:avLst>
            </a:prstGeom>
            <a:solidFill>
              <a:srgbClr val="DDE2E7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7124700" y="2171700"/>
              <a:ext cx="2943225" cy="209550"/>
            </a:xfrm>
            <a:prstGeom prst="roundRect">
              <a:avLst>
                <a:gd name="adj" fmla="val 27273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0545709" y="2216468"/>
              <a:ext cx="68159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85.91%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727192" y="282606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分支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124700" y="2781300"/>
              <a:ext cx="3429000" cy="209550"/>
            </a:xfrm>
            <a:prstGeom prst="roundRect">
              <a:avLst>
                <a:gd name="adj" fmla="val 27273"/>
              </a:avLst>
            </a:prstGeom>
            <a:solidFill>
              <a:srgbClr val="DDE2E7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7124700" y="2781300"/>
              <a:ext cx="2581275" cy="209550"/>
            </a:xfrm>
            <a:prstGeom prst="roundRect">
              <a:avLst>
                <a:gd name="adj" fmla="val 27273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10545709" y="2826068"/>
              <a:ext cx="68159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350" b="1" dirty="0">
                  <a:solidFill>
                    <a:srgbClr val="8A6812"/>
                  </a:solidFill>
                  <a:latin typeface="+mn-lt"/>
                  <a:ea typeface="+mn-ea"/>
                  <a:cs typeface="+mn-cs"/>
                </a:rPr>
                <a:t>75.38%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727192" y="343566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函数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124700" y="3390900"/>
              <a:ext cx="3429000" cy="209550"/>
            </a:xfrm>
            <a:prstGeom prst="roundRect">
              <a:avLst>
                <a:gd name="adj" fmla="val 27273"/>
              </a:avLst>
            </a:prstGeom>
            <a:solidFill>
              <a:srgbClr val="DDE2E7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124700" y="3390900"/>
              <a:ext cx="3276600" cy="209550"/>
            </a:xfrm>
            <a:prstGeom prst="roundRect">
              <a:avLst>
                <a:gd name="adj" fmla="val 27273"/>
              </a:avLst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0545709" y="3435668"/>
              <a:ext cx="68159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35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95.52%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5727192" y="4045268"/>
              <a:ext cx="1954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行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124700" y="4000500"/>
              <a:ext cx="3429000" cy="209550"/>
            </a:xfrm>
            <a:prstGeom prst="roundRect">
              <a:avLst>
                <a:gd name="adj" fmla="val 27273"/>
              </a:avLst>
            </a:prstGeom>
            <a:solidFill>
              <a:srgbClr val="DDE2E7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7124700" y="4000500"/>
              <a:ext cx="2952750" cy="209550"/>
            </a:xfrm>
            <a:prstGeom prst="roundRect">
              <a:avLst>
                <a:gd name="adj" fmla="val 27273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10545709" y="4045268"/>
              <a:ext cx="68159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35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85.98%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734050" y="4572000"/>
              <a:ext cx="5486400" cy="552450"/>
            </a:xfrm>
            <a:prstGeom prst="roundRect">
              <a:avLst>
                <a:gd name="adj" fmla="val 13793"/>
              </a:avLst>
            </a:prstGeom>
            <a:solidFill>
              <a:srgbClr val="F9E8E8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5955792" y="4769168"/>
              <a:ext cx="47843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A13B3B"/>
                  </a:solidFill>
                  <a:latin typeface="+mn-lt"/>
                  <a:ea typeface="+mn-ea"/>
                  <a:cs typeface="+mn-cs"/>
                </a:rPr>
                <a:t>局限：分支覆盖低于其他指标，异常组合仍需继续补测。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735806" y="5359718"/>
            <a:ext cx="10592086" cy="660844"/>
            <a:chOff x="735806" y="5359718"/>
            <a:chExt cx="10592086" cy="660844"/>
          </a:xfrm>
        </p:grpSpPr>
        <p:grpSp>
          <p:nvGrpSpPr>
            <p:cNvPr id="44" name="Group 44"/>
            <p:cNvGrpSpPr/>
            <p:nvPr/>
          </p:nvGrpSpPr>
          <p:grpSpPr>
            <a:xfrm>
              <a:off x="735806" y="5517356"/>
              <a:ext cx="300038" cy="300038"/>
              <a:chOff x="735806" y="5517356"/>
              <a:chExt cx="300038" cy="300038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735806" y="5517356"/>
                <a:ext cx="300038" cy="300038"/>
              </a:xfrm>
              <a:custGeom>
                <a:avLst/>
                <a:gdLst/>
                <a:ahLst/>
                <a:cxnLst/>
                <a:rect l="l" t="t" r="r" b="b"/>
                <a:pathLst>
                  <a:path w="300038" h="300038">
                    <a:moveTo>
                      <a:pt x="0" y="150019"/>
                    </a:moveTo>
                    <a:cubicBezTo>
                      <a:pt x="0" y="232872"/>
                      <a:pt x="67166" y="300038"/>
                      <a:pt x="150019" y="300038"/>
                    </a:cubicBezTo>
                    <a:cubicBezTo>
                      <a:pt x="232872" y="300038"/>
                      <a:pt x="300038" y="232872"/>
                      <a:pt x="300038" y="150019"/>
                    </a:cubicBezTo>
                    <a:cubicBezTo>
                      <a:pt x="300038" y="67166"/>
                      <a:pt x="232872" y="0"/>
                      <a:pt x="150019" y="0"/>
                    </a:cubicBezTo>
                    <a:cubicBezTo>
                      <a:pt x="67166" y="0"/>
                      <a:pt x="0" y="67166"/>
                      <a:pt x="0" y="150019"/>
                    </a:cubicBezTo>
                  </a:path>
                </a:pathLst>
              </a:custGeom>
              <a:noFill/>
              <a:ln w="33338">
                <a:solidFill>
                  <a:schemeClr val="accent1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885825" y="5584031"/>
                <a:ext cx="50006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50006" h="133350">
                    <a:moveTo>
                      <a:pt x="0" y="0"/>
                    </a:moveTo>
                    <a:lnTo>
                      <a:pt x="0" y="83344"/>
                    </a:lnTo>
                    <a:lnTo>
                      <a:pt x="50006" y="133350"/>
                    </a:lnTo>
                  </a:path>
                </a:pathLst>
              </a:custGeom>
              <a:noFill/>
              <a:ln w="33338">
                <a:solidFill>
                  <a:schemeClr val="accent1"/>
                </a:solidFill>
              </a:ln>
            </p:spPr>
          </p:sp>
        </p:grpSp>
        <p:sp>
          <p:nvSpPr>
            <p:cNvPr id="45" name="Line 45"/>
            <p:cNvSpPr/>
            <p:nvPr/>
          </p:nvSpPr>
          <p:spPr>
            <a:xfrm>
              <a:off x="1333500" y="5676900"/>
              <a:ext cx="8362950" cy="9525"/>
            </a:xfrm>
            <a:custGeom>
              <a:avLst/>
              <a:gdLst/>
              <a:ahLst/>
              <a:cxnLst/>
              <a:rect l="l" t="t" r="r" b="b"/>
              <a:pathLst>
                <a:path w="8362950" h="9525">
                  <a:moveTo>
                    <a:pt x="0" y="0"/>
                  </a:moveTo>
                  <a:lnTo>
                    <a:pt x="8362950" y="0"/>
                  </a:lnTo>
                </a:path>
              </a:pathLst>
            </a:custGeom>
            <a:noFill/>
            <a:ln w="38100">
              <a:solidFill>
                <a:srgbClr val="C8CDD3"/>
              </a:solidFill>
            </a:ln>
          </p:spPr>
        </p:sp>
        <p:sp>
          <p:nvSpPr>
            <p:cNvPr id="46" name="Ellipse 46"/>
            <p:cNvSpPr/>
            <p:nvPr/>
          </p:nvSpPr>
          <p:spPr>
            <a:xfrm>
              <a:off x="1257300" y="5600700"/>
              <a:ext cx="152400" cy="152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47" name="Ellipse 47"/>
            <p:cNvSpPr/>
            <p:nvPr/>
          </p:nvSpPr>
          <p:spPr>
            <a:xfrm>
              <a:off x="9620250" y="5600700"/>
              <a:ext cx="152400" cy="1524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1326642" y="5359718"/>
              <a:ext cx="127730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API / Web 停止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417433" y="5359718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生产构建后健康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9929576" y="5551170"/>
              <a:ext cx="139831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2400" b="1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12.50 秒</a:t>
              </a:r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678942" y="6236018"/>
            <a:ext cx="10834116" cy="264033"/>
            <a:chOff x="678942" y="6236018"/>
            <a:chExt cx="10834116" cy="264033"/>
          </a:xfrm>
        </p:grpSpPr>
        <p:sp>
          <p:nvSpPr>
            <p:cNvPr id="52" name="TextBox 52"/>
            <p:cNvSpPr txBox="1"/>
            <p:nvPr/>
          </p:nvSpPr>
          <p:spPr>
            <a:xfrm>
              <a:off x="678942" y="6236018"/>
              <a:ext cx="51477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数据来源：最终实验报告、coverage summary 与交付彩排记录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299431" y="6236018"/>
              <a:ext cx="2136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678942" y="514350"/>
            <a:ext cx="2554194" cy="556451"/>
            <a:chOff x="678942" y="514350"/>
            <a:chExt cx="2554194" cy="556451"/>
          </a:xfrm>
        </p:grpSpPr>
        <p:sp>
          <p:nvSpPr>
            <p:cNvPr id="2" name="Rectangle 2"/>
            <p:cNvSpPr/>
            <p:nvPr/>
          </p:nvSpPr>
          <p:spPr>
            <a:xfrm>
              <a:off x="685800" y="514350"/>
              <a:ext cx="514350" cy="762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78942" y="806768"/>
              <a:ext cx="255419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CHAIN·GRADE / CONCLUSION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669798" y="1812608"/>
            <a:ext cx="4232529" cy="2212276"/>
            <a:chOff x="669798" y="1812608"/>
            <a:chExt cx="4232529" cy="2212276"/>
          </a:xfrm>
        </p:grpSpPr>
        <p:sp>
          <p:nvSpPr>
            <p:cNvPr id="5" name="TextBox 5"/>
            <p:cNvSpPr txBox="1"/>
            <p:nvPr/>
          </p:nvSpPr>
          <p:spPr>
            <a:xfrm>
              <a:off x="669798" y="1812608"/>
              <a:ext cx="4232529" cy="12256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4800"/>
                </a:lnSpc>
              </a:pPr>
              <a:r>
                <a:rPr lang="zh-CN" sz="3150" b="1" dirty="0">
                  <a:solidFill>
                    <a:srgbClr val="FFFFFF"/>
                  </a:solidFill>
                  <a:latin typeface="+mj-lt"/>
                  <a:ea typeface="+mj-ea"/>
                  <a:cs typeface="+mj-cs"/>
                </a:rPr>
                <a:t>可信来自可验证流程，而不是上链口号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76656" y="3291840"/>
              <a:ext cx="3824478" cy="7330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3000"/>
                </a:lnSpc>
              </a:pPr>
              <a:r>
                <a:rPr lang="zh-CN" sz="1800" dirty="0">
                  <a:solidFill>
                    <a:srgbClr val="DDE7F2"/>
                  </a:solidFill>
                  <a:latin typeface="+mn-lt"/>
                  <a:ea typeface="+mn-ea"/>
                  <a:cs typeface="+mn-cs"/>
                </a:rPr>
                <a:t>身份、复核、隐私、修订与申诉，都在同一套真实 Fabric 产品中闭环。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8896198" y="1074420"/>
            <a:ext cx="2457602" cy="1047750"/>
            <a:chOff x="8896198" y="1074420"/>
            <a:chExt cx="2457602" cy="1047750"/>
          </a:xfrm>
        </p:grpSpPr>
        <p:sp>
          <p:nvSpPr>
            <p:cNvPr id="8" name="TextBox 8"/>
            <p:cNvSpPr txBox="1"/>
            <p:nvPr/>
          </p:nvSpPr>
          <p:spPr>
            <a:xfrm>
              <a:off x="8896198" y="1074420"/>
              <a:ext cx="2457602" cy="10477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5400" b="1" dirty="0">
                  <a:solidFill>
                    <a:schemeClr val="accent2"/>
                  </a:solidFill>
                  <a:latin typeface="+mj-lt"/>
                  <a:ea typeface="+mj-ea"/>
                  <a:cs typeface="+mj-cs"/>
                </a:rPr>
                <a:t>可验证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7194042" y="2377440"/>
            <a:ext cx="3894264" cy="655511"/>
            <a:chOff x="7194042" y="2377440"/>
            <a:chExt cx="3894264" cy="655511"/>
          </a:xfrm>
        </p:grpSpPr>
        <p:sp>
          <p:nvSpPr>
            <p:cNvPr id="10" name="TextBox 10"/>
            <p:cNvSpPr txBox="1"/>
            <p:nvPr/>
          </p:nvSpPr>
          <p:spPr>
            <a:xfrm>
              <a:off x="7194042" y="2426018"/>
              <a:ext cx="5861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已完成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334756" y="2377440"/>
              <a:ext cx="275355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真实 Fabric 双组织闭环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337042" y="2768918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DDE7F2"/>
                  </a:solidFill>
                  <a:latin typeface="+mn-lt"/>
                  <a:ea typeface="+mn-ea"/>
                  <a:cs typeface="+mn-cs"/>
                </a:rPr>
                <a:t>四角色工作台与私有数据边界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7194042" y="3501390"/>
            <a:ext cx="4165078" cy="655511"/>
            <a:chOff x="7194042" y="3501390"/>
            <a:chExt cx="4165078" cy="655511"/>
          </a:xfrm>
        </p:grpSpPr>
        <p:sp>
          <p:nvSpPr>
            <p:cNvPr id="14" name="TextBox 14"/>
            <p:cNvSpPr txBox="1"/>
            <p:nvPr/>
          </p:nvSpPr>
          <p:spPr>
            <a:xfrm>
              <a:off x="7194042" y="3549968"/>
              <a:ext cx="5861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已验证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334756" y="3501390"/>
              <a:ext cx="302436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52 / 52 · 双 Peer 12 / 12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337042" y="3892868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DDE7F2"/>
                  </a:solidFill>
                  <a:latin typeface="+mn-lt"/>
                  <a:ea typeface="+mn-ea"/>
                  <a:cs typeface="+mn-cs"/>
                </a:rPr>
                <a:t>真实交易、原子失败与恢复彩排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7194042" y="4625340"/>
            <a:ext cx="3995196" cy="655511"/>
            <a:chOff x="7194042" y="4625340"/>
            <a:chExt cx="3995196" cy="655511"/>
          </a:xfrm>
        </p:grpSpPr>
        <p:sp>
          <p:nvSpPr>
            <p:cNvPr id="18" name="TextBox 18"/>
            <p:cNvSpPr txBox="1"/>
            <p:nvPr/>
          </p:nvSpPr>
          <p:spPr>
            <a:xfrm>
              <a:off x="7194042" y="4673918"/>
              <a:ext cx="5861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下一步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334756" y="4625340"/>
              <a:ext cx="285448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VC 互操作 · 可靠性量化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337042" y="5016818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DDE7F2"/>
                  </a:solidFill>
                  <a:latin typeface="+mn-lt"/>
                  <a:ea typeface="+mn-ea"/>
                  <a:cs typeface="+mn-cs"/>
                </a:rPr>
                <a:t>两项工作包继续服务同一个项目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676656" y="5105400"/>
            <a:ext cx="5514594" cy="880301"/>
            <a:chOff x="676656" y="5105400"/>
            <a:chExt cx="5514594" cy="880301"/>
          </a:xfrm>
        </p:grpSpPr>
        <p:sp>
          <p:nvSpPr>
            <p:cNvPr id="22" name="Line 22"/>
            <p:cNvSpPr/>
            <p:nvPr/>
          </p:nvSpPr>
          <p:spPr>
            <a:xfrm>
              <a:off x="685800" y="5105400"/>
              <a:ext cx="5505450" cy="9525"/>
            </a:xfrm>
            <a:custGeom>
              <a:avLst/>
              <a:gdLst/>
              <a:ahLst/>
              <a:cxnLst/>
              <a:rect l="l" t="t" r="r" b="b"/>
              <a:pathLst>
                <a:path w="5505450" h="9525">
                  <a:moveTo>
                    <a:pt x="0" y="0"/>
                  </a:moveTo>
                  <a:lnTo>
                    <a:pt x="5505450" y="0"/>
                  </a:lnTo>
                </a:path>
              </a:pathLst>
            </a:custGeom>
            <a:noFill/>
            <a:ln w="19050">
              <a:solidFill>
                <a:schemeClr val="accent3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76656" y="5349240"/>
              <a:ext cx="179931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我们愿意回答：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78942" y="5721668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DDE7F2"/>
                  </a:solidFill>
                  <a:latin typeface="+mn-lt"/>
                  <a:ea typeface="+mn-ea"/>
                  <a:cs typeface="+mn-cs"/>
                </a:rPr>
                <a:t>为什么用链？怎样保护隐私？证据是否真实？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678942" y="6236018"/>
            <a:ext cx="10834116" cy="264033"/>
            <a:chOff x="678942" y="6236018"/>
            <a:chExt cx="10834116" cy="264033"/>
          </a:xfrm>
        </p:grpSpPr>
        <p:sp>
          <p:nvSpPr>
            <p:cNvPr id="26" name="TextBox 26"/>
            <p:cNvSpPr txBox="1"/>
            <p:nvPr/>
          </p:nvSpPr>
          <p:spPr>
            <a:xfrm>
              <a:off x="678942" y="6236018"/>
              <a:ext cx="19251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AFC5DC"/>
                  </a:solidFill>
                  <a:latin typeface="+mn-lt"/>
                  <a:ea typeface="+mn-ea"/>
                  <a:cs typeface="+mn-cs"/>
                </a:rPr>
                <a:t>ChainGrade · 课程答辩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1299431" y="6236018"/>
              <a:ext cx="2136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350" dirty="0">
                  <a:solidFill>
                    <a:srgbClr val="AFC5DC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chaingrade-defense-v2">
  <a:themeElements>
    <a:clrScheme name="chaingrade-defense-v2">
      <a:dk1>
        <a:srgbClr val="121212"/>
      </a:dk1>
      <a:lt1>
        <a:srgbClr val="F5F5F3"/>
      </a:lt1>
      <a:dk2>
        <a:srgbClr val="1F497D"/>
      </a:dk2>
      <a:lt2>
        <a:srgbClr val="FFFFFF"/>
      </a:lt2>
      <a:accent1>
        <a:srgbClr val="07448C"/>
      </a:accent1>
      <a:accent2>
        <a:srgbClr val="F0C86A"/>
      </a:accent2>
      <a:accent3>
        <a:srgbClr val="2E6A9E"/>
      </a:accent3>
      <a:accent4>
        <a:srgbClr val="07448C"/>
      </a:accent4>
      <a:accent5>
        <a:srgbClr val="5C6470"/>
      </a:accent5>
      <a:accent6>
        <a:srgbClr val="08724F"/>
      </a:accent6>
      <a:hlink>
        <a:srgbClr val="F0C86A"/>
      </a:hlink>
      <a:folHlink>
        <a:srgbClr val="2E6A9E"/>
      </a:folHlink>
    </a:clrScheme>
    <a:fontScheme name="chaingrade-defense-v2">
      <a:majorFont>
        <a:latin typeface="Georgia"/>
        <a:ea typeface="SimSun"/>
        <a:cs typeface="Georgia"/>
        <a:font script="Jpan" typeface="SimSun"/>
        <a:font script="Hang" typeface="SimSun"/>
        <a:font script="Hans" typeface="SimSun"/>
        <a:font script="Hant" typeface="SimSun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Microsoft YaHei"/>
        <a:cs typeface="Segoe U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haingrade-defense-v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chaingrade-defense-v2">
  <a:themeElements>
    <a:clrScheme name="chaingrade-defense-v2">
      <a:dk1>
        <a:srgbClr val="121212"/>
      </a:dk1>
      <a:lt1>
        <a:srgbClr val="F5F5F3"/>
      </a:lt1>
      <a:dk2>
        <a:srgbClr val="1F497D"/>
      </a:dk2>
      <a:lt2>
        <a:srgbClr val="FFFFFF"/>
      </a:lt2>
      <a:accent1>
        <a:srgbClr val="07448C"/>
      </a:accent1>
      <a:accent2>
        <a:srgbClr val="F0C86A"/>
      </a:accent2>
      <a:accent3>
        <a:srgbClr val="2E6A9E"/>
      </a:accent3>
      <a:accent4>
        <a:srgbClr val="07448C"/>
      </a:accent4>
      <a:accent5>
        <a:srgbClr val="5C6470"/>
      </a:accent5>
      <a:accent6>
        <a:srgbClr val="08724F"/>
      </a:accent6>
      <a:hlink>
        <a:srgbClr val="F0C86A"/>
      </a:hlink>
      <a:folHlink>
        <a:srgbClr val="2E6A9E"/>
      </a:folHlink>
    </a:clrScheme>
    <a:fontScheme name="chaingrade-defense-v2">
      <a:majorFont>
        <a:latin typeface="Georgia"/>
        <a:ea typeface="SimSun"/>
        <a:cs typeface="Georgia"/>
        <a:font script="Jpan" typeface="SimSun"/>
        <a:font script="Hang" typeface="SimSun"/>
        <a:font script="Hans" typeface="SimSun"/>
        <a:font script="Hant" typeface="SimSun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Microsoft YaHei"/>
        <a:cs typeface="Segoe U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haingrade-defense-v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13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/>
  <cp:lastModifiedBy/>
  <cp:revision>1</cp:revision>
  <dcterms:created xsi:type="dcterms:W3CDTF">2026-08-29T07:00:27Z</dcterms:created>
  <dcterms:modified xsi:type="dcterms:W3CDTF">2026-08-29T07:00:27Z</dcterms:modified>
  <cp:category/>
  <cp:contentStatus/>
</cp:coreProperties>
</file>