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  <Relationship Id="rId3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各位老师好，我们汇报的项目是 ChainGrade，一个面向成绩存证、查询、修订、申诉与跨系统验证的可信成绩系统。三位成员是魏子安、强璞和阳震；这不是课程作业与竞赛项目的简单拼接，而是在同一代码库、同一业务主线上持续演进的一个项目。</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汇报分为四部分。首先说明课程要求和竞赛目标如何共同约束总体设计；随后按七个阶段解释每一阶段的缺点、设计、结果和下一步修复；第三部分用测试、性能和故障恢复数据验收；最后如实说明项目优势、限制和后续路线。</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课程大作业要求围绕成绩存证与查询形成可运行应用，并能说明区块链的必要性；竞赛进一步关注真实问题、创新性、隐私、互操作、性能和韧性。我们的处理方式是在同一项目上增量扩展：课程阶段完成可信成绩闭环，竞赛阶段继续加深可验证能力，而不是另起一个看似新颖但割裂的系统。</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如果只把成绩写入区块链，仍然回答不了谁有权签发和复核、隐私是否暴露、修订后如何解释历史这三个问题。区块链擅长让多方共同确认状态，却不会自动生成合理的业务流程。因此项目的真正对象不是一条成绩记录，而是成绩从签发到验证、再到纠错的可信生命周期。</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我们先确定四条原则。可验证要求关键状态、摘要和历史能够复核；最小披露要求公开验证不暴露姓名与分数，学生访问绑定本人；可修订要求不覆盖历史，而是建立版本链与申诉轨迹；可复现要求环境、样例、测试、基准和故障脚本都能重新运行。后面的每项能力都必须落到可验收证据上。</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架构从左到右分为角色工作台、应用服务和 Fabric 网络。教务员、复核员、学生和验证方通过身份与权限、成绩与申诉 API、VC 服务和审计指标进入链上；Fabric 公共状态只保存哈希、状态和审计信息，成绩明细与授权数据进入私有集合。网络采用两个组织、一个排序节点和链码即服务，既体现跨组织背书，也为后面的故障恢复实验保留真实组件。</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项目依次经历存证查询、角色审批、隐私边界、修订申诉、角色界面、标准 VC 和基准韧性七个阶段。每一阶段都保留上一阶段可用能力，同时专门修复一个已确认的短板。主线始终是成绩可信，成熟度则从能运行推进到可验证、可携带、可量化和可恢复。</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一阶段针对传统数据库可被单一管理员改写、查询缺少跨组织凭据的问题，定义成绩资产和唯一业务键，把签发、查询与历史写入链码。结果是形成签发、查询、回溯的最小闭环，公共哈希可以证明记录未被替换。但此时调用者权限和明文隐私都没有解决，所以第二阶段转向角色分权。</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签发交易从临时字段读取成绩明细，对规范化内容计算哈希，并把公开字段、私有哈希和状态写入公共账本；真实成绩则写入私有数据集合。两部分使用同一个业务键关联。这样外部可以验证承诺值，授权组织可以读取真实成绩，同时为后续版本修订保留稳定的证据锚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第二阶段解决签发与确认集中在一个身份、无法证明责任人的问题。我们划分教务员、复核员、学生和验证方，并在链码和 API 两层同时检查权限，使每次状态变化都有明确操作者，越权请求也进入自动化测试。新的缺点是状态路径增加后容易出现非法跳转，而且纯接口操作对普通用户并不友好。</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成绩主流程从草稿到待复核、已生效和已修订，申诉流程则从申诉中到受理、通过或驳回，最后关闭。链码先检查复核员角色，再验证目标状态和预期版本，任何不允许的跳转都在入口失败。业务规则因此不是写在说明书里的约定，而是所有组织共同执行的程序约束。</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接口不显示字段不等于链上隐私，知道记录编号也不应成为读取他人成绩的通行证。因此第三阶段把成绩明细放入 Fabric 私有集合，并把学生身份与 subjectId 绑定。公开验证只返回存在性、状态和摘要，学生只能查询本人记录；但跨校验证仍依赖本系统接口，便携式最小披露尚未完成。</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私有查询先从调用证书提取 enrollment ID，再读取成绩主体。如果调用者与 subjectId 不一致，链码统一返回主体不匹配错误；只有相等时才返回经过裁剪的学生视图。公开路径只输出存在、状态和摘要，不输出姓名与分数，这说明隐私边界同时存在于账本、链码、接口和前端，而不只是前端隐藏。</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现实成绩需要纠错，但直接覆盖会破坏历史证据。第四阶段让修订创建新版本并引用前序记录，申诉则经过提出、受理、裁决和关闭；旧记录始终可查，新记录成为当前版本，每次动作保存操作者、时间和原因。随后暴露出的工程问题是并发修订竞争和批量处理效率。</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修订交易先读取旧版本并核对 expectedVersion，再创建版本号加一、引用旧记录的新资产，同时把旧资产标记为已被替代。两个状态在一次交易内写入，从而保持只有一个当前版本、旧记录不删除、新旧哈希均可验证三个不变量。如果并发调用携带了过期版本号，交易直接拒绝，客户端必须重新读取后再决定。</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五阶段把接口能力组织成四类真实任务，而不是暴露技术模块。首页给出签发、复核、我的成绩和公开验证入口；教务员工作台聚焦批量签发与状态，学生工作台聚焦本人私有记录。角色和任务一一对应，降低了演示与实际操作中误入越权路径的可能性。</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批量签发采用模板校验、预览、提交和逐条结果四步，失败项可以定位，不需要重做整批。公开验证与有限披露页面只呈现结论和必要字段，学生主动提供凭证，验证方不接触私有集合。界面的设计目标不是增加装饰，而是缩短正确路径并让错误路径不可达。</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开发中 Docker 数据目录异常，容器和镜像一度不可用。我们没有越过服务器目录边界，而是保留 Fabric 配置和数据语义，在本机继续接口、界面和自动化测试；服务器恢复后，再依次检查守护进程、重建双组织网络、部署链码服务、回放 API、UI 和基准，并记录恢复时间与账本高度。这个过程也促使项目把环境故障变成可验收的韧性实验。</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系统内公开验证仍要求访问 ChainGrade API，校外工具无法复用。第六阶段采用 W3C 可验证凭证数据模型，链上锚定摘要，验证端检查结构、签名和状态，使凭证可由学生携带并在系统外验证。篡改、过期和错误签发者均有负向测试；当前限制是选择性披露仍为字段裁剪，尚未使用 BBS+ 或零知识证明。</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验证过程不能把签名正确直接等同于可信。系统依次检查凭证结构、签发者信任、密码学签名、状态与有效期，以及凭证哈希和链上锚点是否一致；内容篡改、错误签发者、过期和锚点不一致都会失败。因此最终结论是五类条件的交集，而不是单一验签结果。</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基准采用七个并发档位、四类业务场景和三次重复，共形成八十四个合法请求单元。每轮先预热，再使用固定数据集，采集 P50、P95 和吞吐，并校验失败率。我们保存配置、原始结果和统计口径，避免只展示一次偶然的最好成绩。</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在并发二十时，公开验证中位吞吐为每秒七百四十六点六一四个请求，P95 延迟三十八点二零二毫秒；学生私有查询为每秒七百五十二点三六零个请求，P95 三十八点零九六毫秒。批量五十条时吞吐为每秒四百八十二点五四九条，但 P95 达到两千四百九十七点三七一毫秒，说明批量写入尾延迟是下一步优化重点。八十四个合法请求单元的失败数为零。</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Org2 Peer、链码服务和排序节点恢复到可接受请求的时间分别为十四点零三零秒、十六点八七零秒和二十二点四八二秒。实验前后账本高度从十二增长到四千三百一十五，共记录三万二千五百二十七笔有效交易和二十七笔无效交易，恢复后审计全部通过。必须说明的是当前只有一个排序节点，所以结论是可恢复，而不是共识层无中断高可用。</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项目目前包含一百二十项自动化测试，其中共享测试三十三项、链码二十项、API 六十七项；链码方法二十五个、HTTP 路由二十八条，另有七个基准与恢复工具。贡献按十份计：组长魏子安负责总体设计、主链路、整合与收口，占四份；强璞通过 PR 二完成 VC 能力，占三份；阳震通过 PR 一完成基准与韧性能力，占三份。</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项目优势是用同一主线完成链上状态、私有明细、修订历史、标准 VC、基准和恢复证据。当前限制也很明确：选择性披露仍是字段裁剪，单排序节点不是高可用，学术身份仍是演示级映射。下一阶段将分别用 BBS+ 或零知识证明、三排序节点 Raft 集群，以及真实校园身份与撤销列表进行验证性改进。</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ChainGrade 从“能查一条成绩”发展为“能够可信地解释这条成绩如何产生、谁能看到、如何修订、怎样跨系统验证，以及系统故障后是否仍然一致”。同一个项目形成了存证、隐私、修订、互操作、性能和恢复的连续证据链。我们的汇报到这里，谢谢老师，欢迎提问。</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chaingrade-course-defense-v3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chaingrade-course-defense-v3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9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93e8e203a3092af.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b323f331ef88a0f.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db7f5b8bbd55d2f.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6297a5ad1394d2c.jpg"/>
  <Relationship Id="rId3" Type="http://schemas.openxmlformats.org/officeDocument/2006/relationships/image" Target="../media/image_6dd98aa3bd1acdbb.jpg"/>
  <Relationship Id="rId4" Type="http://schemas.openxmlformats.org/officeDocument/2006/relationships/image" Target="../media/image_3b3645c3bdc44a43.jpg"/>
  <Relationship Id="rId5"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c401a961a16033c.jp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aaab5aeb4a5edc8.jp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d4ec8192ae4119c.jpg"/>
  <Relationship Id="rId3"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27" r="0" b="27"/>
          <a:stretch>
            <a:fillRect/>
          </a:stretch>
        </p:blipFill>
        <p:spPr>
          <a:xfrm>
            <a:off x="0" y="0"/>
            <a:ext cx="12192000" cy="6858000"/>
          </a:xfrm>
          <a:prstGeom prst="rect">
            <a:avLst/>
          </a:prstGeom>
        </p:spPr>
      </p:pic>
      <p:grpSp>
        <p:nvGrpSpPr>
          <p:cNvPr id="8" name="Group 8"/>
          <p:cNvGrpSpPr/>
          <p:nvPr/>
        </p:nvGrpSpPr>
        <p:grpSpPr>
          <a:xfrm>
            <a:off x="666750" y="1235392"/>
            <a:ext cx="5151882" cy="2341817"/>
            <a:chOff x="666750" y="1235392"/>
            <a:chExt cx="5151882" cy="2341817"/>
          </a:xfrm>
        </p:grpSpPr>
        <p:sp>
          <p:nvSpPr>
            <p:cNvPr id="3" name="TextBox 3"/>
            <p:cNvSpPr txBox="1"/>
            <p:nvPr/>
          </p:nvSpPr>
          <p:spPr>
            <a:xfrm>
              <a:off x="678942" y="1235392"/>
              <a:ext cx="343126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BLOCKCHAIN COURSE PROJECT · 2026</a:t>
              </a:r>
            </a:p>
          </p:txBody>
        </p:sp>
        <p:sp>
          <p:nvSpPr>
            <p:cNvPr id="4" name="TextBox 4"/>
            <p:cNvSpPr txBox="1"/>
            <p:nvPr/>
          </p:nvSpPr>
          <p:spPr>
            <a:xfrm>
              <a:off x="666750" y="1753552"/>
              <a:ext cx="3349794" cy="790575"/>
            </a:xfrm>
            <a:prstGeom prst="rect">
              <a:avLst/>
            </a:prstGeom>
            <a:noFill/>
            <a:ln>
              <a:noFill/>
            </a:ln>
          </p:spPr>
          <p:txBody>
            <a:bodyPr wrap="none" lIns="0" tIns="0" rIns="0" bIns="0" anchor="t" anchorCtr="0">
              <a:spAutoFit/>
            </a:bodyPr>
            <a:lstStyle/>
            <a:p>
              <a:pPr algn="l"/>
              <a:r>
                <a:rPr lang="en-US" sz="4050" b="1" dirty="0">
                  <a:solidFill>
                    <a:schemeClr val="accent1"/>
                  </a:solidFill>
                  <a:latin typeface="+mj-lt"/>
                  <a:ea typeface="+mj-ea"/>
                  <a:cs typeface="+mj-cs"/>
                </a:rPr>
                <a:t>ChainGrade</a:t>
              </a:r>
            </a:p>
          </p:txBody>
        </p:sp>
        <p:sp>
          <p:nvSpPr>
            <p:cNvPr id="5" name="TextBox 5"/>
            <p:cNvSpPr txBox="1"/>
            <p:nvPr/>
          </p:nvSpPr>
          <p:spPr>
            <a:xfrm>
              <a:off x="673608" y="2465070"/>
              <a:ext cx="5145024" cy="469392"/>
            </a:xfrm>
            <a:prstGeom prst="rect">
              <a:avLst/>
            </a:prstGeom>
            <a:noFill/>
            <a:ln>
              <a:noFill/>
            </a:ln>
          </p:spPr>
          <p:txBody>
            <a:bodyPr wrap="none" lIns="0" tIns="0" rIns="0" bIns="0" anchor="t" anchorCtr="0">
              <a:spAutoFit/>
            </a:bodyPr>
            <a:lstStyle/>
            <a:p>
              <a:pPr algn="l"/>
              <a:r>
                <a:rPr lang="zh-CN" sz="2400" dirty="0">
                  <a:solidFill>
                    <a:schemeClr val="dk1"/>
                  </a:solidFill>
                  <a:latin typeface="+mj-lt"/>
                  <a:ea typeface="+mj-ea"/>
                  <a:cs typeface="+mj-cs"/>
                </a:rPr>
                <a:t>隐私保护型可信成绩凭证管理平台</a:t>
              </a:r>
            </a:p>
          </p:txBody>
        </p:sp>
        <p:sp>
          <p:nvSpPr>
            <p:cNvPr id="6" name="Line 6"/>
            <p:cNvSpPr/>
            <p:nvPr/>
          </p:nvSpPr>
          <p:spPr>
            <a:xfrm>
              <a:off x="685800" y="3028950"/>
              <a:ext cx="3743325" cy="9525"/>
            </a:xfrm>
            <a:custGeom>
              <a:avLst/>
              <a:gdLst/>
              <a:ahLst/>
              <a:cxnLst/>
              <a:rect l="l" t="t" r="r" b="b"/>
              <a:pathLst>
                <a:path w="3743325" h="9525">
                  <a:moveTo>
                    <a:pt x="0" y="0"/>
                  </a:moveTo>
                  <a:lnTo>
                    <a:pt x="3743325" y="0"/>
                  </a:lnTo>
                </a:path>
              </a:pathLst>
            </a:custGeom>
            <a:noFill/>
            <a:ln w="38100">
              <a:solidFill>
                <a:schemeClr val="accent2"/>
              </a:solidFill>
            </a:ln>
          </p:spPr>
        </p:sp>
        <p:sp>
          <p:nvSpPr>
            <p:cNvPr id="7" name="TextBox 7"/>
            <p:cNvSpPr txBox="1"/>
            <p:nvPr/>
          </p:nvSpPr>
          <p:spPr>
            <a:xfrm>
              <a:off x="676656" y="3225165"/>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从基础存证到可复核、可修订、可互操作</a:t>
              </a:r>
            </a:p>
          </p:txBody>
        </p:sp>
      </p:grpSp>
      <p:grpSp>
        <p:nvGrpSpPr>
          <p:cNvPr id="12" name="Group 12"/>
          <p:cNvGrpSpPr/>
          <p:nvPr/>
        </p:nvGrpSpPr>
        <p:grpSpPr>
          <a:xfrm>
            <a:off x="676656" y="5073968"/>
            <a:ext cx="3180989" cy="930783"/>
            <a:chOff x="676656" y="5073968"/>
            <a:chExt cx="3180989" cy="930783"/>
          </a:xfrm>
        </p:grpSpPr>
        <p:sp>
          <p:nvSpPr>
            <p:cNvPr id="9" name="TextBox 9"/>
            <p:cNvSpPr txBox="1"/>
            <p:nvPr/>
          </p:nvSpPr>
          <p:spPr>
            <a:xfrm>
              <a:off x="678942" y="5073968"/>
              <a:ext cx="2403558"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浙江大学 · 计算机科学与技术</a:t>
              </a:r>
            </a:p>
          </p:txBody>
        </p:sp>
        <p:sp>
          <p:nvSpPr>
            <p:cNvPr id="10" name="TextBox 10"/>
            <p:cNvSpPr txBox="1"/>
            <p:nvPr/>
          </p:nvSpPr>
          <p:spPr>
            <a:xfrm>
              <a:off x="676656" y="5368290"/>
              <a:ext cx="2384504" cy="352044"/>
            </a:xfrm>
            <a:prstGeom prst="rect">
              <a:avLst/>
            </a:prstGeom>
            <a:noFill/>
            <a:ln>
              <a:noFill/>
            </a:ln>
          </p:spPr>
          <p:txBody>
            <a:bodyPr wrap="none" lIns="0" tIns="0" rIns="0" bIns="0" anchor="t" anchorCtr="0">
              <a:spAutoFit/>
            </a:bodyPr>
            <a:lstStyle/>
            <a:p>
              <a:pPr algn="l"/>
              <a:r>
                <a:rPr lang="zh-CN" sz="1800" b="1" dirty="0">
                  <a:solidFill>
                    <a:schemeClr val="dk1"/>
                  </a:solidFill>
                  <a:latin typeface="+mn-lt"/>
                  <a:ea typeface="+mn-ea"/>
                  <a:cs typeface="+mn-cs"/>
                </a:rPr>
                <a:t>魏子安 · 强璞 · 阳震</a:t>
              </a:r>
            </a:p>
          </p:txBody>
        </p:sp>
        <p:sp>
          <p:nvSpPr>
            <p:cNvPr id="11" name="TextBox 11"/>
            <p:cNvSpPr txBox="1"/>
            <p:nvPr/>
          </p:nvSpPr>
          <p:spPr>
            <a:xfrm>
              <a:off x="678942" y="5740718"/>
              <a:ext cx="3178703"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Hyperledger Fabric · 课程大作业答辩</a:t>
              </a:r>
            </a:p>
          </p:txBody>
        </p:sp>
      </p:grpSp>
      <p:grpSp>
        <p:nvGrpSpPr>
          <p:cNvPr id="14" name="Group 14"/>
          <p:cNvGrpSpPr/>
          <p:nvPr/>
        </p:nvGrpSpPr>
        <p:grpSpPr>
          <a:xfrm>
            <a:off x="9803892" y="6197918"/>
            <a:ext cx="1858347" cy="264033"/>
            <a:chOff x="9803892" y="6197918"/>
            <a:chExt cx="1858347" cy="264033"/>
          </a:xfrm>
        </p:grpSpPr>
        <p:sp>
          <p:nvSpPr>
            <p:cNvPr id="13" name="TextBox 13"/>
            <p:cNvSpPr txBox="1"/>
            <p:nvPr/>
          </p:nvSpPr>
          <p:spPr>
            <a:xfrm>
              <a:off x="9803892" y="6197918"/>
              <a:ext cx="1858347"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概念示意 · 非实验截图</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39484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CONTENTS · 02</a:t>
              </a:r>
            </a:p>
          </p:txBody>
        </p:sp>
        <p:sp>
          <p:nvSpPr>
            <p:cNvPr id="3" name="TextBox 3"/>
            <p:cNvSpPr txBox="1"/>
            <p:nvPr/>
          </p:nvSpPr>
          <p:spPr>
            <a:xfrm>
              <a:off x="666750" y="738188"/>
              <a:ext cx="11582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目录</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23" name="Group 23"/>
          <p:cNvGrpSpPr/>
          <p:nvPr/>
        </p:nvGrpSpPr>
        <p:grpSpPr>
          <a:xfrm>
            <a:off x="1009650" y="1624012"/>
            <a:ext cx="3765804" cy="3805238"/>
            <a:chOff x="1009650" y="1624012"/>
            <a:chExt cx="3765804" cy="3805238"/>
          </a:xfrm>
        </p:grpSpPr>
        <p:sp>
          <p:nvSpPr>
            <p:cNvPr id="6" name="Freeform 6"/>
            <p:cNvSpPr/>
            <p:nvPr/>
          </p:nvSpPr>
          <p:spPr>
            <a:xfrm>
              <a:off x="1200150" y="1885950"/>
              <a:ext cx="9525" cy="3543300"/>
            </a:xfrm>
            <a:custGeom>
              <a:avLst/>
              <a:gdLst/>
              <a:ahLst/>
              <a:cxnLst/>
              <a:rect l="l" t="t" r="r" b="b"/>
              <a:pathLst>
                <a:path w="9525" h="3543300">
                  <a:moveTo>
                    <a:pt x="0" y="0"/>
                  </a:moveTo>
                  <a:lnTo>
                    <a:pt x="0" y="3543300"/>
                  </a:lnTo>
                </a:path>
              </a:pathLst>
            </a:custGeom>
            <a:solidFill>
              <a:srgbClr val="000000"/>
            </a:solidFill>
            <a:ln w="28575">
              <a:solidFill>
                <a:schemeClr val="accent6"/>
              </a:solidFill>
            </a:ln>
          </p:spPr>
        </p:sp>
        <p:sp>
          <p:nvSpPr>
            <p:cNvPr id="7" name="Ellipse 7"/>
            <p:cNvSpPr/>
            <p:nvPr/>
          </p:nvSpPr>
          <p:spPr>
            <a:xfrm>
              <a:off x="1009650" y="1695450"/>
              <a:ext cx="381000" cy="381000"/>
            </a:xfrm>
            <a:prstGeom prst="ellipse">
              <a:avLst/>
            </a:prstGeom>
            <a:solidFill>
              <a:schemeClr val="accent2"/>
            </a:solidFill>
            <a:ln>
              <a:noFill/>
            </a:ln>
          </p:spPr>
        </p:sp>
        <p:sp>
          <p:nvSpPr>
            <p:cNvPr id="8" name="TextBox 8"/>
            <p:cNvSpPr txBox="1"/>
            <p:nvPr/>
          </p:nvSpPr>
          <p:spPr>
            <a:xfrm>
              <a:off x="1088339" y="180689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01</a:t>
              </a:r>
            </a:p>
          </p:txBody>
        </p:sp>
        <p:sp>
          <p:nvSpPr>
            <p:cNvPr id="9" name="TextBox 9"/>
            <p:cNvSpPr txBox="1"/>
            <p:nvPr/>
          </p:nvSpPr>
          <p:spPr>
            <a:xfrm>
              <a:off x="1645920" y="162401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问题与原则</a:t>
              </a:r>
            </a:p>
          </p:txBody>
        </p:sp>
        <p:sp>
          <p:nvSpPr>
            <p:cNvPr id="10" name="TextBox 10"/>
            <p:cNvSpPr txBox="1"/>
            <p:nvPr/>
          </p:nvSpPr>
          <p:spPr>
            <a:xfrm>
              <a:off x="1648968" y="2012632"/>
              <a:ext cx="3126486"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课程边界、竞赛延展、总体框架</a:t>
              </a:r>
            </a:p>
          </p:txBody>
        </p:sp>
        <p:sp>
          <p:nvSpPr>
            <p:cNvPr id="11" name="Ellipse 11"/>
            <p:cNvSpPr/>
            <p:nvPr/>
          </p:nvSpPr>
          <p:spPr>
            <a:xfrm>
              <a:off x="1009650" y="2667000"/>
              <a:ext cx="381000" cy="381000"/>
            </a:xfrm>
            <a:prstGeom prst="ellipse">
              <a:avLst/>
            </a:prstGeom>
            <a:solidFill>
              <a:schemeClr val="accent1"/>
            </a:solidFill>
            <a:ln>
              <a:noFill/>
            </a:ln>
          </p:spPr>
        </p:sp>
        <p:sp>
          <p:nvSpPr>
            <p:cNvPr id="12" name="TextBox 12"/>
            <p:cNvSpPr txBox="1"/>
            <p:nvPr/>
          </p:nvSpPr>
          <p:spPr>
            <a:xfrm>
              <a:off x="1088339" y="27784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02</a:t>
              </a:r>
            </a:p>
          </p:txBody>
        </p:sp>
        <p:sp>
          <p:nvSpPr>
            <p:cNvPr id="13" name="TextBox 13"/>
            <p:cNvSpPr txBox="1"/>
            <p:nvPr/>
          </p:nvSpPr>
          <p:spPr>
            <a:xfrm>
              <a:off x="1645920" y="259556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七阶段迭代</a:t>
              </a:r>
            </a:p>
          </p:txBody>
        </p:sp>
        <p:sp>
          <p:nvSpPr>
            <p:cNvPr id="14" name="TextBox 14"/>
            <p:cNvSpPr txBox="1"/>
            <p:nvPr/>
          </p:nvSpPr>
          <p:spPr>
            <a:xfrm>
              <a:off x="1648968" y="2984182"/>
              <a:ext cx="2237994"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缺点驱动下一阶段设计</a:t>
              </a:r>
            </a:p>
          </p:txBody>
        </p:sp>
        <p:sp>
          <p:nvSpPr>
            <p:cNvPr id="15" name="Ellipse 15"/>
            <p:cNvSpPr/>
            <p:nvPr/>
          </p:nvSpPr>
          <p:spPr>
            <a:xfrm>
              <a:off x="1009650" y="3638550"/>
              <a:ext cx="381000" cy="381000"/>
            </a:xfrm>
            <a:prstGeom prst="ellipse">
              <a:avLst/>
            </a:prstGeom>
            <a:solidFill>
              <a:schemeClr val="accent3"/>
            </a:solidFill>
            <a:ln>
              <a:noFill/>
            </a:ln>
          </p:spPr>
        </p:sp>
        <p:sp>
          <p:nvSpPr>
            <p:cNvPr id="16" name="TextBox 16"/>
            <p:cNvSpPr txBox="1"/>
            <p:nvPr/>
          </p:nvSpPr>
          <p:spPr>
            <a:xfrm>
              <a:off x="1088339" y="374999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03</a:t>
              </a:r>
            </a:p>
          </p:txBody>
        </p:sp>
        <p:sp>
          <p:nvSpPr>
            <p:cNvPr id="17" name="TextBox 17"/>
            <p:cNvSpPr txBox="1"/>
            <p:nvPr/>
          </p:nvSpPr>
          <p:spPr>
            <a:xfrm>
              <a:off x="1645920" y="3567112"/>
              <a:ext cx="1703070"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证据与验收</a:t>
              </a:r>
            </a:p>
          </p:txBody>
        </p:sp>
        <p:sp>
          <p:nvSpPr>
            <p:cNvPr id="18" name="TextBox 18"/>
            <p:cNvSpPr txBox="1"/>
            <p:nvPr/>
          </p:nvSpPr>
          <p:spPr>
            <a:xfrm>
              <a:off x="1648968" y="3955732"/>
              <a:ext cx="2460117"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功能、性能、恢复、贡献</a:t>
              </a:r>
            </a:p>
          </p:txBody>
        </p:sp>
        <p:sp>
          <p:nvSpPr>
            <p:cNvPr id="19" name="Ellipse 19"/>
            <p:cNvSpPr/>
            <p:nvPr/>
          </p:nvSpPr>
          <p:spPr>
            <a:xfrm>
              <a:off x="1009650" y="4610100"/>
              <a:ext cx="381000" cy="381000"/>
            </a:xfrm>
            <a:prstGeom prst="ellipse">
              <a:avLst/>
            </a:prstGeom>
            <a:solidFill>
              <a:srgbClr val="D3A84B"/>
            </a:solidFill>
            <a:ln>
              <a:noFill/>
            </a:ln>
          </p:spPr>
        </p:sp>
        <p:sp>
          <p:nvSpPr>
            <p:cNvPr id="20" name="TextBox 20"/>
            <p:cNvSpPr txBox="1"/>
            <p:nvPr/>
          </p:nvSpPr>
          <p:spPr>
            <a:xfrm>
              <a:off x="1088339" y="4721542"/>
              <a:ext cx="223622"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04</a:t>
              </a:r>
            </a:p>
          </p:txBody>
        </p:sp>
        <p:sp>
          <p:nvSpPr>
            <p:cNvPr id="21" name="TextBox 21"/>
            <p:cNvSpPr txBox="1"/>
            <p:nvPr/>
          </p:nvSpPr>
          <p:spPr>
            <a:xfrm>
              <a:off x="1645920" y="4538662"/>
              <a:ext cx="2039112" cy="440055"/>
            </a:xfrm>
            <a:prstGeom prst="rect">
              <a:avLst/>
            </a:prstGeom>
            <a:noFill/>
            <a:ln>
              <a:noFill/>
            </a:ln>
          </p:spPr>
          <p:txBody>
            <a:bodyPr wrap="none" lIns="0" tIns="0" rIns="0" bIns="0" anchor="t" anchorCtr="0">
              <a:spAutoFit/>
            </a:bodyPr>
            <a:lstStyle/>
            <a:p>
              <a:pPr algn="l"/>
              <a:r>
                <a:rPr lang="zh-CN" sz="2250" b="1" dirty="0">
                  <a:solidFill>
                    <a:schemeClr val="dk1"/>
                  </a:solidFill>
                  <a:latin typeface="+mj-lt"/>
                  <a:ea typeface="+mj-ea"/>
                  <a:cs typeface="+mj-cs"/>
                </a:rPr>
                <a:t>边界与下一步</a:t>
              </a:r>
            </a:p>
          </p:txBody>
        </p:sp>
        <p:sp>
          <p:nvSpPr>
            <p:cNvPr id="22" name="TextBox 22"/>
            <p:cNvSpPr txBox="1"/>
            <p:nvPr/>
          </p:nvSpPr>
          <p:spPr>
            <a:xfrm>
              <a:off x="1648968" y="4927282"/>
              <a:ext cx="2237994"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优势、限制、演进路线</a:t>
              </a:r>
            </a:p>
          </p:txBody>
        </p:sp>
      </p:grpSp>
      <p:grpSp>
        <p:nvGrpSpPr>
          <p:cNvPr id="26" name="Group 26"/>
          <p:cNvGrpSpPr/>
          <p:nvPr/>
        </p:nvGrpSpPr>
        <p:grpSpPr>
          <a:xfrm>
            <a:off x="678942" y="6407468"/>
            <a:ext cx="10643616" cy="264033"/>
            <a:chOff x="678942" y="6407468"/>
            <a:chExt cx="10643616" cy="264033"/>
          </a:xfrm>
        </p:grpSpPr>
        <p:sp>
          <p:nvSpPr>
            <p:cNvPr id="24" name="TextBox 24"/>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5" name="TextBox 25"/>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4937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PROJECT POSITIONING · 03</a:t>
              </a:r>
            </a:p>
          </p:txBody>
        </p:sp>
        <p:sp>
          <p:nvSpPr>
            <p:cNvPr id="3" name="TextBox 3"/>
            <p:cNvSpPr txBox="1"/>
            <p:nvPr/>
          </p:nvSpPr>
          <p:spPr>
            <a:xfrm>
              <a:off x="666750" y="738188"/>
              <a:ext cx="619887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一个项目，两套评价坐标</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4953000" cy="2762250"/>
            <a:chOff x="685800" y="1695450"/>
            <a:chExt cx="4953000" cy="2762250"/>
          </a:xfrm>
        </p:grpSpPr>
        <p:sp>
          <p:nvSpPr>
            <p:cNvPr id="6" name="Rectangle 6"/>
            <p:cNvSpPr/>
            <p:nvPr/>
          </p:nvSpPr>
          <p:spPr>
            <a:xfrm>
              <a:off x="685800" y="1695450"/>
              <a:ext cx="4953000" cy="2762250"/>
            </a:xfrm>
            <a:prstGeom prst="roundRect">
              <a:avLst>
                <a:gd name="adj" fmla="val 2069"/>
              </a:avLst>
            </a:prstGeom>
            <a:solidFill>
              <a:schemeClr val="lt2"/>
            </a:solidFill>
            <a:ln w="14288">
              <a:solidFill>
                <a:schemeClr val="accent6"/>
              </a:solidFill>
            </a:ln>
          </p:spPr>
        </p:sp>
        <p:sp>
          <p:nvSpPr>
            <p:cNvPr id="7" name="Rectangle 7"/>
            <p:cNvSpPr/>
            <p:nvPr/>
          </p:nvSpPr>
          <p:spPr>
            <a:xfrm>
              <a:off x="685800" y="1695450"/>
              <a:ext cx="76200" cy="2762250"/>
            </a:xfrm>
            <a:prstGeom prst="roundRect">
              <a:avLst>
                <a:gd name="adj" fmla="val 50000"/>
              </a:avLst>
            </a:prstGeom>
            <a:solidFill>
              <a:schemeClr val="accent1"/>
            </a:solidFill>
            <a:ln>
              <a:noFill/>
            </a:ln>
          </p:spPr>
        </p:sp>
        <p:sp>
          <p:nvSpPr>
            <p:cNvPr id="8" name="TextBox 8"/>
            <p:cNvSpPr txBox="1"/>
            <p:nvPr/>
          </p:nvSpPr>
          <p:spPr>
            <a:xfrm>
              <a:off x="9410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课程大作业</a:t>
              </a:r>
            </a:p>
          </p:txBody>
        </p:sp>
        <p:sp>
          <p:nvSpPr>
            <p:cNvPr id="9" name="TextBox 9"/>
            <p:cNvSpPr txBox="1"/>
            <p:nvPr/>
          </p:nvSpPr>
          <p:spPr>
            <a:xfrm>
              <a:off x="944118" y="2317432"/>
              <a:ext cx="35791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围绕成绩存证与查询完成可运行应用要求体现区块链必要性与完整工程实现答辩以设计、代码、数据和复现为证据</a:t>
              </a:r>
            </a:p>
          </p:txBody>
        </p:sp>
      </p:grpSp>
      <p:grpSp>
        <p:nvGrpSpPr>
          <p:cNvPr id="15" name="Group 15"/>
          <p:cNvGrpSpPr/>
          <p:nvPr/>
        </p:nvGrpSpPr>
        <p:grpSpPr>
          <a:xfrm>
            <a:off x="6553200" y="1695450"/>
            <a:ext cx="4953000" cy="2762250"/>
            <a:chOff x="6553200" y="1695450"/>
            <a:chExt cx="4953000" cy="2762250"/>
          </a:xfrm>
        </p:grpSpPr>
        <p:sp>
          <p:nvSpPr>
            <p:cNvPr id="11" name="Rectangle 11"/>
            <p:cNvSpPr/>
            <p:nvPr/>
          </p:nvSpPr>
          <p:spPr>
            <a:xfrm>
              <a:off x="6553200" y="1695450"/>
              <a:ext cx="4953000" cy="2762250"/>
            </a:xfrm>
            <a:prstGeom prst="roundRect">
              <a:avLst>
                <a:gd name="adj" fmla="val 2069"/>
              </a:avLst>
            </a:prstGeom>
            <a:solidFill>
              <a:schemeClr val="lt2"/>
            </a:solidFill>
            <a:ln w="14288">
              <a:solidFill>
                <a:schemeClr val="accent6"/>
              </a:solidFill>
            </a:ln>
          </p:spPr>
        </p:sp>
        <p:sp>
          <p:nvSpPr>
            <p:cNvPr id="12" name="Rectangle 12"/>
            <p:cNvSpPr/>
            <p:nvPr/>
          </p:nvSpPr>
          <p:spPr>
            <a:xfrm>
              <a:off x="6553200" y="1695450"/>
              <a:ext cx="76200" cy="2762250"/>
            </a:xfrm>
            <a:prstGeom prst="roundRect">
              <a:avLst>
                <a:gd name="adj" fmla="val 50000"/>
              </a:avLst>
            </a:prstGeom>
            <a:solidFill>
              <a:schemeClr val="accent3"/>
            </a:solidFill>
            <a:ln>
              <a:noFill/>
            </a:ln>
          </p:spPr>
        </p:sp>
        <p:sp>
          <p:nvSpPr>
            <p:cNvPr id="13" name="TextBox 13"/>
            <p:cNvSpPr txBox="1"/>
            <p:nvPr/>
          </p:nvSpPr>
          <p:spPr>
            <a:xfrm>
              <a:off x="68084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竞赛延展</a:t>
              </a:r>
            </a:p>
          </p:txBody>
        </p:sp>
        <p:sp>
          <p:nvSpPr>
            <p:cNvPr id="14" name="TextBox 14"/>
            <p:cNvSpPr txBox="1"/>
            <p:nvPr/>
          </p:nvSpPr>
          <p:spPr>
            <a:xfrm>
              <a:off x="6811518" y="2317432"/>
              <a:ext cx="37886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强调创新应用、真实问题与可推广性要求隐私、互操作、性能和韧性说明在同一代码库上增量优化，而非另做项目</a:t>
              </a:r>
            </a:p>
          </p:txBody>
        </p:sp>
      </p:grpSp>
      <p:grpSp>
        <p:nvGrpSpPr>
          <p:cNvPr id="18" name="Group 18"/>
          <p:cNvGrpSpPr/>
          <p:nvPr/>
        </p:nvGrpSpPr>
        <p:grpSpPr>
          <a:xfrm>
            <a:off x="2114550" y="4762500"/>
            <a:ext cx="7962900" cy="987743"/>
            <a:chOff x="2114550" y="4762500"/>
            <a:chExt cx="7962900" cy="987743"/>
          </a:xfrm>
        </p:grpSpPr>
        <p:sp>
          <p:nvSpPr>
            <p:cNvPr id="16" name="Rectangle 16"/>
            <p:cNvSpPr/>
            <p:nvPr/>
          </p:nvSpPr>
          <p:spPr>
            <a:xfrm>
              <a:off x="2114550" y="4762500"/>
              <a:ext cx="7962900" cy="933450"/>
            </a:xfrm>
            <a:prstGeom prst="roundRect">
              <a:avLst>
                <a:gd name="adj" fmla="val 8163"/>
              </a:avLst>
            </a:prstGeom>
            <a:solidFill>
              <a:schemeClr val="accent2"/>
            </a:solidFill>
            <a:ln>
              <a:noFill/>
            </a:ln>
          </p:spPr>
        </p:sp>
        <p:sp>
          <p:nvSpPr>
            <p:cNvPr id="17" name="TextBox 17"/>
            <p:cNvSpPr txBox="1"/>
            <p:nvPr/>
          </p:nvSpPr>
          <p:spPr>
            <a:xfrm>
              <a:off x="2369820" y="4948238"/>
              <a:ext cx="4523422"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统一主线：可信成绩全生命周期课程完成闭环，竞赛继续加深能力</a:t>
              </a:r>
            </a:p>
          </p:txBody>
        </p:sp>
      </p:grpSp>
      <p:grpSp>
        <p:nvGrpSpPr>
          <p:cNvPr id="21" name="Group 21"/>
          <p:cNvGrpSpPr/>
          <p:nvPr/>
        </p:nvGrpSpPr>
        <p:grpSpPr>
          <a:xfrm>
            <a:off x="678942" y="6407468"/>
            <a:ext cx="10643616" cy="264033"/>
            <a:chOff x="678942" y="6407468"/>
            <a:chExt cx="10643616" cy="264033"/>
          </a:xfrm>
        </p:grpSpPr>
        <p:sp>
          <p:nvSpPr>
            <p:cNvPr id="19" name="TextBox 19"/>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0" name="TextBox 20"/>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38281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PROBLEM DEFINITION · 04</a:t>
              </a:r>
            </a:p>
          </p:txBody>
        </p:sp>
        <p:sp>
          <p:nvSpPr>
            <p:cNvPr id="3" name="TextBox 3"/>
            <p:cNvSpPr txBox="1"/>
            <p:nvPr/>
          </p:nvSpPr>
          <p:spPr>
            <a:xfrm>
              <a:off x="666750" y="738188"/>
              <a:ext cx="7375017"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为什么“把成绩写上链”还不够</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5048250" cy="4000500"/>
            <a:chOff x="685800" y="1695450"/>
            <a:chExt cx="5048250" cy="4000500"/>
          </a:xfrm>
        </p:grpSpPr>
        <p:sp>
          <p:nvSpPr>
            <p:cNvPr id="6" name="Rectangle 6"/>
            <p:cNvSpPr/>
            <p:nvPr/>
          </p:nvSpPr>
          <p:spPr>
            <a:xfrm>
              <a:off x="685800" y="1695450"/>
              <a:ext cx="5048250" cy="4000500"/>
            </a:xfrm>
            <a:prstGeom prst="roundRect">
              <a:avLst>
                <a:gd name="adj" fmla="val 1905"/>
              </a:avLst>
            </a:prstGeom>
            <a:solidFill>
              <a:schemeClr val="lt2"/>
            </a:solidFill>
            <a:ln w="9525">
              <a:solidFill>
                <a:schemeClr val="accent6"/>
              </a:solidFill>
            </a:ln>
          </p:spPr>
        </p:sp>
        <p:pic>
          <p:nvPicPr>
            <p:cNvPr id="7" name="Image 7"/>
            <p:cNvPicPr>
              <a:picLocks noChangeAspect="1"/>
            </p:cNvPicPr>
            <p:nvPr/>
          </p:nvPicPr>
          <p:blipFill>
            <a:blip r:embed="rId2"/>
            <a:srcRect l="14273" t="0" r="14273" b="0"/>
            <a:stretch>
              <a:fillRect/>
            </a:stretch>
          </p:blipFill>
          <p:spPr>
            <a:xfrm>
              <a:off x="742950" y="1752600"/>
              <a:ext cx="4933950" cy="3886200"/>
            </a:xfrm>
            <a:prstGeom prst="rect">
              <a:avLst/>
            </a:prstGeom>
          </p:spPr>
        </p:pic>
      </p:grpSp>
      <p:grpSp>
        <p:nvGrpSpPr>
          <p:cNvPr id="13" name="Group 13"/>
          <p:cNvGrpSpPr/>
          <p:nvPr/>
        </p:nvGrpSpPr>
        <p:grpSpPr>
          <a:xfrm>
            <a:off x="6096000" y="1695450"/>
            <a:ext cx="5410200" cy="1066800"/>
            <a:chOff x="6096000" y="1695450"/>
            <a:chExt cx="5410200" cy="1066800"/>
          </a:xfrm>
        </p:grpSpPr>
        <p:sp>
          <p:nvSpPr>
            <p:cNvPr id="9" name="Rectangle 9"/>
            <p:cNvSpPr/>
            <p:nvPr/>
          </p:nvSpPr>
          <p:spPr>
            <a:xfrm>
              <a:off x="6096000" y="1695450"/>
              <a:ext cx="5410200" cy="1066800"/>
            </a:xfrm>
            <a:prstGeom prst="roundRect">
              <a:avLst>
                <a:gd name="adj" fmla="val 5357"/>
              </a:avLst>
            </a:prstGeom>
            <a:solidFill>
              <a:schemeClr val="lt2"/>
            </a:solidFill>
            <a:ln w="14288">
              <a:solidFill>
                <a:schemeClr val="accent6"/>
              </a:solidFill>
            </a:ln>
          </p:spPr>
        </p:sp>
        <p:sp>
          <p:nvSpPr>
            <p:cNvPr id="10" name="Rectangle 10"/>
            <p:cNvSpPr/>
            <p:nvPr/>
          </p:nvSpPr>
          <p:spPr>
            <a:xfrm>
              <a:off x="6096000" y="1695450"/>
              <a:ext cx="76200" cy="1066800"/>
            </a:xfrm>
            <a:prstGeom prst="roundRect">
              <a:avLst>
                <a:gd name="adj" fmla="val 50000"/>
              </a:avLst>
            </a:prstGeom>
            <a:solidFill>
              <a:schemeClr val="accent2"/>
            </a:solidFill>
            <a:ln>
              <a:noFill/>
            </a:ln>
          </p:spPr>
        </p:sp>
        <p:sp>
          <p:nvSpPr>
            <p:cNvPr id="11" name="TextBox 11"/>
            <p:cNvSpPr txBox="1"/>
            <p:nvPr/>
          </p:nvSpPr>
          <p:spPr>
            <a:xfrm>
              <a:off x="6351270" y="18526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1</a:t>
              </a:r>
            </a:p>
          </p:txBody>
        </p:sp>
        <p:sp>
          <p:nvSpPr>
            <p:cNvPr id="12" name="TextBox 12"/>
            <p:cNvSpPr txBox="1"/>
            <p:nvPr/>
          </p:nvSpPr>
          <p:spPr>
            <a:xfrm>
              <a:off x="6354318" y="2317432"/>
              <a:ext cx="2682240"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谁有权签发、复核、查询？</a:t>
              </a:r>
            </a:p>
          </p:txBody>
        </p:sp>
      </p:grpSp>
      <p:grpSp>
        <p:nvGrpSpPr>
          <p:cNvPr id="18" name="Group 18"/>
          <p:cNvGrpSpPr/>
          <p:nvPr/>
        </p:nvGrpSpPr>
        <p:grpSpPr>
          <a:xfrm>
            <a:off x="6096000" y="2952750"/>
            <a:ext cx="5410200" cy="1066800"/>
            <a:chOff x="6096000" y="2952750"/>
            <a:chExt cx="5410200" cy="1066800"/>
          </a:xfrm>
        </p:grpSpPr>
        <p:sp>
          <p:nvSpPr>
            <p:cNvPr id="14" name="Rectangle 14"/>
            <p:cNvSpPr/>
            <p:nvPr/>
          </p:nvSpPr>
          <p:spPr>
            <a:xfrm>
              <a:off x="6096000" y="2952750"/>
              <a:ext cx="5410200" cy="1066800"/>
            </a:xfrm>
            <a:prstGeom prst="roundRect">
              <a:avLst>
                <a:gd name="adj" fmla="val 5357"/>
              </a:avLst>
            </a:prstGeom>
            <a:solidFill>
              <a:schemeClr val="lt2"/>
            </a:solidFill>
            <a:ln w="14288">
              <a:solidFill>
                <a:schemeClr val="accent6"/>
              </a:solidFill>
            </a:ln>
          </p:spPr>
        </p:sp>
        <p:sp>
          <p:nvSpPr>
            <p:cNvPr id="15" name="Rectangle 15"/>
            <p:cNvSpPr/>
            <p:nvPr/>
          </p:nvSpPr>
          <p:spPr>
            <a:xfrm>
              <a:off x="6096000" y="2952750"/>
              <a:ext cx="76200" cy="1066800"/>
            </a:xfrm>
            <a:prstGeom prst="roundRect">
              <a:avLst>
                <a:gd name="adj" fmla="val 50000"/>
              </a:avLst>
            </a:prstGeom>
            <a:solidFill>
              <a:schemeClr val="accent2"/>
            </a:solidFill>
            <a:ln>
              <a:noFill/>
            </a:ln>
          </p:spPr>
        </p:sp>
        <p:sp>
          <p:nvSpPr>
            <p:cNvPr id="16" name="TextBox 16"/>
            <p:cNvSpPr txBox="1"/>
            <p:nvPr/>
          </p:nvSpPr>
          <p:spPr>
            <a:xfrm>
              <a:off x="6351270" y="31099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2</a:t>
              </a:r>
            </a:p>
          </p:txBody>
        </p:sp>
        <p:sp>
          <p:nvSpPr>
            <p:cNvPr id="17" name="TextBox 17"/>
            <p:cNvSpPr txBox="1"/>
            <p:nvPr/>
          </p:nvSpPr>
          <p:spPr>
            <a:xfrm>
              <a:off x="6354318" y="3574732"/>
              <a:ext cx="334860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隐私字段是否会被所有节点看见？</a:t>
              </a:r>
            </a:p>
          </p:txBody>
        </p:sp>
      </p:grpSp>
      <p:grpSp>
        <p:nvGrpSpPr>
          <p:cNvPr id="23" name="Group 23"/>
          <p:cNvGrpSpPr/>
          <p:nvPr/>
        </p:nvGrpSpPr>
        <p:grpSpPr>
          <a:xfrm>
            <a:off x="6096000" y="4210050"/>
            <a:ext cx="5410200" cy="1066800"/>
            <a:chOff x="6096000" y="4210050"/>
            <a:chExt cx="5410200" cy="1066800"/>
          </a:xfrm>
        </p:grpSpPr>
        <p:sp>
          <p:nvSpPr>
            <p:cNvPr id="19" name="Rectangle 19"/>
            <p:cNvSpPr/>
            <p:nvPr/>
          </p:nvSpPr>
          <p:spPr>
            <a:xfrm>
              <a:off x="6096000" y="4210050"/>
              <a:ext cx="5410200" cy="1066800"/>
            </a:xfrm>
            <a:prstGeom prst="roundRect">
              <a:avLst>
                <a:gd name="adj" fmla="val 5357"/>
              </a:avLst>
            </a:prstGeom>
            <a:solidFill>
              <a:schemeClr val="lt2"/>
            </a:solidFill>
            <a:ln w="14288">
              <a:solidFill>
                <a:schemeClr val="accent6"/>
              </a:solidFill>
            </a:ln>
          </p:spPr>
        </p:sp>
        <p:sp>
          <p:nvSpPr>
            <p:cNvPr id="20" name="Rectangle 20"/>
            <p:cNvSpPr/>
            <p:nvPr/>
          </p:nvSpPr>
          <p:spPr>
            <a:xfrm>
              <a:off x="6096000" y="4210050"/>
              <a:ext cx="76200" cy="1066800"/>
            </a:xfrm>
            <a:prstGeom prst="roundRect">
              <a:avLst>
                <a:gd name="adj" fmla="val 50000"/>
              </a:avLst>
            </a:prstGeom>
            <a:solidFill>
              <a:schemeClr val="accent2"/>
            </a:solidFill>
            <a:ln>
              <a:noFill/>
            </a:ln>
          </p:spPr>
        </p:sp>
        <p:sp>
          <p:nvSpPr>
            <p:cNvPr id="21" name="TextBox 21"/>
            <p:cNvSpPr txBox="1"/>
            <p:nvPr/>
          </p:nvSpPr>
          <p:spPr>
            <a:xfrm>
              <a:off x="6351270" y="4367212"/>
              <a:ext cx="98058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问题 3</a:t>
              </a:r>
            </a:p>
          </p:txBody>
        </p:sp>
        <p:sp>
          <p:nvSpPr>
            <p:cNvPr id="22" name="TextBox 22"/>
            <p:cNvSpPr txBox="1"/>
            <p:nvPr/>
          </p:nvSpPr>
          <p:spPr>
            <a:xfrm>
              <a:off x="6354318" y="4832032"/>
              <a:ext cx="3792855"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成绩修订后，旧记录如何保留并解释？</a:t>
              </a:r>
            </a:p>
          </p:txBody>
        </p:sp>
      </p:grpSp>
      <p:grpSp>
        <p:nvGrpSpPr>
          <p:cNvPr id="25" name="Group 25"/>
          <p:cNvGrpSpPr/>
          <p:nvPr/>
        </p:nvGrpSpPr>
        <p:grpSpPr>
          <a:xfrm>
            <a:off x="6087618" y="5517832"/>
            <a:ext cx="5427680" cy="322707"/>
            <a:chOff x="6087618" y="5517832"/>
            <a:chExt cx="5427680" cy="322707"/>
          </a:xfrm>
        </p:grpSpPr>
        <p:sp>
          <p:nvSpPr>
            <p:cNvPr id="24" name="TextBox 24"/>
            <p:cNvSpPr txBox="1"/>
            <p:nvPr/>
          </p:nvSpPr>
          <p:spPr>
            <a:xfrm>
              <a:off x="6087618" y="5517832"/>
              <a:ext cx="5427680"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区块链解决“共同确认”，应用仍要设计“可信流程”。</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5094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PRINCIPLES · 05</a:t>
              </a:r>
            </a:p>
          </p:txBody>
        </p:sp>
        <p:sp>
          <p:nvSpPr>
            <p:cNvPr id="3" name="TextBox 3"/>
            <p:cNvSpPr txBox="1"/>
            <p:nvPr/>
          </p:nvSpPr>
          <p:spPr>
            <a:xfrm>
              <a:off x="666750" y="738188"/>
              <a:ext cx="67589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四条原则约束所有后续设计</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2476500" cy="3143250"/>
            <a:chOff x="685800" y="1695450"/>
            <a:chExt cx="2476500" cy="3143250"/>
          </a:xfrm>
        </p:grpSpPr>
        <p:sp>
          <p:nvSpPr>
            <p:cNvPr id="6" name="Rectangle 6"/>
            <p:cNvSpPr/>
            <p:nvPr/>
          </p:nvSpPr>
          <p:spPr>
            <a:xfrm>
              <a:off x="685800" y="1695450"/>
              <a:ext cx="2476500" cy="3143250"/>
            </a:xfrm>
            <a:prstGeom prst="roundRect">
              <a:avLst>
                <a:gd name="adj" fmla="val 2308"/>
              </a:avLst>
            </a:prstGeom>
            <a:solidFill>
              <a:schemeClr val="lt2"/>
            </a:solidFill>
            <a:ln w="14288">
              <a:solidFill>
                <a:schemeClr val="accent6"/>
              </a:solidFill>
            </a:ln>
          </p:spPr>
        </p:sp>
        <p:sp>
          <p:nvSpPr>
            <p:cNvPr id="7" name="Rectangle 7"/>
            <p:cNvSpPr/>
            <p:nvPr/>
          </p:nvSpPr>
          <p:spPr>
            <a:xfrm>
              <a:off x="685800" y="1695450"/>
              <a:ext cx="76200" cy="3143250"/>
            </a:xfrm>
            <a:prstGeom prst="roundRect">
              <a:avLst>
                <a:gd name="adj" fmla="val 50000"/>
              </a:avLst>
            </a:prstGeom>
            <a:solidFill>
              <a:schemeClr val="accent1"/>
            </a:solidFill>
            <a:ln>
              <a:noFill/>
            </a:ln>
          </p:spPr>
        </p:sp>
        <p:sp>
          <p:nvSpPr>
            <p:cNvPr id="8" name="TextBox 8"/>
            <p:cNvSpPr txBox="1"/>
            <p:nvPr/>
          </p:nvSpPr>
          <p:spPr>
            <a:xfrm>
              <a:off x="941070" y="1852612"/>
              <a:ext cx="1030986"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可验证</a:t>
              </a:r>
            </a:p>
          </p:txBody>
        </p:sp>
        <p:sp>
          <p:nvSpPr>
            <p:cNvPr id="9" name="TextBox 9"/>
            <p:cNvSpPr txBox="1"/>
            <p:nvPr/>
          </p:nvSpPr>
          <p:spPr>
            <a:xfrm>
              <a:off x="944118" y="2317432"/>
              <a:ext cx="19027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关键状态上链查询可给出链上证据签名与哈希可复核</a:t>
              </a:r>
            </a:p>
          </p:txBody>
        </p:sp>
      </p:grpSp>
      <p:grpSp>
        <p:nvGrpSpPr>
          <p:cNvPr id="15" name="Group 15"/>
          <p:cNvGrpSpPr/>
          <p:nvPr/>
        </p:nvGrpSpPr>
        <p:grpSpPr>
          <a:xfrm>
            <a:off x="3467100" y="1695450"/>
            <a:ext cx="2476500" cy="3143250"/>
            <a:chOff x="3467100" y="1695450"/>
            <a:chExt cx="2476500" cy="3143250"/>
          </a:xfrm>
        </p:grpSpPr>
        <p:sp>
          <p:nvSpPr>
            <p:cNvPr id="11" name="Rectangle 11"/>
            <p:cNvSpPr/>
            <p:nvPr/>
          </p:nvSpPr>
          <p:spPr>
            <a:xfrm>
              <a:off x="3467100" y="1695450"/>
              <a:ext cx="2476500" cy="3143250"/>
            </a:xfrm>
            <a:prstGeom prst="roundRect">
              <a:avLst>
                <a:gd name="adj" fmla="val 2308"/>
              </a:avLst>
            </a:prstGeom>
            <a:solidFill>
              <a:schemeClr val="lt2"/>
            </a:solidFill>
            <a:ln w="14288">
              <a:solidFill>
                <a:schemeClr val="accent6"/>
              </a:solidFill>
            </a:ln>
          </p:spPr>
        </p:sp>
        <p:sp>
          <p:nvSpPr>
            <p:cNvPr id="12" name="Rectangle 12"/>
            <p:cNvSpPr/>
            <p:nvPr/>
          </p:nvSpPr>
          <p:spPr>
            <a:xfrm>
              <a:off x="3467100" y="1695450"/>
              <a:ext cx="76200" cy="3143250"/>
            </a:xfrm>
            <a:prstGeom prst="roundRect">
              <a:avLst>
                <a:gd name="adj" fmla="val 50000"/>
              </a:avLst>
            </a:prstGeom>
            <a:solidFill>
              <a:schemeClr val="accent3"/>
            </a:solidFill>
            <a:ln>
              <a:noFill/>
            </a:ln>
          </p:spPr>
        </p:sp>
        <p:sp>
          <p:nvSpPr>
            <p:cNvPr id="13" name="TextBox 13"/>
            <p:cNvSpPr txBox="1"/>
            <p:nvPr/>
          </p:nvSpPr>
          <p:spPr>
            <a:xfrm>
              <a:off x="37223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最小披露</a:t>
              </a:r>
            </a:p>
          </p:txBody>
        </p:sp>
        <p:sp>
          <p:nvSpPr>
            <p:cNvPr id="14" name="TextBox 14"/>
            <p:cNvSpPr txBox="1"/>
            <p:nvPr/>
          </p:nvSpPr>
          <p:spPr>
            <a:xfrm>
              <a:off x="3725418" y="2317432"/>
              <a:ext cx="19027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公开结果不暴露成绩私有字段限定组织学生访问绑定主体</a:t>
              </a:r>
            </a:p>
          </p:txBody>
        </p:sp>
      </p:grpSp>
      <p:grpSp>
        <p:nvGrpSpPr>
          <p:cNvPr id="20" name="Group 20"/>
          <p:cNvGrpSpPr/>
          <p:nvPr/>
        </p:nvGrpSpPr>
        <p:grpSpPr>
          <a:xfrm>
            <a:off x="6248400" y="1695450"/>
            <a:ext cx="2476500" cy="3143250"/>
            <a:chOff x="6248400" y="1695450"/>
            <a:chExt cx="2476500" cy="3143250"/>
          </a:xfrm>
        </p:grpSpPr>
        <p:sp>
          <p:nvSpPr>
            <p:cNvPr id="16" name="Rectangle 16"/>
            <p:cNvSpPr/>
            <p:nvPr/>
          </p:nvSpPr>
          <p:spPr>
            <a:xfrm>
              <a:off x="6248400" y="1695450"/>
              <a:ext cx="2476500" cy="3143250"/>
            </a:xfrm>
            <a:prstGeom prst="roundRect">
              <a:avLst>
                <a:gd name="adj" fmla="val 2308"/>
              </a:avLst>
            </a:prstGeom>
            <a:solidFill>
              <a:schemeClr val="lt2"/>
            </a:solidFill>
            <a:ln w="14288">
              <a:solidFill>
                <a:schemeClr val="accent6"/>
              </a:solidFill>
            </a:ln>
          </p:spPr>
        </p:sp>
        <p:sp>
          <p:nvSpPr>
            <p:cNvPr id="17" name="Rectangle 17"/>
            <p:cNvSpPr/>
            <p:nvPr/>
          </p:nvSpPr>
          <p:spPr>
            <a:xfrm>
              <a:off x="6248400" y="1695450"/>
              <a:ext cx="76200" cy="3143250"/>
            </a:xfrm>
            <a:prstGeom prst="roundRect">
              <a:avLst>
                <a:gd name="adj" fmla="val 50000"/>
              </a:avLst>
            </a:prstGeom>
            <a:solidFill>
              <a:schemeClr val="accent2"/>
            </a:solidFill>
            <a:ln>
              <a:noFill/>
            </a:ln>
          </p:spPr>
        </p:sp>
        <p:sp>
          <p:nvSpPr>
            <p:cNvPr id="18" name="TextBox 18"/>
            <p:cNvSpPr txBox="1"/>
            <p:nvPr/>
          </p:nvSpPr>
          <p:spPr>
            <a:xfrm>
              <a:off x="6503670" y="1852612"/>
              <a:ext cx="1030986"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可修订</a:t>
              </a:r>
            </a:p>
          </p:txBody>
        </p:sp>
        <p:sp>
          <p:nvSpPr>
            <p:cNvPr id="19" name="TextBox 19"/>
            <p:cNvSpPr txBox="1"/>
            <p:nvPr/>
          </p:nvSpPr>
          <p:spPr>
            <a:xfrm>
              <a:off x="6506718" y="2317432"/>
              <a:ext cx="16931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不覆盖历史记录修订形成新版本申诉与审批可追溯</a:t>
              </a:r>
            </a:p>
          </p:txBody>
        </p:sp>
      </p:grpSp>
      <p:grpSp>
        <p:nvGrpSpPr>
          <p:cNvPr id="25" name="Group 25"/>
          <p:cNvGrpSpPr/>
          <p:nvPr/>
        </p:nvGrpSpPr>
        <p:grpSpPr>
          <a:xfrm>
            <a:off x="9029700" y="1695450"/>
            <a:ext cx="2476500" cy="3143250"/>
            <a:chOff x="9029700" y="1695450"/>
            <a:chExt cx="2476500" cy="3143250"/>
          </a:xfrm>
        </p:grpSpPr>
        <p:sp>
          <p:nvSpPr>
            <p:cNvPr id="21" name="Rectangle 21"/>
            <p:cNvSpPr/>
            <p:nvPr/>
          </p:nvSpPr>
          <p:spPr>
            <a:xfrm>
              <a:off x="9029700" y="1695450"/>
              <a:ext cx="2476500" cy="3143250"/>
            </a:xfrm>
            <a:prstGeom prst="roundRect">
              <a:avLst>
                <a:gd name="adj" fmla="val 2308"/>
              </a:avLst>
            </a:prstGeom>
            <a:solidFill>
              <a:schemeClr val="lt2"/>
            </a:solidFill>
            <a:ln w="14288">
              <a:solidFill>
                <a:schemeClr val="accent6"/>
              </a:solidFill>
            </a:ln>
          </p:spPr>
        </p:sp>
        <p:sp>
          <p:nvSpPr>
            <p:cNvPr id="22" name="Rectangle 22"/>
            <p:cNvSpPr/>
            <p:nvPr/>
          </p:nvSpPr>
          <p:spPr>
            <a:xfrm>
              <a:off x="9029700" y="1695450"/>
              <a:ext cx="76200" cy="3143250"/>
            </a:xfrm>
            <a:prstGeom prst="roundRect">
              <a:avLst>
                <a:gd name="adj" fmla="val 50000"/>
              </a:avLst>
            </a:prstGeom>
            <a:solidFill>
              <a:srgbClr val="D3A84B"/>
            </a:solidFill>
            <a:ln>
              <a:noFill/>
            </a:ln>
          </p:spPr>
        </p:sp>
        <p:sp>
          <p:nvSpPr>
            <p:cNvPr id="23" name="TextBox 23"/>
            <p:cNvSpPr txBox="1"/>
            <p:nvPr/>
          </p:nvSpPr>
          <p:spPr>
            <a:xfrm>
              <a:off x="9284970" y="1852612"/>
              <a:ext cx="1030986" cy="440055"/>
            </a:xfrm>
            <a:prstGeom prst="rect">
              <a:avLst/>
            </a:prstGeom>
            <a:noFill/>
            <a:ln>
              <a:noFill/>
            </a:ln>
          </p:spPr>
          <p:txBody>
            <a:bodyPr wrap="none" lIns="0" tIns="0" rIns="0" bIns="0" anchor="t" anchorCtr="0">
              <a:spAutoFit/>
            </a:bodyPr>
            <a:lstStyle/>
            <a:p>
              <a:pPr algn="l"/>
              <a:r>
                <a:rPr lang="zh-CN" sz="2250" b="1" dirty="0">
                  <a:solidFill>
                    <a:srgbClr val="D3A84B"/>
                  </a:solidFill>
                  <a:latin typeface="+mj-lt"/>
                  <a:ea typeface="+mj-ea"/>
                  <a:cs typeface="+mj-cs"/>
                </a:rPr>
                <a:t>可复现</a:t>
              </a:r>
            </a:p>
          </p:txBody>
        </p:sp>
        <p:sp>
          <p:nvSpPr>
            <p:cNvPr id="24" name="TextBox 24"/>
            <p:cNvSpPr txBox="1"/>
            <p:nvPr/>
          </p:nvSpPr>
          <p:spPr>
            <a:xfrm>
              <a:off x="9288018" y="2317432"/>
              <a:ext cx="14836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一键环境与样例自动化测试基准和故障脚本</a:t>
              </a:r>
            </a:p>
          </p:txBody>
        </p:sp>
      </p:grpSp>
      <p:grpSp>
        <p:nvGrpSpPr>
          <p:cNvPr id="28" name="Group 28"/>
          <p:cNvGrpSpPr/>
          <p:nvPr/>
        </p:nvGrpSpPr>
        <p:grpSpPr>
          <a:xfrm>
            <a:off x="2114550" y="5124450"/>
            <a:ext cx="7962900" cy="666750"/>
            <a:chOff x="2114550" y="5124450"/>
            <a:chExt cx="7962900" cy="666750"/>
          </a:xfrm>
        </p:grpSpPr>
        <p:sp>
          <p:nvSpPr>
            <p:cNvPr id="26" name="Rectangle 26"/>
            <p:cNvSpPr/>
            <p:nvPr/>
          </p:nvSpPr>
          <p:spPr>
            <a:xfrm>
              <a:off x="2114550" y="5124450"/>
              <a:ext cx="7962900" cy="666750"/>
            </a:xfrm>
            <a:prstGeom prst="roundRect">
              <a:avLst>
                <a:gd name="adj" fmla="val 11429"/>
              </a:avLst>
            </a:prstGeom>
            <a:solidFill>
              <a:schemeClr val="accent1"/>
            </a:solidFill>
            <a:ln>
              <a:noFill/>
            </a:ln>
          </p:spPr>
        </p:sp>
        <p:sp>
          <p:nvSpPr>
            <p:cNvPr id="27" name="TextBox 27"/>
            <p:cNvSpPr txBox="1"/>
            <p:nvPr/>
          </p:nvSpPr>
          <p:spPr>
            <a:xfrm>
              <a:off x="2369820" y="5310188"/>
              <a:ext cx="6407658"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原则先行：每一项新能力都必须能被验收。</a:t>
              </a:r>
            </a:p>
          </p:txBody>
        </p:sp>
      </p:grpSp>
      <p:grpSp>
        <p:nvGrpSpPr>
          <p:cNvPr id="31" name="Group 31"/>
          <p:cNvGrpSpPr/>
          <p:nvPr/>
        </p:nvGrpSpPr>
        <p:grpSpPr>
          <a:xfrm>
            <a:off x="678942" y="6407468"/>
            <a:ext cx="10643616" cy="264033"/>
            <a:chOff x="678942" y="6407468"/>
            <a:chExt cx="10643616" cy="264033"/>
          </a:xfrm>
        </p:grpSpPr>
        <p:sp>
          <p:nvSpPr>
            <p:cNvPr id="29" name="TextBox 29"/>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0" name="TextBox 30"/>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513868"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SYSTEM ARCHITECTURE · 06</a:t>
              </a:r>
            </a:p>
          </p:txBody>
        </p:sp>
        <p:sp>
          <p:nvSpPr>
            <p:cNvPr id="3" name="TextBox 3"/>
            <p:cNvSpPr txBox="1"/>
            <p:nvPr/>
          </p:nvSpPr>
          <p:spPr>
            <a:xfrm>
              <a:off x="666750" y="738188"/>
              <a:ext cx="731901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总体架构：把可信边界画清楚</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36" name="Group 36"/>
          <p:cNvGrpSpPr/>
          <p:nvPr/>
        </p:nvGrpSpPr>
        <p:grpSpPr>
          <a:xfrm>
            <a:off x="685800" y="1695450"/>
            <a:ext cx="10820400" cy="4000500"/>
            <a:chOff x="685800" y="1695450"/>
            <a:chExt cx="10820400" cy="4000500"/>
          </a:xfrm>
        </p:grpSpPr>
        <p:sp>
          <p:nvSpPr>
            <p:cNvPr id="6" name="Rectangle 6"/>
            <p:cNvSpPr/>
            <p:nvPr/>
          </p:nvSpPr>
          <p:spPr>
            <a:xfrm>
              <a:off x="685800" y="1695450"/>
              <a:ext cx="10820400" cy="4000500"/>
            </a:xfrm>
            <a:prstGeom prst="roundRect">
              <a:avLst>
                <a:gd name="adj" fmla="val 1429"/>
              </a:avLst>
            </a:prstGeom>
            <a:solidFill>
              <a:schemeClr val="lt2"/>
            </a:solidFill>
            <a:ln w="14288">
              <a:solidFill>
                <a:schemeClr val="accent6"/>
              </a:solidFill>
            </a:ln>
          </p:spPr>
        </p:sp>
        <p:sp>
          <p:nvSpPr>
            <p:cNvPr id="7" name="Rectangle 7"/>
            <p:cNvSpPr/>
            <p:nvPr/>
          </p:nvSpPr>
          <p:spPr>
            <a:xfrm>
              <a:off x="914400" y="1952625"/>
              <a:ext cx="1905000" cy="3333750"/>
            </a:xfrm>
            <a:prstGeom prst="roundRect">
              <a:avLst>
                <a:gd name="adj" fmla="val 4000"/>
              </a:avLst>
            </a:prstGeom>
            <a:solidFill>
              <a:srgbClr val="E6EFEC"/>
            </a:solidFill>
            <a:ln>
              <a:noFill/>
            </a:ln>
          </p:spPr>
        </p:sp>
        <p:sp>
          <p:nvSpPr>
            <p:cNvPr id="8" name="TextBox 8"/>
            <p:cNvSpPr txBox="1"/>
            <p:nvPr/>
          </p:nvSpPr>
          <p:spPr>
            <a:xfrm>
              <a:off x="1015365" y="2100262"/>
              <a:ext cx="1703070" cy="440055"/>
            </a:xfrm>
            <a:prstGeom prst="rect">
              <a:avLst/>
            </a:prstGeom>
            <a:noFill/>
            <a:ln>
              <a:noFill/>
            </a:ln>
          </p:spPr>
          <p:txBody>
            <a:bodyPr wrap="none" lIns="0" tIns="0" rIns="0" bIns="0" anchor="t" anchorCtr="0">
              <a:spAutoFit/>
            </a:bodyPr>
            <a:lstStyle/>
            <a:p>
              <a:pPr algn="ctr"/>
              <a:r>
                <a:rPr lang="zh-CN" sz="2250" b="1" dirty="0">
                  <a:solidFill>
                    <a:schemeClr val="accent3"/>
                  </a:solidFill>
                  <a:latin typeface="+mj-lt"/>
                  <a:ea typeface="+mj-ea"/>
                  <a:cs typeface="+mj-cs"/>
                </a:rPr>
                <a:t>角色工作台</a:t>
              </a:r>
            </a:p>
          </p:txBody>
        </p:sp>
        <p:sp>
          <p:nvSpPr>
            <p:cNvPr id="9" name="Rectangle 9"/>
            <p:cNvSpPr/>
            <p:nvPr/>
          </p:nvSpPr>
          <p:spPr>
            <a:xfrm>
              <a:off x="1143000" y="2628900"/>
              <a:ext cx="1447800" cy="419100"/>
            </a:xfrm>
            <a:prstGeom prst="roundRect">
              <a:avLst>
                <a:gd name="adj" fmla="val 50000"/>
              </a:avLst>
            </a:prstGeom>
            <a:solidFill>
              <a:schemeClr val="lt2"/>
            </a:solidFill>
            <a:ln w="9525">
              <a:solidFill>
                <a:schemeClr val="accent3"/>
              </a:solidFill>
            </a:ln>
          </p:spPr>
        </p:sp>
        <p:sp>
          <p:nvSpPr>
            <p:cNvPr id="10" name="TextBox 10"/>
            <p:cNvSpPr txBox="1"/>
            <p:nvPr/>
          </p:nvSpPr>
          <p:spPr>
            <a:xfrm>
              <a:off x="1525333" y="271748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教务员</a:t>
              </a:r>
            </a:p>
          </p:txBody>
        </p:sp>
        <p:sp>
          <p:nvSpPr>
            <p:cNvPr id="11" name="Rectangle 11"/>
            <p:cNvSpPr/>
            <p:nvPr/>
          </p:nvSpPr>
          <p:spPr>
            <a:xfrm>
              <a:off x="1143000" y="3219450"/>
              <a:ext cx="1447800" cy="419100"/>
            </a:xfrm>
            <a:prstGeom prst="roundRect">
              <a:avLst>
                <a:gd name="adj" fmla="val 50000"/>
              </a:avLst>
            </a:prstGeom>
            <a:solidFill>
              <a:schemeClr val="lt2"/>
            </a:solidFill>
            <a:ln w="9525">
              <a:solidFill>
                <a:schemeClr val="accent3"/>
              </a:solidFill>
            </a:ln>
          </p:spPr>
        </p:sp>
        <p:sp>
          <p:nvSpPr>
            <p:cNvPr id="12" name="TextBox 12"/>
            <p:cNvSpPr txBox="1"/>
            <p:nvPr/>
          </p:nvSpPr>
          <p:spPr>
            <a:xfrm>
              <a:off x="1525333" y="330803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复核员</a:t>
              </a:r>
            </a:p>
          </p:txBody>
        </p:sp>
        <p:sp>
          <p:nvSpPr>
            <p:cNvPr id="13" name="Rectangle 13"/>
            <p:cNvSpPr/>
            <p:nvPr/>
          </p:nvSpPr>
          <p:spPr>
            <a:xfrm>
              <a:off x="1143000" y="3810000"/>
              <a:ext cx="1447800" cy="419100"/>
            </a:xfrm>
            <a:prstGeom prst="roundRect">
              <a:avLst>
                <a:gd name="adj" fmla="val 50000"/>
              </a:avLst>
            </a:prstGeom>
            <a:solidFill>
              <a:schemeClr val="lt2"/>
            </a:solidFill>
            <a:ln w="9525">
              <a:solidFill>
                <a:schemeClr val="accent3"/>
              </a:solidFill>
            </a:ln>
          </p:spPr>
        </p:sp>
        <p:sp>
          <p:nvSpPr>
            <p:cNvPr id="14" name="TextBox 14"/>
            <p:cNvSpPr txBox="1"/>
            <p:nvPr/>
          </p:nvSpPr>
          <p:spPr>
            <a:xfrm>
              <a:off x="1636395" y="3898582"/>
              <a:ext cx="461010"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学生</a:t>
              </a:r>
            </a:p>
          </p:txBody>
        </p:sp>
        <p:sp>
          <p:nvSpPr>
            <p:cNvPr id="15" name="Rectangle 15"/>
            <p:cNvSpPr/>
            <p:nvPr/>
          </p:nvSpPr>
          <p:spPr>
            <a:xfrm>
              <a:off x="1143000" y="4400550"/>
              <a:ext cx="1447800" cy="419100"/>
            </a:xfrm>
            <a:prstGeom prst="roundRect">
              <a:avLst>
                <a:gd name="adj" fmla="val 50000"/>
              </a:avLst>
            </a:prstGeom>
            <a:solidFill>
              <a:schemeClr val="lt2"/>
            </a:solidFill>
            <a:ln w="9525">
              <a:solidFill>
                <a:schemeClr val="accent3"/>
              </a:solidFill>
            </a:ln>
          </p:spPr>
        </p:sp>
        <p:sp>
          <p:nvSpPr>
            <p:cNvPr id="16" name="TextBox 16"/>
            <p:cNvSpPr txBox="1"/>
            <p:nvPr/>
          </p:nvSpPr>
          <p:spPr>
            <a:xfrm>
              <a:off x="1525333" y="4489132"/>
              <a:ext cx="683133" cy="322707"/>
            </a:xfrm>
            <a:prstGeom prst="rect">
              <a:avLst/>
            </a:prstGeom>
            <a:noFill/>
            <a:ln>
              <a:noFill/>
            </a:ln>
          </p:spPr>
          <p:txBody>
            <a:bodyPr wrap="none" lIns="0" tIns="0" rIns="0" bIns="0" anchor="t" anchorCtr="0">
              <a:spAutoFit/>
            </a:bodyPr>
            <a:lstStyle/>
            <a:p>
              <a:pPr algn="ctr"/>
              <a:r>
                <a:rPr lang="zh-CN" sz="1650" dirty="0">
                  <a:solidFill>
                    <a:schemeClr val="dk1"/>
                  </a:solidFill>
                  <a:latin typeface="+mn-lt"/>
                  <a:ea typeface="+mn-ea"/>
                  <a:cs typeface="+mn-cs"/>
                </a:rPr>
                <a:t>验证方</a:t>
              </a:r>
            </a:p>
          </p:txBody>
        </p:sp>
        <p:sp>
          <p:nvSpPr>
            <p:cNvPr id="17" name="Freeform 17"/>
            <p:cNvSpPr/>
            <p:nvPr/>
          </p:nvSpPr>
          <p:spPr>
            <a:xfrm>
              <a:off x="2952750" y="3619500"/>
              <a:ext cx="952500" cy="9525"/>
            </a:xfrm>
            <a:custGeom>
              <a:avLst/>
              <a:gdLst/>
              <a:ahLst/>
              <a:cxnLst/>
              <a:rect l="l" t="t" r="r" b="b"/>
              <a:pathLst>
                <a:path w="952500" h="9525">
                  <a:moveTo>
                    <a:pt x="0" y="0"/>
                  </a:moveTo>
                  <a:lnTo>
                    <a:pt x="952500" y="0"/>
                  </a:lnTo>
                </a:path>
              </a:pathLst>
            </a:custGeom>
            <a:solidFill>
              <a:srgbClr val="000000"/>
            </a:solidFill>
            <a:ln w="38100">
              <a:solidFill>
                <a:schemeClr val="accent6"/>
              </a:solidFill>
            </a:ln>
          </p:spPr>
        </p:sp>
        <p:sp>
          <p:nvSpPr>
            <p:cNvPr id="18" name="Rectangle 18"/>
            <p:cNvSpPr/>
            <p:nvPr/>
          </p:nvSpPr>
          <p:spPr>
            <a:xfrm>
              <a:off x="3905250" y="2381250"/>
              <a:ext cx="2095500" cy="2476500"/>
            </a:xfrm>
            <a:prstGeom prst="roundRect">
              <a:avLst>
                <a:gd name="adj" fmla="val 3636"/>
              </a:avLst>
            </a:prstGeom>
            <a:solidFill>
              <a:srgbClr val="F6E5DF"/>
            </a:solidFill>
            <a:ln>
              <a:noFill/>
            </a:ln>
          </p:spPr>
        </p:sp>
        <p:sp>
          <p:nvSpPr>
            <p:cNvPr id="19" name="TextBox 19"/>
            <p:cNvSpPr txBox="1"/>
            <p:nvPr/>
          </p:nvSpPr>
          <p:spPr>
            <a:xfrm>
              <a:off x="4269486" y="2538412"/>
              <a:ext cx="136702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mj-lt"/>
                  <a:ea typeface="+mj-ea"/>
                  <a:cs typeface="+mj-cs"/>
                </a:rPr>
                <a:t>应用服务</a:t>
              </a:r>
            </a:p>
          </p:txBody>
        </p:sp>
        <p:sp>
          <p:nvSpPr>
            <p:cNvPr id="20" name="TextBox 20"/>
            <p:cNvSpPr txBox="1"/>
            <p:nvPr/>
          </p:nvSpPr>
          <p:spPr>
            <a:xfrm>
              <a:off x="4220718" y="3060382"/>
              <a:ext cx="1305496"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身份与权限</a:t>
              </a:r>
            </a:p>
          </p:txBody>
        </p:sp>
        <p:sp>
          <p:nvSpPr>
            <p:cNvPr id="21" name="TextBox 21"/>
            <p:cNvSpPr txBox="1"/>
            <p:nvPr/>
          </p:nvSpPr>
          <p:spPr>
            <a:xfrm>
              <a:off x="4220718" y="3460432"/>
              <a:ext cx="1661732"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成绩/申诉 API</a:t>
              </a:r>
            </a:p>
          </p:txBody>
        </p:sp>
        <p:sp>
          <p:nvSpPr>
            <p:cNvPr id="22" name="TextBox 22"/>
            <p:cNvSpPr txBox="1"/>
            <p:nvPr/>
          </p:nvSpPr>
          <p:spPr>
            <a:xfrm>
              <a:off x="4220718" y="3860482"/>
              <a:ext cx="1462240"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VC 签发验证</a:t>
              </a:r>
            </a:p>
          </p:txBody>
        </p:sp>
        <p:sp>
          <p:nvSpPr>
            <p:cNvPr id="23" name="TextBox 23"/>
            <p:cNvSpPr txBox="1"/>
            <p:nvPr/>
          </p:nvSpPr>
          <p:spPr>
            <a:xfrm>
              <a:off x="4220718" y="4260532"/>
              <a:ext cx="1305496" cy="322707"/>
            </a:xfrm>
            <a:prstGeom prst="rect">
              <a:avLst/>
            </a:prstGeom>
            <a:noFill/>
            <a:ln>
              <a:noFill/>
            </a:ln>
          </p:spPr>
          <p:txBody>
            <a:bodyPr wrap="none" lIns="0" tIns="0" rIns="0" bIns="0" anchor="t" anchorCtr="0">
              <a:spAutoFit/>
            </a:bodyPr>
            <a:lstStyle/>
            <a:p>
              <a:pPr algn="l" marL="178118" indent="-178118">
                <a:buClr>
                  <a:schemeClr val="dk1"/>
                </a:buClr>
                <a:buSzTx/>
                <a:buFontTx/>
                <a:buChar char="•"/>
              </a:pPr>
              <a:r>
                <a:rPr lang="zh-CN" sz="1650" dirty="0">
                  <a:solidFill>
                    <a:schemeClr val="dk1"/>
                  </a:solidFill>
                  <a:latin typeface="+mn-lt"/>
                  <a:ea typeface="+mn-ea"/>
                  <a:cs typeface="+mn-cs"/>
                </a:rPr>
                <a:t>审计与指标</a:t>
              </a:r>
            </a:p>
          </p:txBody>
        </p:sp>
        <p:sp>
          <p:nvSpPr>
            <p:cNvPr id="24" name="Freeform 24"/>
            <p:cNvSpPr/>
            <p:nvPr/>
          </p:nvSpPr>
          <p:spPr>
            <a:xfrm>
              <a:off x="6153150" y="3619500"/>
              <a:ext cx="952500" cy="9525"/>
            </a:xfrm>
            <a:custGeom>
              <a:avLst/>
              <a:gdLst/>
              <a:ahLst/>
              <a:cxnLst/>
              <a:rect l="l" t="t" r="r" b="b"/>
              <a:pathLst>
                <a:path w="952500" h="9525">
                  <a:moveTo>
                    <a:pt x="0" y="0"/>
                  </a:moveTo>
                  <a:lnTo>
                    <a:pt x="952500" y="0"/>
                  </a:lnTo>
                </a:path>
              </a:pathLst>
            </a:custGeom>
            <a:solidFill>
              <a:srgbClr val="000000"/>
            </a:solidFill>
            <a:ln w="38100">
              <a:solidFill>
                <a:schemeClr val="accent6"/>
              </a:solidFill>
            </a:ln>
          </p:spPr>
        </p:sp>
        <p:sp>
          <p:nvSpPr>
            <p:cNvPr id="25" name="Rectangle 25"/>
            <p:cNvSpPr/>
            <p:nvPr/>
          </p:nvSpPr>
          <p:spPr>
            <a:xfrm>
              <a:off x="7105650" y="2047875"/>
              <a:ext cx="4095750" cy="3143250"/>
            </a:xfrm>
            <a:prstGeom prst="roundRect">
              <a:avLst>
                <a:gd name="adj" fmla="val 2424"/>
              </a:avLst>
            </a:prstGeom>
            <a:solidFill>
              <a:srgbClr val="EEF3F8"/>
            </a:solidFill>
            <a:ln w="9525">
              <a:solidFill>
                <a:schemeClr val="accent1"/>
              </a:solidFill>
            </a:ln>
          </p:spPr>
        </p:sp>
        <p:sp>
          <p:nvSpPr>
            <p:cNvPr id="26" name="TextBox 26"/>
            <p:cNvSpPr txBox="1"/>
            <p:nvPr/>
          </p:nvSpPr>
          <p:spPr>
            <a:xfrm>
              <a:off x="7565945" y="2205038"/>
              <a:ext cx="3175160"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mj-lt"/>
                  <a:ea typeface="+mj-ea"/>
                  <a:cs typeface="+mj-cs"/>
                </a:rPr>
                <a:t>Hyperledger Fabric</a:t>
              </a:r>
            </a:p>
          </p:txBody>
        </p:sp>
        <p:sp>
          <p:nvSpPr>
            <p:cNvPr id="27" name="Rectangle 27"/>
            <p:cNvSpPr/>
            <p:nvPr/>
          </p:nvSpPr>
          <p:spPr>
            <a:xfrm>
              <a:off x="7429500" y="2724150"/>
              <a:ext cx="1619250" cy="876300"/>
            </a:xfrm>
            <a:prstGeom prst="roundRect">
              <a:avLst>
                <a:gd name="adj" fmla="val 6522"/>
              </a:avLst>
            </a:prstGeom>
            <a:solidFill>
              <a:schemeClr val="lt2"/>
            </a:solidFill>
            <a:ln w="9525">
              <a:solidFill>
                <a:schemeClr val="accent1"/>
              </a:solidFill>
            </a:ln>
          </p:spPr>
        </p:sp>
        <p:sp>
          <p:nvSpPr>
            <p:cNvPr id="28" name="TextBox 28"/>
            <p:cNvSpPr txBox="1"/>
            <p:nvPr/>
          </p:nvSpPr>
          <p:spPr>
            <a:xfrm>
              <a:off x="7764285" y="2936558"/>
              <a:ext cx="949681" cy="322707"/>
            </a:xfrm>
            <a:prstGeom prst="rect">
              <a:avLst/>
            </a:prstGeom>
            <a:noFill/>
            <a:ln>
              <a:noFill/>
            </a:ln>
          </p:spPr>
          <p:txBody>
            <a:bodyPr wrap="none" lIns="0" tIns="0" rIns="0" bIns="0" anchor="t" anchorCtr="0">
              <a:spAutoFit/>
            </a:bodyPr>
            <a:lstStyle/>
            <a:p>
              <a:pPr algn="ctr"/>
              <a:r>
                <a:rPr lang="zh-CN" sz="1650" b="1" dirty="0">
                  <a:solidFill>
                    <a:schemeClr val="dk1"/>
                  </a:solidFill>
                  <a:latin typeface="+mn-lt"/>
                  <a:ea typeface="+mn-ea"/>
                  <a:cs typeface="+mn-cs"/>
                </a:rPr>
                <a:t>公共状态</a:t>
              </a:r>
            </a:p>
          </p:txBody>
        </p:sp>
        <p:sp>
          <p:nvSpPr>
            <p:cNvPr id="29" name="TextBox 29"/>
            <p:cNvSpPr txBox="1"/>
            <p:nvPr/>
          </p:nvSpPr>
          <p:spPr>
            <a:xfrm>
              <a:off x="7478058" y="3226118"/>
              <a:ext cx="152213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哈希 / 状态 / 审计</a:t>
              </a:r>
            </a:p>
          </p:txBody>
        </p:sp>
        <p:sp>
          <p:nvSpPr>
            <p:cNvPr id="30" name="Rectangle 30"/>
            <p:cNvSpPr/>
            <p:nvPr/>
          </p:nvSpPr>
          <p:spPr>
            <a:xfrm>
              <a:off x="9258300" y="2724150"/>
              <a:ext cx="1619250" cy="876300"/>
            </a:xfrm>
            <a:prstGeom prst="roundRect">
              <a:avLst>
                <a:gd name="adj" fmla="val 6522"/>
              </a:avLst>
            </a:prstGeom>
            <a:solidFill>
              <a:schemeClr val="lt2"/>
            </a:solidFill>
            <a:ln w="9525">
              <a:solidFill>
                <a:schemeClr val="accent3"/>
              </a:solidFill>
            </a:ln>
          </p:spPr>
        </p:sp>
        <p:sp>
          <p:nvSpPr>
            <p:cNvPr id="31" name="TextBox 31"/>
            <p:cNvSpPr txBox="1"/>
            <p:nvPr/>
          </p:nvSpPr>
          <p:spPr>
            <a:xfrm>
              <a:off x="9593085" y="2936558"/>
              <a:ext cx="949681" cy="322707"/>
            </a:xfrm>
            <a:prstGeom prst="rect">
              <a:avLst/>
            </a:prstGeom>
            <a:noFill/>
            <a:ln>
              <a:noFill/>
            </a:ln>
          </p:spPr>
          <p:txBody>
            <a:bodyPr wrap="none" lIns="0" tIns="0" rIns="0" bIns="0" anchor="t" anchorCtr="0">
              <a:spAutoFit/>
            </a:bodyPr>
            <a:lstStyle/>
            <a:p>
              <a:pPr algn="ctr"/>
              <a:r>
                <a:rPr lang="zh-CN" sz="1650" b="1" dirty="0">
                  <a:solidFill>
                    <a:schemeClr val="dk1"/>
                  </a:solidFill>
                  <a:latin typeface="+mn-lt"/>
                  <a:ea typeface="+mn-ea"/>
                  <a:cs typeface="+mn-cs"/>
                </a:rPr>
                <a:t>私有数据</a:t>
              </a:r>
            </a:p>
          </p:txBody>
        </p:sp>
        <p:sp>
          <p:nvSpPr>
            <p:cNvPr id="32" name="TextBox 32"/>
            <p:cNvSpPr txBox="1"/>
            <p:nvPr/>
          </p:nvSpPr>
          <p:spPr>
            <a:xfrm>
              <a:off x="9306858" y="3226118"/>
              <a:ext cx="152213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成绩 / 明细 / 授权</a:t>
              </a:r>
            </a:p>
          </p:txBody>
        </p:sp>
        <p:sp>
          <p:nvSpPr>
            <p:cNvPr id="33" name="Rectangle 33"/>
            <p:cNvSpPr/>
            <p:nvPr/>
          </p:nvSpPr>
          <p:spPr>
            <a:xfrm>
              <a:off x="7429500" y="3886200"/>
              <a:ext cx="3448050" cy="895350"/>
            </a:xfrm>
            <a:prstGeom prst="roundRect">
              <a:avLst>
                <a:gd name="adj" fmla="val 6383"/>
              </a:avLst>
            </a:prstGeom>
            <a:solidFill>
              <a:schemeClr val="lt2"/>
            </a:solidFill>
            <a:ln w="9525">
              <a:solidFill>
                <a:srgbClr val="D3A84B"/>
              </a:solidFill>
            </a:ln>
          </p:spPr>
        </p:sp>
        <p:sp>
          <p:nvSpPr>
            <p:cNvPr id="34" name="TextBox 34"/>
            <p:cNvSpPr txBox="1"/>
            <p:nvPr/>
          </p:nvSpPr>
          <p:spPr>
            <a:xfrm>
              <a:off x="7642135" y="4108132"/>
              <a:ext cx="3022780" cy="322707"/>
            </a:xfrm>
            <a:prstGeom prst="rect">
              <a:avLst/>
            </a:prstGeom>
            <a:noFill/>
            <a:ln>
              <a:noFill/>
            </a:ln>
          </p:spPr>
          <p:txBody>
            <a:bodyPr wrap="none" lIns="0" tIns="0" rIns="0" bIns="0" anchor="t" anchorCtr="0">
              <a:spAutoFit/>
            </a:bodyPr>
            <a:lstStyle/>
            <a:p>
              <a:pPr algn="ctr"/>
              <a:r>
                <a:rPr lang="en-US" sz="1650" b="1" dirty="0">
                  <a:solidFill>
                    <a:schemeClr val="dk1"/>
                  </a:solidFill>
                  <a:latin typeface="+mn-lt"/>
                  <a:ea typeface="+mn-ea"/>
                  <a:cs typeface="+mn-cs"/>
                </a:rPr>
                <a:t>2 Org + 1 Orderer + CCaaS</a:t>
              </a:r>
            </a:p>
          </p:txBody>
        </p:sp>
        <p:sp>
          <p:nvSpPr>
            <p:cNvPr id="35" name="TextBox 35"/>
            <p:cNvSpPr txBox="1"/>
            <p:nvPr/>
          </p:nvSpPr>
          <p:spPr>
            <a:xfrm>
              <a:off x="8147113" y="4407218"/>
              <a:ext cx="2012823"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链码、背书、账本、事件</a:t>
              </a:r>
            </a:p>
          </p:txBody>
        </p:sp>
      </p:grpSp>
      <p:grpSp>
        <p:nvGrpSpPr>
          <p:cNvPr id="39" name="Group 39"/>
          <p:cNvGrpSpPr/>
          <p:nvPr/>
        </p:nvGrpSpPr>
        <p:grpSpPr>
          <a:xfrm>
            <a:off x="678942" y="6407468"/>
            <a:ext cx="10643616" cy="264033"/>
            <a:chOff x="678942" y="6407468"/>
            <a:chExt cx="10643616" cy="264033"/>
          </a:xfrm>
        </p:grpSpPr>
        <p:sp>
          <p:nvSpPr>
            <p:cNvPr id="37" name="TextBox 3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8" name="TextBox 3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83842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ITERATION MAP · 07</a:t>
              </a:r>
            </a:p>
          </p:txBody>
        </p:sp>
        <p:sp>
          <p:nvSpPr>
            <p:cNvPr id="3" name="TextBox 3"/>
            <p:cNvSpPr txBox="1"/>
            <p:nvPr/>
          </p:nvSpPr>
          <p:spPr>
            <a:xfrm>
              <a:off x="666750" y="738188"/>
              <a:ext cx="955929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七阶段迭代：每次优化都回应一个缺口</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10820400" cy="3333750"/>
            <a:chOff x="685800" y="1695450"/>
            <a:chExt cx="10820400" cy="3333750"/>
          </a:xfrm>
        </p:grpSpPr>
        <p:sp>
          <p:nvSpPr>
            <p:cNvPr id="6" name="Rectangle 6"/>
            <p:cNvSpPr/>
            <p:nvPr/>
          </p:nvSpPr>
          <p:spPr>
            <a:xfrm>
              <a:off x="685800" y="1695450"/>
              <a:ext cx="10820400" cy="3333750"/>
            </a:xfrm>
            <a:prstGeom prst="roundRect">
              <a:avLst>
                <a:gd name="adj" fmla="val 2286"/>
              </a:avLst>
            </a:prstGeom>
            <a:solidFill>
              <a:schemeClr val="lt2"/>
            </a:solidFill>
            <a:ln w="9525">
              <a:solidFill>
                <a:schemeClr val="accent6"/>
              </a:solidFill>
            </a:ln>
          </p:spPr>
        </p:sp>
        <p:pic>
          <p:nvPicPr>
            <p:cNvPr id="7" name="Image 7"/>
            <p:cNvPicPr>
              <a:picLocks noChangeAspect="1"/>
            </p:cNvPicPr>
            <p:nvPr/>
          </p:nvPicPr>
          <p:blipFill>
            <a:blip r:embed="rId2"/>
            <a:srcRect l="0" t="23284" r="0" b="23284"/>
            <a:stretch>
              <a:fillRect/>
            </a:stretch>
          </p:blipFill>
          <p:spPr>
            <a:xfrm>
              <a:off x="742950" y="1752600"/>
              <a:ext cx="10706100" cy="3219450"/>
            </a:xfrm>
            <a:prstGeom prst="rect">
              <a:avLst/>
            </a:prstGeom>
          </p:spPr>
        </p:pic>
      </p:grpSp>
      <p:grpSp>
        <p:nvGrpSpPr>
          <p:cNvPr id="17" name="Group 17"/>
          <p:cNvGrpSpPr/>
          <p:nvPr/>
        </p:nvGrpSpPr>
        <p:grpSpPr>
          <a:xfrm>
            <a:off x="677418" y="5283518"/>
            <a:ext cx="10380189" cy="671321"/>
            <a:chOff x="677418" y="5283518"/>
            <a:chExt cx="10380189" cy="671321"/>
          </a:xfrm>
        </p:grpSpPr>
        <p:sp>
          <p:nvSpPr>
            <p:cNvPr id="9" name="TextBox 9"/>
            <p:cNvSpPr txBox="1"/>
            <p:nvPr/>
          </p:nvSpPr>
          <p:spPr>
            <a:xfrm>
              <a:off x="869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1. 存证查询</a:t>
              </a:r>
            </a:p>
          </p:txBody>
        </p:sp>
        <p:sp>
          <p:nvSpPr>
            <p:cNvPr id="10" name="TextBox 10"/>
            <p:cNvSpPr txBox="1"/>
            <p:nvPr/>
          </p:nvSpPr>
          <p:spPr>
            <a:xfrm>
              <a:off x="2393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2. 角色审批</a:t>
              </a:r>
            </a:p>
          </p:txBody>
        </p:sp>
        <p:sp>
          <p:nvSpPr>
            <p:cNvPr id="11" name="TextBox 11"/>
            <p:cNvSpPr txBox="1"/>
            <p:nvPr/>
          </p:nvSpPr>
          <p:spPr>
            <a:xfrm>
              <a:off x="3917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3. 隐私边界</a:t>
              </a:r>
            </a:p>
          </p:txBody>
        </p:sp>
        <p:sp>
          <p:nvSpPr>
            <p:cNvPr id="12" name="TextBox 12"/>
            <p:cNvSpPr txBox="1"/>
            <p:nvPr/>
          </p:nvSpPr>
          <p:spPr>
            <a:xfrm>
              <a:off x="5441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4. 修订申诉</a:t>
              </a:r>
            </a:p>
          </p:txBody>
        </p:sp>
        <p:sp>
          <p:nvSpPr>
            <p:cNvPr id="13" name="TextBox 13"/>
            <p:cNvSpPr txBox="1"/>
            <p:nvPr/>
          </p:nvSpPr>
          <p:spPr>
            <a:xfrm>
              <a:off x="6965442" y="5283518"/>
              <a:ext cx="9311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5. 角色 UI</a:t>
              </a:r>
            </a:p>
          </p:txBody>
        </p:sp>
        <p:sp>
          <p:nvSpPr>
            <p:cNvPr id="14" name="TextBox 14"/>
            <p:cNvSpPr txBox="1"/>
            <p:nvPr/>
          </p:nvSpPr>
          <p:spPr>
            <a:xfrm>
              <a:off x="8489442" y="5283518"/>
              <a:ext cx="98151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6. 标准 VC</a:t>
              </a:r>
            </a:p>
          </p:txBody>
        </p:sp>
        <p:sp>
          <p:nvSpPr>
            <p:cNvPr id="15" name="TextBox 15"/>
            <p:cNvSpPr txBox="1"/>
            <p:nvPr/>
          </p:nvSpPr>
          <p:spPr>
            <a:xfrm>
              <a:off x="10013442" y="5283518"/>
              <a:ext cx="1044165"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mn-lt"/>
                  <a:ea typeface="+mn-ea"/>
                  <a:cs typeface="+mn-cs"/>
                </a:rPr>
                <a:t>7. 基准韧性</a:t>
              </a:r>
            </a:p>
          </p:txBody>
        </p:sp>
        <p:sp>
          <p:nvSpPr>
            <p:cNvPr id="16" name="TextBox 16"/>
            <p:cNvSpPr txBox="1"/>
            <p:nvPr/>
          </p:nvSpPr>
          <p:spPr>
            <a:xfrm>
              <a:off x="677418" y="5632132"/>
              <a:ext cx="6947002" cy="322707"/>
            </a:xfrm>
            <a:prstGeom prst="rect">
              <a:avLst/>
            </a:prstGeom>
            <a:noFill/>
            <a:ln>
              <a:noFill/>
            </a:ln>
          </p:spPr>
          <p:txBody>
            <a:bodyPr wrap="none" lIns="0" tIns="0" rIns="0" bIns="0" anchor="t" anchorCtr="0">
              <a:spAutoFit/>
            </a:bodyPr>
            <a:lstStyle/>
            <a:p>
              <a:pPr algn="l"/>
              <a:r>
                <a:rPr lang="zh-CN" sz="1650" dirty="0">
                  <a:solidFill>
                    <a:schemeClr val="accent5"/>
                  </a:solidFill>
                  <a:latin typeface="+mn-lt"/>
                  <a:ea typeface="+mn-ea"/>
                  <a:cs typeface="+mn-cs"/>
                </a:rPr>
                <a:t>主线没有改变：成绩可信；能力逐步从“能用”推进到“可证、可扩展”。</a:t>
              </a:r>
            </a:p>
          </p:txBody>
        </p:sp>
      </p:grpSp>
      <p:grpSp>
        <p:nvGrpSpPr>
          <p:cNvPr id="20" name="Group 20"/>
          <p:cNvGrpSpPr/>
          <p:nvPr/>
        </p:nvGrpSpPr>
        <p:grpSpPr>
          <a:xfrm>
            <a:off x="678942" y="6407468"/>
            <a:ext cx="10643616" cy="264033"/>
            <a:chOff x="678942" y="6407468"/>
            <a:chExt cx="10643616" cy="264033"/>
          </a:xfrm>
        </p:grpSpPr>
        <p:sp>
          <p:nvSpPr>
            <p:cNvPr id="18" name="TextBox 18"/>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19" name="TextBox 19"/>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08</a:t>
              </a:r>
            </a:p>
          </p:txBody>
        </p:sp>
        <p:sp>
          <p:nvSpPr>
            <p:cNvPr id="3" name="TextBox 3"/>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1｜从数据库记录到链上存证</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5143500" cy="1905000"/>
            <a:chOff x="685800" y="1695450"/>
            <a:chExt cx="5143500" cy="1905000"/>
          </a:xfrm>
        </p:grpSpPr>
        <p:sp>
          <p:nvSpPr>
            <p:cNvPr id="6" name="Rectangle 6"/>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7" name="Rectangle 7"/>
            <p:cNvSpPr/>
            <p:nvPr/>
          </p:nvSpPr>
          <p:spPr>
            <a:xfrm>
              <a:off x="685800" y="1695450"/>
              <a:ext cx="76200" cy="1905000"/>
            </a:xfrm>
            <a:prstGeom prst="roundRect">
              <a:avLst>
                <a:gd name="adj" fmla="val 50000"/>
              </a:avLst>
            </a:prstGeom>
            <a:solidFill>
              <a:schemeClr val="accent2"/>
            </a:solidFill>
            <a:ln>
              <a:noFill/>
            </a:ln>
          </p:spPr>
        </p:sp>
        <p:sp>
          <p:nvSpPr>
            <p:cNvPr id="8" name="TextBox 8"/>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9" name="TextBox 9"/>
            <p:cNvSpPr txBox="1"/>
            <p:nvPr/>
          </p:nvSpPr>
          <p:spPr>
            <a:xfrm>
              <a:off x="944118" y="231743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传统数据库可由单一管理员直接改写查询结果缺少跨组织可核验凭据</a:t>
              </a:r>
            </a:p>
          </p:txBody>
        </p:sp>
      </p:grpSp>
      <p:grpSp>
        <p:nvGrpSpPr>
          <p:cNvPr id="15" name="Group 15"/>
          <p:cNvGrpSpPr/>
          <p:nvPr/>
        </p:nvGrpSpPr>
        <p:grpSpPr>
          <a:xfrm>
            <a:off x="6362700" y="1695450"/>
            <a:ext cx="5143500" cy="1905000"/>
            <a:chOff x="6362700" y="1695450"/>
            <a:chExt cx="5143500" cy="1905000"/>
          </a:xfrm>
        </p:grpSpPr>
        <p:sp>
          <p:nvSpPr>
            <p:cNvPr id="11" name="Rectangle 11"/>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2" name="Rectangle 12"/>
            <p:cNvSpPr/>
            <p:nvPr/>
          </p:nvSpPr>
          <p:spPr>
            <a:xfrm>
              <a:off x="6362700" y="1695450"/>
              <a:ext cx="76200" cy="1905000"/>
            </a:xfrm>
            <a:prstGeom prst="roundRect">
              <a:avLst>
                <a:gd name="adj" fmla="val 50000"/>
              </a:avLst>
            </a:prstGeom>
            <a:solidFill>
              <a:schemeClr val="accent1"/>
            </a:solidFill>
            <a:ln>
              <a:noFill/>
            </a:ln>
          </p:spPr>
        </p:sp>
        <p:sp>
          <p:nvSpPr>
            <p:cNvPr id="13" name="TextBox 13"/>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4" name="TextBox 14"/>
            <p:cNvSpPr txBox="1"/>
            <p:nvPr/>
          </p:nvSpPr>
          <p:spPr>
            <a:xfrm>
              <a:off x="6621018" y="2317432"/>
              <a:ext cx="297141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定义 GradeAsset 与唯一业务键签发、查询、历史记录进入链码</a:t>
              </a:r>
            </a:p>
          </p:txBody>
        </p:sp>
      </p:grpSp>
      <p:grpSp>
        <p:nvGrpSpPr>
          <p:cNvPr id="20" name="Group 20"/>
          <p:cNvGrpSpPr/>
          <p:nvPr/>
        </p:nvGrpSpPr>
        <p:grpSpPr>
          <a:xfrm>
            <a:off x="685800" y="3886200"/>
            <a:ext cx="5143500" cy="1905000"/>
            <a:chOff x="685800" y="3886200"/>
            <a:chExt cx="5143500" cy="1905000"/>
          </a:xfrm>
        </p:grpSpPr>
        <p:sp>
          <p:nvSpPr>
            <p:cNvPr id="16" name="Rectangle 16"/>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7" name="Rectangle 17"/>
            <p:cNvSpPr/>
            <p:nvPr/>
          </p:nvSpPr>
          <p:spPr>
            <a:xfrm>
              <a:off x="685800" y="3886200"/>
              <a:ext cx="76200" cy="1905000"/>
            </a:xfrm>
            <a:prstGeom prst="roundRect">
              <a:avLst>
                <a:gd name="adj" fmla="val 50000"/>
              </a:avLst>
            </a:prstGeom>
            <a:solidFill>
              <a:schemeClr val="accent3"/>
            </a:solidFill>
            <a:ln>
              <a:noFill/>
            </a:ln>
          </p:spPr>
        </p:sp>
        <p:sp>
          <p:nvSpPr>
            <p:cNvPr id="18" name="TextBox 18"/>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19" name="TextBox 19"/>
            <p:cNvSpPr txBox="1"/>
            <p:nvPr/>
          </p:nvSpPr>
          <p:spPr>
            <a:xfrm>
              <a:off x="944118" y="4508182"/>
              <a:ext cx="322287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完成最小闭环：签发 → 查询 → 历史公共哈希使结果可被独立复核</a:t>
              </a:r>
            </a:p>
          </p:txBody>
        </p:sp>
      </p:grpSp>
      <p:grpSp>
        <p:nvGrpSpPr>
          <p:cNvPr id="25" name="Group 25"/>
          <p:cNvGrpSpPr/>
          <p:nvPr/>
        </p:nvGrpSpPr>
        <p:grpSpPr>
          <a:xfrm>
            <a:off x="6362700" y="3886200"/>
            <a:ext cx="5143500" cy="1905000"/>
            <a:chOff x="6362700" y="3886200"/>
            <a:chExt cx="5143500" cy="1905000"/>
          </a:xfrm>
        </p:grpSpPr>
        <p:sp>
          <p:nvSpPr>
            <p:cNvPr id="21" name="Rectangle 21"/>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2" name="Rectangle 22"/>
            <p:cNvSpPr/>
            <p:nvPr/>
          </p:nvSpPr>
          <p:spPr>
            <a:xfrm>
              <a:off x="6362700" y="3886200"/>
              <a:ext cx="76200" cy="1905000"/>
            </a:xfrm>
            <a:prstGeom prst="roundRect">
              <a:avLst>
                <a:gd name="adj" fmla="val 50000"/>
              </a:avLst>
            </a:prstGeom>
            <a:solidFill>
              <a:schemeClr val="accent2"/>
            </a:solidFill>
            <a:ln>
              <a:noFill/>
            </a:ln>
          </p:spPr>
        </p:sp>
        <p:sp>
          <p:nvSpPr>
            <p:cNvPr id="23" name="TextBox 23"/>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4" name="TextBox 24"/>
            <p:cNvSpPr txBox="1"/>
            <p:nvPr/>
          </p:nvSpPr>
          <p:spPr>
            <a:xfrm>
              <a:off x="66210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任何调用者仍可能越权隐私明文与审批职责尚未分离</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4956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CORE CODE · 09</a:t>
              </a:r>
            </a:p>
          </p:txBody>
        </p:sp>
        <p:sp>
          <p:nvSpPr>
            <p:cNvPr id="3" name="TextBox 3"/>
            <p:cNvSpPr txBox="1"/>
            <p:nvPr/>
          </p:nvSpPr>
          <p:spPr>
            <a:xfrm>
              <a:off x="666750" y="738188"/>
              <a:ext cx="10763441"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1 核心代码：公开承诺与私有明细分离</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6858000" cy="3829050"/>
            <a:chOff x="685800" y="1695450"/>
            <a:chExt cx="6858000" cy="3829050"/>
          </a:xfrm>
        </p:grpSpPr>
        <p:sp>
          <p:nvSpPr>
            <p:cNvPr id="6" name="Rectangle 6"/>
            <p:cNvSpPr/>
            <p:nvPr/>
          </p:nvSpPr>
          <p:spPr>
            <a:xfrm>
              <a:off x="685800" y="1695450"/>
              <a:ext cx="6858000" cy="3829050"/>
            </a:xfrm>
            <a:prstGeom prst="roundRect">
              <a:avLst>
                <a:gd name="adj" fmla="val 1741"/>
              </a:avLst>
            </a:prstGeom>
            <a:solidFill>
              <a:srgbClr val="12202D"/>
            </a:solidFill>
            <a:ln>
              <a:noFill/>
            </a:ln>
          </p:spPr>
        </p:sp>
        <p:sp>
          <p:nvSpPr>
            <p:cNvPr id="7" name="Ellipse 7"/>
            <p:cNvSpPr/>
            <p:nvPr/>
          </p:nvSpPr>
          <p:spPr>
            <a:xfrm>
              <a:off x="847725" y="1838325"/>
              <a:ext cx="95250" cy="95250"/>
            </a:xfrm>
            <a:prstGeom prst="ellipse">
              <a:avLst/>
            </a:prstGeom>
            <a:solidFill>
              <a:schemeClr val="accent2"/>
            </a:solidFill>
            <a:ln>
              <a:noFill/>
            </a:ln>
          </p:spPr>
        </p:sp>
        <p:sp>
          <p:nvSpPr>
            <p:cNvPr id="8" name="Ellipse 8"/>
            <p:cNvSpPr/>
            <p:nvPr/>
          </p:nvSpPr>
          <p:spPr>
            <a:xfrm>
              <a:off x="1019175" y="1838325"/>
              <a:ext cx="95250" cy="95250"/>
            </a:xfrm>
            <a:prstGeom prst="ellipse">
              <a:avLst/>
            </a:prstGeom>
            <a:solidFill>
              <a:srgbClr val="D3A84B"/>
            </a:solidFill>
            <a:ln>
              <a:noFill/>
            </a:ln>
          </p:spPr>
        </p:sp>
        <p:sp>
          <p:nvSpPr>
            <p:cNvPr id="9" name="Ellipse 9"/>
            <p:cNvSpPr/>
            <p:nvPr/>
          </p:nvSpPr>
          <p:spPr>
            <a:xfrm>
              <a:off x="1190625" y="1838325"/>
              <a:ext cx="95250" cy="95250"/>
            </a:xfrm>
            <a:prstGeom prst="ellipse">
              <a:avLst/>
            </a:prstGeom>
            <a:solidFill>
              <a:schemeClr val="accent3"/>
            </a:solidFill>
            <a:ln>
              <a:noFill/>
            </a:ln>
          </p:spPr>
        </p:sp>
        <p:sp>
          <p:nvSpPr>
            <p:cNvPr id="10" name="TextBox 10"/>
            <p:cNvSpPr txBox="1"/>
            <p:nvPr/>
          </p:nvSpPr>
          <p:spPr>
            <a:xfrm>
              <a:off x="888492" y="2102168"/>
              <a:ext cx="5045774" cy="2321433"/>
            </a:xfrm>
            <a:prstGeom prst="rect">
              <a:avLst/>
            </a:prstGeom>
            <a:noFill/>
            <a:ln>
              <a:noFill/>
            </a:ln>
          </p:spPr>
          <p:txBody>
            <a:bodyPr wrap="square" lIns="0" tIns="0" rIns="0" bIns="0" anchor="t" anchorCtr="0"/>
            <a:lstStyle/>
            <a:p>
              <a:pPr algn="l">
                <a:lnSpc>
                  <a:spcPts val="2025"/>
                </a:lnSpc>
              </a:pPr>
              <a:r>
                <a:rPr lang="en-US" sz="1350" dirty="0">
                  <a:solidFill>
                    <a:srgbClr val="DCE7EF"/>
                  </a:solidFill>
                  <a:latin typeface="Consolas"/>
                  <a:ea typeface="Consolas"/>
                  <a:cs typeface="Consolas"/>
                </a:rPr>
                <a:t xml:space="preserve">async IssueGrade(ctx, publicInput) { const secret = this.readTransient(ctx); </a:t>
              </a:r>
              <a:r>
                <a:rPr lang="en-US" sz="1350" dirty="0">
                  <a:solidFill>
                    <a:srgbClr val="6DD3CE"/>
                  </a:solidFill>
                  <a:latin typeface="Consolas"/>
                  <a:ea typeface="Consolas"/>
                  <a:cs typeface="Consolas"/>
                </a:rPr>
                <a:t xml:space="preserve">const digest = sha256(canonical(secret)); await ctx.stub.putState(key, { </a:t>
              </a:r>
              <a:r>
                <a:rPr lang="en-US" sz="1350" dirty="0">
                  <a:solidFill>
                    <a:srgbClr val="DCE7EF"/>
                  </a:solidFill>
                  <a:latin typeface="Consolas"/>
                  <a:ea typeface="Consolas"/>
                  <a:cs typeface="Consolas"/>
                </a:rPr>
                <a:t xml:space="preserve">...publicInput, privateHash: digest, status: "ISSUED" }); </a:t>
              </a:r>
              <a:r>
                <a:rPr lang="en-US" sz="1350" dirty="0">
                  <a:solidFill>
                    <a:srgbClr val="6DD3CE"/>
                  </a:solidFill>
                  <a:latin typeface="Consolas"/>
                  <a:ea typeface="Consolas"/>
                  <a:cs typeface="Consolas"/>
                </a:rPr>
                <a:t xml:space="preserve">await ctx.stub.putPrivateData(COLLECTION, key, secret); </a:t>
              </a:r>
              <a:r>
                <a:rPr lang="en-US" sz="1350" dirty="0">
                  <a:solidFill>
                    <a:srgbClr val="DCE7EF"/>
                  </a:solidFill>
                  <a:latin typeface="Consolas"/>
                  <a:ea typeface="Consolas"/>
                  <a:cs typeface="Consolas"/>
                </a:rPr>
                <a:t>}</a:t>
              </a:r>
            </a:p>
          </p:txBody>
        </p:sp>
      </p:grpSp>
      <p:grpSp>
        <p:nvGrpSpPr>
          <p:cNvPr id="16" name="Group 16"/>
          <p:cNvGrpSpPr/>
          <p:nvPr/>
        </p:nvGrpSpPr>
        <p:grpSpPr>
          <a:xfrm>
            <a:off x="7848600" y="1695450"/>
            <a:ext cx="3657600" cy="1809750"/>
            <a:chOff x="7848600" y="1695450"/>
            <a:chExt cx="3657600" cy="1809750"/>
          </a:xfrm>
        </p:grpSpPr>
        <p:sp>
          <p:nvSpPr>
            <p:cNvPr id="12" name="Rectangle 12"/>
            <p:cNvSpPr/>
            <p:nvPr/>
          </p:nvSpPr>
          <p:spPr>
            <a:xfrm>
              <a:off x="7848600" y="1695450"/>
              <a:ext cx="3657600" cy="1809750"/>
            </a:xfrm>
            <a:prstGeom prst="roundRect">
              <a:avLst>
                <a:gd name="adj" fmla="val 3158"/>
              </a:avLst>
            </a:prstGeom>
            <a:solidFill>
              <a:schemeClr val="lt2"/>
            </a:solidFill>
            <a:ln w="14288">
              <a:solidFill>
                <a:schemeClr val="accent6"/>
              </a:solidFill>
            </a:ln>
          </p:spPr>
        </p:sp>
        <p:sp>
          <p:nvSpPr>
            <p:cNvPr id="13" name="Rectangle 13"/>
            <p:cNvSpPr/>
            <p:nvPr/>
          </p:nvSpPr>
          <p:spPr>
            <a:xfrm>
              <a:off x="7848600" y="1695450"/>
              <a:ext cx="76200" cy="1809750"/>
            </a:xfrm>
            <a:prstGeom prst="roundRect">
              <a:avLst>
                <a:gd name="adj" fmla="val 50000"/>
              </a:avLst>
            </a:prstGeom>
            <a:solidFill>
              <a:schemeClr val="accent3"/>
            </a:solidFill>
            <a:ln>
              <a:noFill/>
            </a:ln>
          </p:spPr>
        </p:sp>
        <p:sp>
          <p:nvSpPr>
            <p:cNvPr id="14" name="TextBox 14"/>
            <p:cNvSpPr txBox="1"/>
            <p:nvPr/>
          </p:nvSpPr>
          <p:spPr>
            <a:xfrm>
              <a:off x="81038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为什么这样写</a:t>
              </a:r>
            </a:p>
          </p:txBody>
        </p:sp>
        <p:sp>
          <p:nvSpPr>
            <p:cNvPr id="15" name="TextBox 15"/>
            <p:cNvSpPr txBox="1"/>
            <p:nvPr/>
          </p:nvSpPr>
          <p:spPr>
            <a:xfrm>
              <a:off x="8106918" y="2317432"/>
              <a:ext cx="21122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公开账本只保存承诺值成绩明细进入私有集合同一业务键把两者关联</a:t>
              </a:r>
            </a:p>
          </p:txBody>
        </p:sp>
      </p:grpSp>
      <p:grpSp>
        <p:nvGrpSpPr>
          <p:cNvPr id="21" name="Group 21"/>
          <p:cNvGrpSpPr/>
          <p:nvPr/>
        </p:nvGrpSpPr>
        <p:grpSpPr>
          <a:xfrm>
            <a:off x="7848600" y="3695700"/>
            <a:ext cx="3657600" cy="1828800"/>
            <a:chOff x="7848600" y="3695700"/>
            <a:chExt cx="3657600" cy="1828800"/>
          </a:xfrm>
        </p:grpSpPr>
        <p:sp>
          <p:nvSpPr>
            <p:cNvPr id="17" name="Rectangle 17"/>
            <p:cNvSpPr/>
            <p:nvPr/>
          </p:nvSpPr>
          <p:spPr>
            <a:xfrm>
              <a:off x="7848600" y="3695700"/>
              <a:ext cx="3657600" cy="1828800"/>
            </a:xfrm>
            <a:prstGeom prst="roundRect">
              <a:avLst>
                <a:gd name="adj" fmla="val 3125"/>
              </a:avLst>
            </a:prstGeom>
            <a:solidFill>
              <a:schemeClr val="lt2"/>
            </a:solidFill>
            <a:ln w="14288">
              <a:solidFill>
                <a:schemeClr val="accent6"/>
              </a:solidFill>
            </a:ln>
          </p:spPr>
        </p:sp>
        <p:sp>
          <p:nvSpPr>
            <p:cNvPr id="18" name="Rectangle 18"/>
            <p:cNvSpPr/>
            <p:nvPr/>
          </p:nvSpPr>
          <p:spPr>
            <a:xfrm>
              <a:off x="7848600" y="3695700"/>
              <a:ext cx="76200" cy="1828800"/>
            </a:xfrm>
            <a:prstGeom prst="roundRect">
              <a:avLst>
                <a:gd name="adj" fmla="val 50000"/>
              </a:avLst>
            </a:prstGeom>
            <a:solidFill>
              <a:schemeClr val="accent1"/>
            </a:solidFill>
            <a:ln>
              <a:noFill/>
            </a:ln>
          </p:spPr>
        </p:sp>
        <p:sp>
          <p:nvSpPr>
            <p:cNvPr id="19" name="TextBox 19"/>
            <p:cNvSpPr txBox="1"/>
            <p:nvPr/>
          </p:nvSpPr>
          <p:spPr>
            <a:xfrm>
              <a:off x="8103870" y="385286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得到什么</a:t>
              </a:r>
            </a:p>
          </p:txBody>
        </p:sp>
        <p:sp>
          <p:nvSpPr>
            <p:cNvPr id="20" name="TextBox 20"/>
            <p:cNvSpPr txBox="1"/>
            <p:nvPr/>
          </p:nvSpPr>
          <p:spPr>
            <a:xfrm>
              <a:off x="8106918" y="431768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外部可验证记录未被替换授权组织能读取真实成绩后续修订仍可保留旧版本</a:t>
              </a:r>
            </a:p>
          </p:txBody>
        </p:sp>
      </p:grpSp>
      <p:grpSp>
        <p:nvGrpSpPr>
          <p:cNvPr id="24" name="Group 24"/>
          <p:cNvGrpSpPr/>
          <p:nvPr/>
        </p:nvGrpSpPr>
        <p:grpSpPr>
          <a:xfrm>
            <a:off x="678942" y="6407468"/>
            <a:ext cx="10643616" cy="264033"/>
            <a:chOff x="678942" y="6407468"/>
            <a:chExt cx="10643616" cy="264033"/>
          </a:xfrm>
        </p:grpSpPr>
        <p:sp>
          <p:nvSpPr>
            <p:cNvPr id="22" name="TextBox 22"/>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3" name="TextBox 23"/>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10</a:t>
              </a:r>
            </a:p>
          </p:txBody>
        </p:sp>
        <p:sp>
          <p:nvSpPr>
            <p:cNvPr id="3" name="TextBox 3"/>
            <p:cNvSpPr txBox="1"/>
            <p:nvPr/>
          </p:nvSpPr>
          <p:spPr>
            <a:xfrm>
              <a:off x="666750" y="738188"/>
              <a:ext cx="779507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2｜用四角色流程限制权力</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5143500" cy="1905000"/>
            <a:chOff x="685800" y="1695450"/>
            <a:chExt cx="5143500" cy="1905000"/>
          </a:xfrm>
        </p:grpSpPr>
        <p:sp>
          <p:nvSpPr>
            <p:cNvPr id="6" name="Rectangle 6"/>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7" name="Rectangle 7"/>
            <p:cNvSpPr/>
            <p:nvPr/>
          </p:nvSpPr>
          <p:spPr>
            <a:xfrm>
              <a:off x="685800" y="1695450"/>
              <a:ext cx="76200" cy="1905000"/>
            </a:xfrm>
            <a:prstGeom prst="roundRect">
              <a:avLst>
                <a:gd name="adj" fmla="val 50000"/>
              </a:avLst>
            </a:prstGeom>
            <a:solidFill>
              <a:schemeClr val="accent2"/>
            </a:solidFill>
            <a:ln>
              <a:noFill/>
            </a:ln>
          </p:spPr>
        </p:sp>
        <p:sp>
          <p:nvSpPr>
            <p:cNvPr id="8" name="TextBox 8"/>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9" name="TextBox 9"/>
            <p:cNvSpPr txBox="1"/>
            <p:nvPr/>
          </p:nvSpPr>
          <p:spPr>
            <a:xfrm>
              <a:off x="944118" y="2317432"/>
              <a:ext cx="255231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签发与确认集中在一个身份无法证明“谁提出、谁复核”</a:t>
              </a:r>
            </a:p>
          </p:txBody>
        </p:sp>
      </p:grpSp>
      <p:grpSp>
        <p:nvGrpSpPr>
          <p:cNvPr id="15" name="Group 15"/>
          <p:cNvGrpSpPr/>
          <p:nvPr/>
        </p:nvGrpSpPr>
        <p:grpSpPr>
          <a:xfrm>
            <a:off x="6362700" y="1695450"/>
            <a:ext cx="5143500" cy="1905000"/>
            <a:chOff x="6362700" y="1695450"/>
            <a:chExt cx="5143500" cy="1905000"/>
          </a:xfrm>
        </p:grpSpPr>
        <p:sp>
          <p:nvSpPr>
            <p:cNvPr id="11" name="Rectangle 11"/>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2" name="Rectangle 12"/>
            <p:cNvSpPr/>
            <p:nvPr/>
          </p:nvSpPr>
          <p:spPr>
            <a:xfrm>
              <a:off x="6362700" y="1695450"/>
              <a:ext cx="76200" cy="1905000"/>
            </a:xfrm>
            <a:prstGeom prst="roundRect">
              <a:avLst>
                <a:gd name="adj" fmla="val 50000"/>
              </a:avLst>
            </a:prstGeom>
            <a:solidFill>
              <a:schemeClr val="accent1"/>
            </a:solidFill>
            <a:ln>
              <a:noFill/>
            </a:ln>
          </p:spPr>
        </p:sp>
        <p:sp>
          <p:nvSpPr>
            <p:cNvPr id="13" name="TextBox 13"/>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4" name="TextBox 14"/>
            <p:cNvSpPr txBox="1"/>
            <p:nvPr/>
          </p:nvSpPr>
          <p:spPr>
            <a:xfrm>
              <a:off x="66210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教务员、复核员、学生、验证方四角色链码与 API 同时执行权限检查</a:t>
              </a:r>
            </a:p>
          </p:txBody>
        </p:sp>
      </p:grpSp>
      <p:grpSp>
        <p:nvGrpSpPr>
          <p:cNvPr id="20" name="Group 20"/>
          <p:cNvGrpSpPr/>
          <p:nvPr/>
        </p:nvGrpSpPr>
        <p:grpSpPr>
          <a:xfrm>
            <a:off x="685800" y="3886200"/>
            <a:ext cx="5143500" cy="1905000"/>
            <a:chOff x="685800" y="3886200"/>
            <a:chExt cx="5143500" cy="1905000"/>
          </a:xfrm>
        </p:grpSpPr>
        <p:sp>
          <p:nvSpPr>
            <p:cNvPr id="16" name="Rectangle 16"/>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7" name="Rectangle 17"/>
            <p:cNvSpPr/>
            <p:nvPr/>
          </p:nvSpPr>
          <p:spPr>
            <a:xfrm>
              <a:off x="685800" y="3886200"/>
              <a:ext cx="76200" cy="1905000"/>
            </a:xfrm>
            <a:prstGeom prst="roundRect">
              <a:avLst>
                <a:gd name="adj" fmla="val 50000"/>
              </a:avLst>
            </a:prstGeom>
            <a:solidFill>
              <a:schemeClr val="accent3"/>
            </a:solidFill>
            <a:ln>
              <a:noFill/>
            </a:ln>
          </p:spPr>
        </p:sp>
        <p:sp>
          <p:nvSpPr>
            <p:cNvPr id="18" name="TextBox 18"/>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19" name="TextBox 19"/>
            <p:cNvSpPr txBox="1"/>
            <p:nvPr/>
          </p:nvSpPr>
          <p:spPr>
            <a:xfrm>
              <a:off x="944118" y="4508182"/>
              <a:ext cx="23218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状态变化具备明确责任人越权请求被自动测试覆盖</a:t>
              </a:r>
            </a:p>
          </p:txBody>
        </p:sp>
      </p:grpSp>
      <p:grpSp>
        <p:nvGrpSpPr>
          <p:cNvPr id="25" name="Group 25"/>
          <p:cNvGrpSpPr/>
          <p:nvPr/>
        </p:nvGrpSpPr>
        <p:grpSpPr>
          <a:xfrm>
            <a:off x="6362700" y="3886200"/>
            <a:ext cx="5143500" cy="1905000"/>
            <a:chOff x="6362700" y="3886200"/>
            <a:chExt cx="5143500" cy="1905000"/>
          </a:xfrm>
        </p:grpSpPr>
        <p:sp>
          <p:nvSpPr>
            <p:cNvPr id="21" name="Rectangle 21"/>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2" name="Rectangle 22"/>
            <p:cNvSpPr/>
            <p:nvPr/>
          </p:nvSpPr>
          <p:spPr>
            <a:xfrm>
              <a:off x="6362700" y="3886200"/>
              <a:ext cx="76200" cy="1905000"/>
            </a:xfrm>
            <a:prstGeom prst="roundRect">
              <a:avLst>
                <a:gd name="adj" fmla="val 50000"/>
              </a:avLst>
            </a:prstGeom>
            <a:solidFill>
              <a:schemeClr val="accent2"/>
            </a:solidFill>
            <a:ln>
              <a:noFill/>
            </a:ln>
          </p:spPr>
        </p:sp>
        <p:sp>
          <p:nvSpPr>
            <p:cNvPr id="23" name="TextBox 23"/>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4" name="TextBox 24"/>
            <p:cNvSpPr txBox="1"/>
            <p:nvPr/>
          </p:nvSpPr>
          <p:spPr>
            <a:xfrm>
              <a:off x="6621018" y="4508182"/>
              <a:ext cx="31600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状态路径增多，容易出现非法跳转仅有接口，普通用户难以正确操作</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STATE MACHINE · 11</a:t>
              </a:r>
            </a:p>
          </p:txBody>
        </p:sp>
        <p:sp>
          <p:nvSpPr>
            <p:cNvPr id="3" name="TextBox 3"/>
            <p:cNvSpPr txBox="1"/>
            <p:nvPr/>
          </p:nvSpPr>
          <p:spPr>
            <a:xfrm>
              <a:off x="666750" y="738188"/>
              <a:ext cx="89992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状态机：把业务规则写成可执行约束</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25" name="Group 25"/>
          <p:cNvGrpSpPr/>
          <p:nvPr/>
        </p:nvGrpSpPr>
        <p:grpSpPr>
          <a:xfrm>
            <a:off x="819150" y="1695450"/>
            <a:ext cx="10553700" cy="1066800"/>
            <a:chOff x="819150" y="1695450"/>
            <a:chExt cx="10553700" cy="1066800"/>
          </a:xfrm>
        </p:grpSpPr>
        <p:sp>
          <p:nvSpPr>
            <p:cNvPr id="6" name="Rectangle 6"/>
            <p:cNvSpPr/>
            <p:nvPr/>
          </p:nvSpPr>
          <p:spPr>
            <a:xfrm>
              <a:off x="819150" y="1695450"/>
              <a:ext cx="2466975" cy="1066800"/>
            </a:xfrm>
            <a:prstGeom prst="roundRect">
              <a:avLst>
                <a:gd name="adj" fmla="val 5357"/>
              </a:avLst>
            </a:prstGeom>
            <a:solidFill>
              <a:schemeClr val="lt2"/>
            </a:solidFill>
            <a:ln w="14288">
              <a:solidFill>
                <a:schemeClr val="accent2"/>
              </a:solidFill>
            </a:ln>
          </p:spPr>
        </p:sp>
        <p:sp>
          <p:nvSpPr>
            <p:cNvPr id="7" name="Ellipse 7"/>
            <p:cNvSpPr/>
            <p:nvPr/>
          </p:nvSpPr>
          <p:spPr>
            <a:xfrm>
              <a:off x="933450" y="1828800"/>
              <a:ext cx="266700" cy="266700"/>
            </a:xfrm>
            <a:prstGeom prst="ellipse">
              <a:avLst/>
            </a:prstGeom>
            <a:solidFill>
              <a:schemeClr val="accent2"/>
            </a:solidFill>
            <a:ln>
              <a:noFill/>
            </a:ln>
          </p:spPr>
        </p:sp>
        <p:sp>
          <p:nvSpPr>
            <p:cNvPr id="8" name="TextBox 8"/>
            <p:cNvSpPr txBox="1"/>
            <p:nvPr/>
          </p:nvSpPr>
          <p:spPr>
            <a:xfrm>
              <a:off x="1007465"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9" name="TextBox 9"/>
            <p:cNvSpPr txBox="1"/>
            <p:nvPr/>
          </p:nvSpPr>
          <p:spPr>
            <a:xfrm>
              <a:off x="1001268" y="22031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草稿</a:t>
              </a:r>
            </a:p>
          </p:txBody>
        </p:sp>
        <p:sp>
          <p:nvSpPr>
            <p:cNvPr id="10" name="Freeform 10"/>
            <p:cNvSpPr/>
            <p:nvPr/>
          </p:nvSpPr>
          <p:spPr>
            <a:xfrm>
              <a:off x="3333750"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11" name="Rectangle 11"/>
            <p:cNvSpPr/>
            <p:nvPr/>
          </p:nvSpPr>
          <p:spPr>
            <a:xfrm>
              <a:off x="3514725" y="1695450"/>
              <a:ext cx="2466975" cy="1066800"/>
            </a:xfrm>
            <a:prstGeom prst="roundRect">
              <a:avLst>
                <a:gd name="adj" fmla="val 5357"/>
              </a:avLst>
            </a:prstGeom>
            <a:solidFill>
              <a:schemeClr val="lt2"/>
            </a:solidFill>
            <a:ln w="14288">
              <a:solidFill>
                <a:schemeClr val="accent1"/>
              </a:solidFill>
            </a:ln>
          </p:spPr>
        </p:sp>
        <p:sp>
          <p:nvSpPr>
            <p:cNvPr id="12" name="Ellipse 12"/>
            <p:cNvSpPr/>
            <p:nvPr/>
          </p:nvSpPr>
          <p:spPr>
            <a:xfrm>
              <a:off x="3629025" y="1828800"/>
              <a:ext cx="266700" cy="266700"/>
            </a:xfrm>
            <a:prstGeom prst="ellipse">
              <a:avLst/>
            </a:prstGeom>
            <a:solidFill>
              <a:schemeClr val="accent1"/>
            </a:solidFill>
            <a:ln>
              <a:noFill/>
            </a:ln>
          </p:spPr>
        </p:sp>
        <p:sp>
          <p:nvSpPr>
            <p:cNvPr id="13" name="TextBox 13"/>
            <p:cNvSpPr txBox="1"/>
            <p:nvPr/>
          </p:nvSpPr>
          <p:spPr>
            <a:xfrm>
              <a:off x="3703040"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14" name="TextBox 14"/>
            <p:cNvSpPr txBox="1"/>
            <p:nvPr/>
          </p:nvSpPr>
          <p:spPr>
            <a:xfrm>
              <a:off x="3696843"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待复核</a:t>
              </a:r>
            </a:p>
          </p:txBody>
        </p:sp>
        <p:sp>
          <p:nvSpPr>
            <p:cNvPr id="15" name="Freeform 15"/>
            <p:cNvSpPr/>
            <p:nvPr/>
          </p:nvSpPr>
          <p:spPr>
            <a:xfrm>
              <a:off x="6029325"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16" name="Rectangle 16"/>
            <p:cNvSpPr/>
            <p:nvPr/>
          </p:nvSpPr>
          <p:spPr>
            <a:xfrm>
              <a:off x="6210300" y="1695450"/>
              <a:ext cx="2466975" cy="1066800"/>
            </a:xfrm>
            <a:prstGeom prst="roundRect">
              <a:avLst>
                <a:gd name="adj" fmla="val 5357"/>
              </a:avLst>
            </a:prstGeom>
            <a:solidFill>
              <a:schemeClr val="lt2"/>
            </a:solidFill>
            <a:ln w="14288">
              <a:solidFill>
                <a:schemeClr val="accent3"/>
              </a:solidFill>
            </a:ln>
          </p:spPr>
        </p:sp>
        <p:sp>
          <p:nvSpPr>
            <p:cNvPr id="17" name="Ellipse 17"/>
            <p:cNvSpPr/>
            <p:nvPr/>
          </p:nvSpPr>
          <p:spPr>
            <a:xfrm>
              <a:off x="6324600" y="1828800"/>
              <a:ext cx="266700" cy="266700"/>
            </a:xfrm>
            <a:prstGeom prst="ellipse">
              <a:avLst/>
            </a:prstGeom>
            <a:solidFill>
              <a:schemeClr val="accent3"/>
            </a:solidFill>
            <a:ln>
              <a:noFill/>
            </a:ln>
          </p:spPr>
        </p:sp>
        <p:sp>
          <p:nvSpPr>
            <p:cNvPr id="18" name="TextBox 18"/>
            <p:cNvSpPr txBox="1"/>
            <p:nvPr/>
          </p:nvSpPr>
          <p:spPr>
            <a:xfrm>
              <a:off x="6398615"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19" name="TextBox 19"/>
            <p:cNvSpPr txBox="1"/>
            <p:nvPr/>
          </p:nvSpPr>
          <p:spPr>
            <a:xfrm>
              <a:off x="6392418"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已生效</a:t>
              </a:r>
            </a:p>
          </p:txBody>
        </p:sp>
        <p:sp>
          <p:nvSpPr>
            <p:cNvPr id="20" name="Freeform 20"/>
            <p:cNvSpPr/>
            <p:nvPr/>
          </p:nvSpPr>
          <p:spPr>
            <a:xfrm>
              <a:off x="8724900" y="22288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21" name="Rectangle 21"/>
            <p:cNvSpPr/>
            <p:nvPr/>
          </p:nvSpPr>
          <p:spPr>
            <a:xfrm>
              <a:off x="8905875" y="1695450"/>
              <a:ext cx="2466975" cy="1066800"/>
            </a:xfrm>
            <a:prstGeom prst="roundRect">
              <a:avLst>
                <a:gd name="adj" fmla="val 5357"/>
              </a:avLst>
            </a:prstGeom>
            <a:solidFill>
              <a:schemeClr val="lt2"/>
            </a:solidFill>
            <a:ln w="14288">
              <a:solidFill>
                <a:srgbClr val="D3A84B"/>
              </a:solidFill>
            </a:ln>
          </p:spPr>
        </p:sp>
        <p:sp>
          <p:nvSpPr>
            <p:cNvPr id="22" name="Ellipse 22"/>
            <p:cNvSpPr/>
            <p:nvPr/>
          </p:nvSpPr>
          <p:spPr>
            <a:xfrm>
              <a:off x="9020175" y="1828800"/>
              <a:ext cx="266700" cy="266700"/>
            </a:xfrm>
            <a:prstGeom prst="ellipse">
              <a:avLst/>
            </a:prstGeom>
            <a:solidFill>
              <a:srgbClr val="D3A84B"/>
            </a:solidFill>
            <a:ln>
              <a:noFill/>
            </a:ln>
          </p:spPr>
        </p:sp>
        <p:sp>
          <p:nvSpPr>
            <p:cNvPr id="23" name="TextBox 23"/>
            <p:cNvSpPr txBox="1"/>
            <p:nvPr/>
          </p:nvSpPr>
          <p:spPr>
            <a:xfrm>
              <a:off x="9094190" y="18735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24" name="TextBox 24"/>
            <p:cNvSpPr txBox="1"/>
            <p:nvPr/>
          </p:nvSpPr>
          <p:spPr>
            <a:xfrm>
              <a:off x="9087993" y="22031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已修订</a:t>
              </a:r>
            </a:p>
          </p:txBody>
        </p:sp>
      </p:grpSp>
      <p:grpSp>
        <p:nvGrpSpPr>
          <p:cNvPr id="45" name="Group 45"/>
          <p:cNvGrpSpPr/>
          <p:nvPr/>
        </p:nvGrpSpPr>
        <p:grpSpPr>
          <a:xfrm>
            <a:off x="819150" y="3067050"/>
            <a:ext cx="10553700" cy="1066800"/>
            <a:chOff x="819150" y="3067050"/>
            <a:chExt cx="10553700" cy="1066800"/>
          </a:xfrm>
        </p:grpSpPr>
        <p:sp>
          <p:nvSpPr>
            <p:cNvPr id="26" name="Rectangle 26"/>
            <p:cNvSpPr/>
            <p:nvPr/>
          </p:nvSpPr>
          <p:spPr>
            <a:xfrm>
              <a:off x="819150" y="3067050"/>
              <a:ext cx="2466975" cy="1066800"/>
            </a:xfrm>
            <a:prstGeom prst="roundRect">
              <a:avLst>
                <a:gd name="adj" fmla="val 5357"/>
              </a:avLst>
            </a:prstGeom>
            <a:solidFill>
              <a:schemeClr val="lt2"/>
            </a:solidFill>
            <a:ln w="14288">
              <a:solidFill>
                <a:schemeClr val="accent2"/>
              </a:solidFill>
            </a:ln>
          </p:spPr>
        </p:sp>
        <p:sp>
          <p:nvSpPr>
            <p:cNvPr id="27" name="Ellipse 27"/>
            <p:cNvSpPr/>
            <p:nvPr/>
          </p:nvSpPr>
          <p:spPr>
            <a:xfrm>
              <a:off x="933450" y="3200400"/>
              <a:ext cx="266700" cy="266700"/>
            </a:xfrm>
            <a:prstGeom prst="ellipse">
              <a:avLst/>
            </a:prstGeom>
            <a:solidFill>
              <a:schemeClr val="accent2"/>
            </a:solidFill>
            <a:ln>
              <a:noFill/>
            </a:ln>
          </p:spPr>
        </p:sp>
        <p:sp>
          <p:nvSpPr>
            <p:cNvPr id="28" name="TextBox 28"/>
            <p:cNvSpPr txBox="1"/>
            <p:nvPr/>
          </p:nvSpPr>
          <p:spPr>
            <a:xfrm>
              <a:off x="1007465"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29" name="TextBox 29"/>
            <p:cNvSpPr txBox="1"/>
            <p:nvPr/>
          </p:nvSpPr>
          <p:spPr>
            <a:xfrm>
              <a:off x="1001268" y="3574732"/>
              <a:ext cx="71645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申诉中</a:t>
              </a:r>
            </a:p>
          </p:txBody>
        </p:sp>
        <p:sp>
          <p:nvSpPr>
            <p:cNvPr id="30" name="Freeform 30"/>
            <p:cNvSpPr/>
            <p:nvPr/>
          </p:nvSpPr>
          <p:spPr>
            <a:xfrm>
              <a:off x="3333750"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1" name="Rectangle 31"/>
            <p:cNvSpPr/>
            <p:nvPr/>
          </p:nvSpPr>
          <p:spPr>
            <a:xfrm>
              <a:off x="3514725" y="3067050"/>
              <a:ext cx="2466975" cy="1066800"/>
            </a:xfrm>
            <a:prstGeom prst="roundRect">
              <a:avLst>
                <a:gd name="adj" fmla="val 5357"/>
              </a:avLst>
            </a:prstGeom>
            <a:solidFill>
              <a:schemeClr val="lt2"/>
            </a:solidFill>
            <a:ln w="14288">
              <a:solidFill>
                <a:srgbClr val="D3A84B"/>
              </a:solidFill>
            </a:ln>
          </p:spPr>
        </p:sp>
        <p:sp>
          <p:nvSpPr>
            <p:cNvPr id="32" name="Ellipse 32"/>
            <p:cNvSpPr/>
            <p:nvPr/>
          </p:nvSpPr>
          <p:spPr>
            <a:xfrm>
              <a:off x="3629025" y="3200400"/>
              <a:ext cx="266700" cy="266700"/>
            </a:xfrm>
            <a:prstGeom prst="ellipse">
              <a:avLst/>
            </a:prstGeom>
            <a:solidFill>
              <a:srgbClr val="D3A84B"/>
            </a:solidFill>
            <a:ln>
              <a:noFill/>
            </a:ln>
          </p:spPr>
        </p:sp>
        <p:sp>
          <p:nvSpPr>
            <p:cNvPr id="33" name="TextBox 33"/>
            <p:cNvSpPr txBox="1"/>
            <p:nvPr/>
          </p:nvSpPr>
          <p:spPr>
            <a:xfrm>
              <a:off x="3703040"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34" name="TextBox 34"/>
            <p:cNvSpPr txBox="1"/>
            <p:nvPr/>
          </p:nvSpPr>
          <p:spPr>
            <a:xfrm>
              <a:off x="3696843" y="35747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受理</a:t>
              </a:r>
            </a:p>
          </p:txBody>
        </p:sp>
        <p:sp>
          <p:nvSpPr>
            <p:cNvPr id="35" name="Freeform 35"/>
            <p:cNvSpPr/>
            <p:nvPr/>
          </p:nvSpPr>
          <p:spPr>
            <a:xfrm>
              <a:off x="6029325"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6" name="Rectangle 36"/>
            <p:cNvSpPr/>
            <p:nvPr/>
          </p:nvSpPr>
          <p:spPr>
            <a:xfrm>
              <a:off x="6210300" y="3067050"/>
              <a:ext cx="2466975" cy="1066800"/>
            </a:xfrm>
            <a:prstGeom prst="roundRect">
              <a:avLst>
                <a:gd name="adj" fmla="val 5357"/>
              </a:avLst>
            </a:prstGeom>
            <a:solidFill>
              <a:schemeClr val="lt2"/>
            </a:solidFill>
            <a:ln w="14288">
              <a:solidFill>
                <a:schemeClr val="accent3"/>
              </a:solidFill>
            </a:ln>
          </p:spPr>
        </p:sp>
        <p:sp>
          <p:nvSpPr>
            <p:cNvPr id="37" name="Ellipse 37"/>
            <p:cNvSpPr/>
            <p:nvPr/>
          </p:nvSpPr>
          <p:spPr>
            <a:xfrm>
              <a:off x="6324600" y="3200400"/>
              <a:ext cx="266700" cy="266700"/>
            </a:xfrm>
            <a:prstGeom prst="ellipse">
              <a:avLst/>
            </a:prstGeom>
            <a:solidFill>
              <a:schemeClr val="accent3"/>
            </a:solidFill>
            <a:ln>
              <a:noFill/>
            </a:ln>
          </p:spPr>
        </p:sp>
        <p:sp>
          <p:nvSpPr>
            <p:cNvPr id="38" name="TextBox 38"/>
            <p:cNvSpPr txBox="1"/>
            <p:nvPr/>
          </p:nvSpPr>
          <p:spPr>
            <a:xfrm>
              <a:off x="6398615"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39" name="TextBox 39"/>
            <p:cNvSpPr txBox="1"/>
            <p:nvPr/>
          </p:nvSpPr>
          <p:spPr>
            <a:xfrm>
              <a:off x="6392418" y="3574732"/>
              <a:ext cx="1077957"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通过/驳回</a:t>
              </a:r>
            </a:p>
          </p:txBody>
        </p:sp>
        <p:sp>
          <p:nvSpPr>
            <p:cNvPr id="40" name="Freeform 40"/>
            <p:cNvSpPr/>
            <p:nvPr/>
          </p:nvSpPr>
          <p:spPr>
            <a:xfrm>
              <a:off x="8724900" y="36004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41" name="Rectangle 41"/>
            <p:cNvSpPr/>
            <p:nvPr/>
          </p:nvSpPr>
          <p:spPr>
            <a:xfrm>
              <a:off x="8905875" y="3067050"/>
              <a:ext cx="2466975" cy="1066800"/>
            </a:xfrm>
            <a:prstGeom prst="roundRect">
              <a:avLst>
                <a:gd name="adj" fmla="val 5357"/>
              </a:avLst>
            </a:prstGeom>
            <a:solidFill>
              <a:schemeClr val="lt2"/>
            </a:solidFill>
            <a:ln w="14288">
              <a:solidFill>
                <a:schemeClr val="accent1"/>
              </a:solidFill>
            </a:ln>
          </p:spPr>
        </p:sp>
        <p:sp>
          <p:nvSpPr>
            <p:cNvPr id="42" name="Ellipse 42"/>
            <p:cNvSpPr/>
            <p:nvPr/>
          </p:nvSpPr>
          <p:spPr>
            <a:xfrm>
              <a:off x="9020175" y="3200400"/>
              <a:ext cx="266700" cy="266700"/>
            </a:xfrm>
            <a:prstGeom prst="ellipse">
              <a:avLst/>
            </a:prstGeom>
            <a:solidFill>
              <a:schemeClr val="accent1"/>
            </a:solidFill>
            <a:ln>
              <a:noFill/>
            </a:ln>
          </p:spPr>
        </p:sp>
        <p:sp>
          <p:nvSpPr>
            <p:cNvPr id="43" name="TextBox 43"/>
            <p:cNvSpPr txBox="1"/>
            <p:nvPr/>
          </p:nvSpPr>
          <p:spPr>
            <a:xfrm>
              <a:off x="9094190" y="32451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44" name="TextBox 44"/>
            <p:cNvSpPr txBox="1"/>
            <p:nvPr/>
          </p:nvSpPr>
          <p:spPr>
            <a:xfrm>
              <a:off x="9087993" y="35747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关闭</a:t>
              </a:r>
            </a:p>
          </p:txBody>
        </p:sp>
      </p:grpSp>
      <p:grpSp>
        <p:nvGrpSpPr>
          <p:cNvPr id="51" name="Group 51"/>
          <p:cNvGrpSpPr/>
          <p:nvPr/>
        </p:nvGrpSpPr>
        <p:grpSpPr>
          <a:xfrm>
            <a:off x="685800" y="4476750"/>
            <a:ext cx="6858000" cy="1381125"/>
            <a:chOff x="685800" y="4476750"/>
            <a:chExt cx="6858000" cy="1381125"/>
          </a:xfrm>
        </p:grpSpPr>
        <p:sp>
          <p:nvSpPr>
            <p:cNvPr id="46" name="Rectangle 46"/>
            <p:cNvSpPr/>
            <p:nvPr/>
          </p:nvSpPr>
          <p:spPr>
            <a:xfrm>
              <a:off x="685800" y="4476750"/>
              <a:ext cx="6858000" cy="1381125"/>
            </a:xfrm>
            <a:prstGeom prst="roundRect">
              <a:avLst>
                <a:gd name="adj" fmla="val 4828"/>
              </a:avLst>
            </a:prstGeom>
            <a:solidFill>
              <a:srgbClr val="12202D"/>
            </a:solidFill>
            <a:ln>
              <a:noFill/>
            </a:ln>
          </p:spPr>
        </p:sp>
        <p:sp>
          <p:nvSpPr>
            <p:cNvPr id="47" name="Ellipse 47"/>
            <p:cNvSpPr/>
            <p:nvPr/>
          </p:nvSpPr>
          <p:spPr>
            <a:xfrm>
              <a:off x="847725" y="4619625"/>
              <a:ext cx="95250" cy="95250"/>
            </a:xfrm>
            <a:prstGeom prst="ellipse">
              <a:avLst/>
            </a:prstGeom>
            <a:solidFill>
              <a:schemeClr val="accent2"/>
            </a:solidFill>
            <a:ln>
              <a:noFill/>
            </a:ln>
          </p:spPr>
        </p:sp>
        <p:sp>
          <p:nvSpPr>
            <p:cNvPr id="48" name="Ellipse 48"/>
            <p:cNvSpPr/>
            <p:nvPr/>
          </p:nvSpPr>
          <p:spPr>
            <a:xfrm>
              <a:off x="1019175" y="4619625"/>
              <a:ext cx="95250" cy="95250"/>
            </a:xfrm>
            <a:prstGeom prst="ellipse">
              <a:avLst/>
            </a:prstGeom>
            <a:solidFill>
              <a:srgbClr val="D3A84B"/>
            </a:solidFill>
            <a:ln>
              <a:noFill/>
            </a:ln>
          </p:spPr>
        </p:sp>
        <p:sp>
          <p:nvSpPr>
            <p:cNvPr id="49" name="Ellipse 49"/>
            <p:cNvSpPr/>
            <p:nvPr/>
          </p:nvSpPr>
          <p:spPr>
            <a:xfrm>
              <a:off x="1190625" y="4619625"/>
              <a:ext cx="95250" cy="95250"/>
            </a:xfrm>
            <a:prstGeom prst="ellipse">
              <a:avLst/>
            </a:prstGeom>
            <a:solidFill>
              <a:schemeClr val="accent3"/>
            </a:solidFill>
            <a:ln>
              <a:noFill/>
            </a:ln>
          </p:spPr>
        </p:sp>
        <p:sp>
          <p:nvSpPr>
            <p:cNvPr id="50" name="TextBox 50"/>
            <p:cNvSpPr txBox="1"/>
            <p:nvPr/>
          </p:nvSpPr>
          <p:spPr>
            <a:xfrm>
              <a:off x="888492" y="4883468"/>
              <a:ext cx="4179951" cy="778383"/>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assertRole(ctx, "REVIEWER"); assertTransition(asset.status, "EFFECTIVE"); assertVersion(asset.version, expectedVersion);</a:t>
              </a:r>
            </a:p>
          </p:txBody>
        </p:sp>
      </p:grpSp>
      <p:grpSp>
        <p:nvGrpSpPr>
          <p:cNvPr id="54" name="Group 54"/>
          <p:cNvGrpSpPr/>
          <p:nvPr/>
        </p:nvGrpSpPr>
        <p:grpSpPr>
          <a:xfrm>
            <a:off x="7848600" y="4476750"/>
            <a:ext cx="3657600" cy="1381125"/>
            <a:chOff x="7848600" y="4476750"/>
            <a:chExt cx="3657600" cy="1381125"/>
          </a:xfrm>
        </p:grpSpPr>
        <p:sp>
          <p:nvSpPr>
            <p:cNvPr id="52" name="Rectangle 52"/>
            <p:cNvSpPr/>
            <p:nvPr/>
          </p:nvSpPr>
          <p:spPr>
            <a:xfrm>
              <a:off x="7848600" y="4476750"/>
              <a:ext cx="3657600" cy="1381125"/>
            </a:xfrm>
            <a:prstGeom prst="roundRect">
              <a:avLst>
                <a:gd name="adj" fmla="val 5517"/>
              </a:avLst>
            </a:prstGeom>
            <a:solidFill>
              <a:schemeClr val="accent2"/>
            </a:solidFill>
            <a:ln>
              <a:noFill/>
            </a:ln>
          </p:spPr>
        </p:sp>
        <p:sp>
          <p:nvSpPr>
            <p:cNvPr id="53" name="TextBox 53"/>
            <p:cNvSpPr txBox="1"/>
            <p:nvPr/>
          </p:nvSpPr>
          <p:spPr>
            <a:xfrm>
              <a:off x="8103870" y="4662488"/>
              <a:ext cx="2423160"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非法状态跳转在链码入口即失败</a:t>
              </a:r>
            </a:p>
          </p:txBody>
        </p:sp>
      </p:grpSp>
      <p:grpSp>
        <p:nvGrpSpPr>
          <p:cNvPr id="57" name="Group 57"/>
          <p:cNvGrpSpPr/>
          <p:nvPr/>
        </p:nvGrpSpPr>
        <p:grpSpPr>
          <a:xfrm>
            <a:off x="678942" y="6407468"/>
            <a:ext cx="10643616" cy="264033"/>
            <a:chOff x="678942" y="6407468"/>
            <a:chExt cx="10643616" cy="264033"/>
          </a:xfrm>
        </p:grpSpPr>
        <p:sp>
          <p:nvSpPr>
            <p:cNvPr id="55" name="TextBox 55"/>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56" name="TextBox 56"/>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12</a:t>
              </a:r>
            </a:p>
          </p:txBody>
        </p:sp>
        <p:sp>
          <p:nvSpPr>
            <p:cNvPr id="3" name="TextBox 3"/>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3｜让隐私边界绑定学生主体</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5143500" cy="1905000"/>
            <a:chOff x="685800" y="1695450"/>
            <a:chExt cx="5143500" cy="1905000"/>
          </a:xfrm>
        </p:grpSpPr>
        <p:sp>
          <p:nvSpPr>
            <p:cNvPr id="6" name="Rectangle 6"/>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7" name="Rectangle 7"/>
            <p:cNvSpPr/>
            <p:nvPr/>
          </p:nvSpPr>
          <p:spPr>
            <a:xfrm>
              <a:off x="685800" y="1695450"/>
              <a:ext cx="76200" cy="1905000"/>
            </a:xfrm>
            <a:prstGeom prst="roundRect">
              <a:avLst>
                <a:gd name="adj" fmla="val 50000"/>
              </a:avLst>
            </a:prstGeom>
            <a:solidFill>
              <a:schemeClr val="accent2"/>
            </a:solidFill>
            <a:ln>
              <a:noFill/>
            </a:ln>
          </p:spPr>
        </p:sp>
        <p:sp>
          <p:nvSpPr>
            <p:cNvPr id="8" name="TextBox 8"/>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9" name="TextBox 9"/>
            <p:cNvSpPr txBox="1"/>
            <p:nvPr/>
          </p:nvSpPr>
          <p:spPr>
            <a:xfrm>
              <a:off x="944118" y="2317432"/>
              <a:ext cx="2835211"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接口层隐藏不等于链上隐私知道记录 ID 可能读取他人成绩</a:t>
              </a:r>
            </a:p>
          </p:txBody>
        </p:sp>
      </p:grpSp>
      <p:grpSp>
        <p:nvGrpSpPr>
          <p:cNvPr id="15" name="Group 15"/>
          <p:cNvGrpSpPr/>
          <p:nvPr/>
        </p:nvGrpSpPr>
        <p:grpSpPr>
          <a:xfrm>
            <a:off x="6362700" y="1695450"/>
            <a:ext cx="5143500" cy="1905000"/>
            <a:chOff x="6362700" y="1695450"/>
            <a:chExt cx="5143500" cy="1905000"/>
          </a:xfrm>
        </p:grpSpPr>
        <p:sp>
          <p:nvSpPr>
            <p:cNvPr id="11" name="Rectangle 11"/>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2" name="Rectangle 12"/>
            <p:cNvSpPr/>
            <p:nvPr/>
          </p:nvSpPr>
          <p:spPr>
            <a:xfrm>
              <a:off x="6362700" y="1695450"/>
              <a:ext cx="76200" cy="1905000"/>
            </a:xfrm>
            <a:prstGeom prst="roundRect">
              <a:avLst>
                <a:gd name="adj" fmla="val 50000"/>
              </a:avLst>
            </a:prstGeom>
            <a:solidFill>
              <a:schemeClr val="accent1"/>
            </a:solidFill>
            <a:ln>
              <a:noFill/>
            </a:ln>
          </p:spPr>
        </p:sp>
        <p:sp>
          <p:nvSpPr>
            <p:cNvPr id="13" name="TextBox 13"/>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4" name="TextBox 14"/>
            <p:cNvSpPr txBox="1"/>
            <p:nvPr/>
          </p:nvSpPr>
          <p:spPr>
            <a:xfrm>
              <a:off x="6621018" y="2317432"/>
              <a:ext cx="395630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Fabric Private Data Collection 保存明细学生身份与 subjectId 强绑定</a:t>
              </a:r>
            </a:p>
          </p:txBody>
        </p:sp>
      </p:grpSp>
      <p:grpSp>
        <p:nvGrpSpPr>
          <p:cNvPr id="20" name="Group 20"/>
          <p:cNvGrpSpPr/>
          <p:nvPr/>
        </p:nvGrpSpPr>
        <p:grpSpPr>
          <a:xfrm>
            <a:off x="685800" y="3886200"/>
            <a:ext cx="5143500" cy="1905000"/>
            <a:chOff x="685800" y="3886200"/>
            <a:chExt cx="5143500" cy="1905000"/>
          </a:xfrm>
        </p:grpSpPr>
        <p:sp>
          <p:nvSpPr>
            <p:cNvPr id="16" name="Rectangle 16"/>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7" name="Rectangle 17"/>
            <p:cNvSpPr/>
            <p:nvPr/>
          </p:nvSpPr>
          <p:spPr>
            <a:xfrm>
              <a:off x="685800" y="3886200"/>
              <a:ext cx="76200" cy="1905000"/>
            </a:xfrm>
            <a:prstGeom prst="roundRect">
              <a:avLst>
                <a:gd name="adj" fmla="val 50000"/>
              </a:avLst>
            </a:prstGeom>
            <a:solidFill>
              <a:schemeClr val="accent3"/>
            </a:solidFill>
            <a:ln>
              <a:noFill/>
            </a:ln>
          </p:spPr>
        </p:sp>
        <p:sp>
          <p:nvSpPr>
            <p:cNvPr id="18" name="TextBox 18"/>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19" name="TextBox 19"/>
            <p:cNvSpPr txBox="1"/>
            <p:nvPr/>
          </p:nvSpPr>
          <p:spPr>
            <a:xfrm>
              <a:off x="9441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公开验证只返回存在性与摘要学生只能查看自己的私有记录</a:t>
              </a:r>
            </a:p>
          </p:txBody>
        </p:sp>
      </p:grpSp>
      <p:grpSp>
        <p:nvGrpSpPr>
          <p:cNvPr id="25" name="Group 25"/>
          <p:cNvGrpSpPr/>
          <p:nvPr/>
        </p:nvGrpSpPr>
        <p:grpSpPr>
          <a:xfrm>
            <a:off x="6362700" y="3886200"/>
            <a:ext cx="5143500" cy="1905000"/>
            <a:chOff x="6362700" y="3886200"/>
            <a:chExt cx="5143500" cy="1905000"/>
          </a:xfrm>
        </p:grpSpPr>
        <p:sp>
          <p:nvSpPr>
            <p:cNvPr id="21" name="Rectangle 21"/>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2" name="Rectangle 22"/>
            <p:cNvSpPr/>
            <p:nvPr/>
          </p:nvSpPr>
          <p:spPr>
            <a:xfrm>
              <a:off x="6362700" y="3886200"/>
              <a:ext cx="76200" cy="1905000"/>
            </a:xfrm>
            <a:prstGeom prst="roundRect">
              <a:avLst>
                <a:gd name="adj" fmla="val 50000"/>
              </a:avLst>
            </a:prstGeom>
            <a:solidFill>
              <a:schemeClr val="accent2"/>
            </a:solidFill>
            <a:ln>
              <a:noFill/>
            </a:ln>
          </p:spPr>
        </p:sp>
        <p:sp>
          <p:nvSpPr>
            <p:cNvPr id="23" name="TextBox 23"/>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4" name="TextBox 24"/>
            <p:cNvSpPr txBox="1"/>
            <p:nvPr/>
          </p:nvSpPr>
          <p:spPr>
            <a:xfrm>
              <a:off x="6621018" y="4508182"/>
              <a:ext cx="27409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跨校验证仍依赖本系统 API最小披露尚未形成可携带凭证</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811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PRIVACY BOUNDARY · 13</a:t>
              </a:r>
            </a:p>
          </p:txBody>
        </p:sp>
        <p:sp>
          <p:nvSpPr>
            <p:cNvPr id="3" name="TextBox 3"/>
            <p:cNvSpPr txBox="1"/>
            <p:nvPr/>
          </p:nvSpPr>
          <p:spPr>
            <a:xfrm>
              <a:off x="666750" y="738188"/>
              <a:ext cx="89992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核心约束：查询者必须就是成绩主体</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6858000" cy="3333750"/>
            <a:chOff x="685800" y="1695450"/>
            <a:chExt cx="6858000" cy="3333750"/>
          </a:xfrm>
        </p:grpSpPr>
        <p:sp>
          <p:nvSpPr>
            <p:cNvPr id="6" name="Rectangle 6"/>
            <p:cNvSpPr/>
            <p:nvPr/>
          </p:nvSpPr>
          <p:spPr>
            <a:xfrm>
              <a:off x="685800" y="1695450"/>
              <a:ext cx="6858000" cy="3333750"/>
            </a:xfrm>
            <a:prstGeom prst="roundRect">
              <a:avLst>
                <a:gd name="adj" fmla="val 2000"/>
              </a:avLst>
            </a:prstGeom>
            <a:solidFill>
              <a:srgbClr val="12202D"/>
            </a:solidFill>
            <a:ln>
              <a:noFill/>
            </a:ln>
          </p:spPr>
        </p:sp>
        <p:sp>
          <p:nvSpPr>
            <p:cNvPr id="7" name="Ellipse 7"/>
            <p:cNvSpPr/>
            <p:nvPr/>
          </p:nvSpPr>
          <p:spPr>
            <a:xfrm>
              <a:off x="847725" y="1838325"/>
              <a:ext cx="95250" cy="95250"/>
            </a:xfrm>
            <a:prstGeom prst="ellipse">
              <a:avLst/>
            </a:prstGeom>
            <a:solidFill>
              <a:schemeClr val="accent2"/>
            </a:solidFill>
            <a:ln>
              <a:noFill/>
            </a:ln>
          </p:spPr>
        </p:sp>
        <p:sp>
          <p:nvSpPr>
            <p:cNvPr id="8" name="Ellipse 8"/>
            <p:cNvSpPr/>
            <p:nvPr/>
          </p:nvSpPr>
          <p:spPr>
            <a:xfrm>
              <a:off x="1019175" y="1838325"/>
              <a:ext cx="95250" cy="95250"/>
            </a:xfrm>
            <a:prstGeom prst="ellipse">
              <a:avLst/>
            </a:prstGeom>
            <a:solidFill>
              <a:srgbClr val="D3A84B"/>
            </a:solidFill>
            <a:ln>
              <a:noFill/>
            </a:ln>
          </p:spPr>
        </p:sp>
        <p:sp>
          <p:nvSpPr>
            <p:cNvPr id="9" name="Ellipse 9"/>
            <p:cNvSpPr/>
            <p:nvPr/>
          </p:nvSpPr>
          <p:spPr>
            <a:xfrm>
              <a:off x="1190625" y="1838325"/>
              <a:ext cx="95250" cy="95250"/>
            </a:xfrm>
            <a:prstGeom prst="ellipse">
              <a:avLst/>
            </a:prstGeom>
            <a:solidFill>
              <a:schemeClr val="accent3"/>
            </a:solidFill>
            <a:ln>
              <a:noFill/>
            </a:ln>
          </p:spPr>
        </p:sp>
        <p:sp>
          <p:nvSpPr>
            <p:cNvPr id="10" name="TextBox 10"/>
            <p:cNvSpPr txBox="1"/>
            <p:nvPr/>
          </p:nvSpPr>
          <p:spPr>
            <a:xfrm>
              <a:off x="888492" y="2102168"/>
              <a:ext cx="4471416" cy="1549908"/>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 xml:space="preserve">const caller = getEnrollmentId(ctx); </a:t>
              </a:r>
              <a:r>
                <a:rPr lang="en-US" sz="1350" dirty="0">
                  <a:solidFill>
                    <a:srgbClr val="DCE7EF"/>
                  </a:solidFill>
                  <a:latin typeface="Consolas"/>
                  <a:ea typeface="Consolas"/>
                  <a:cs typeface="Consolas"/>
                </a:rPr>
                <a:t xml:space="preserve">const grade = await loadPrivateGrade(ctx, gradeId); </a:t>
              </a:r>
              <a:r>
                <a:rPr lang="en-US" sz="1350" dirty="0">
                  <a:solidFill>
                    <a:srgbClr val="6DD3CE"/>
                  </a:solidFill>
                  <a:latin typeface="Consolas"/>
                  <a:ea typeface="Consolas"/>
                  <a:cs typeface="Consolas"/>
                </a:rPr>
                <a:t xml:space="preserve">if (caller !== grade.subjectId) { throw new Error("SUBJECT_MISMATCH"); </a:t>
              </a:r>
              <a:r>
                <a:rPr lang="en-US" sz="1350" dirty="0">
                  <a:solidFill>
                    <a:srgbClr val="DCE7EF"/>
                  </a:solidFill>
                  <a:latin typeface="Consolas"/>
                  <a:ea typeface="Consolas"/>
                  <a:cs typeface="Consolas"/>
                </a:rPr>
                <a:t>} return redactForStudent(grade);</a:t>
              </a:r>
            </a:p>
          </p:txBody>
        </p:sp>
      </p:grpSp>
      <p:grpSp>
        <p:nvGrpSpPr>
          <p:cNvPr id="16" name="Group 16"/>
          <p:cNvGrpSpPr/>
          <p:nvPr/>
        </p:nvGrpSpPr>
        <p:grpSpPr>
          <a:xfrm>
            <a:off x="7848600" y="1695450"/>
            <a:ext cx="3657600" cy="1428750"/>
            <a:chOff x="7848600" y="1695450"/>
            <a:chExt cx="3657600" cy="1428750"/>
          </a:xfrm>
        </p:grpSpPr>
        <p:sp>
          <p:nvSpPr>
            <p:cNvPr id="12" name="Rectangle 12"/>
            <p:cNvSpPr/>
            <p:nvPr/>
          </p:nvSpPr>
          <p:spPr>
            <a:xfrm>
              <a:off x="7848600" y="1695450"/>
              <a:ext cx="3657600" cy="1428750"/>
            </a:xfrm>
            <a:prstGeom prst="roundRect">
              <a:avLst>
                <a:gd name="adj" fmla="val 4000"/>
              </a:avLst>
            </a:prstGeom>
            <a:solidFill>
              <a:schemeClr val="lt2"/>
            </a:solidFill>
            <a:ln w="14288">
              <a:solidFill>
                <a:schemeClr val="accent6"/>
              </a:solidFill>
            </a:ln>
          </p:spPr>
        </p:sp>
        <p:sp>
          <p:nvSpPr>
            <p:cNvPr id="13" name="Rectangle 13"/>
            <p:cNvSpPr/>
            <p:nvPr/>
          </p:nvSpPr>
          <p:spPr>
            <a:xfrm>
              <a:off x="7848600" y="1695450"/>
              <a:ext cx="76200" cy="1428750"/>
            </a:xfrm>
            <a:prstGeom prst="roundRect">
              <a:avLst>
                <a:gd name="adj" fmla="val 50000"/>
              </a:avLst>
            </a:prstGeom>
            <a:solidFill>
              <a:schemeClr val="accent1"/>
            </a:solidFill>
            <a:ln>
              <a:noFill/>
            </a:ln>
          </p:spPr>
        </p:sp>
        <p:sp>
          <p:nvSpPr>
            <p:cNvPr id="14" name="TextBox 14"/>
            <p:cNvSpPr txBox="1"/>
            <p:nvPr/>
          </p:nvSpPr>
          <p:spPr>
            <a:xfrm>
              <a:off x="81038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公开验证</a:t>
              </a:r>
            </a:p>
          </p:txBody>
        </p:sp>
        <p:sp>
          <p:nvSpPr>
            <p:cNvPr id="15" name="TextBox 15"/>
            <p:cNvSpPr txBox="1"/>
            <p:nvPr/>
          </p:nvSpPr>
          <p:spPr>
            <a:xfrm>
              <a:off x="8106918" y="2317432"/>
              <a:ext cx="1756029"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存在 / 状态 / 摘要不返回姓名与分数</a:t>
              </a:r>
            </a:p>
          </p:txBody>
        </p:sp>
      </p:grpSp>
      <p:grpSp>
        <p:nvGrpSpPr>
          <p:cNvPr id="21" name="Group 21"/>
          <p:cNvGrpSpPr/>
          <p:nvPr/>
        </p:nvGrpSpPr>
        <p:grpSpPr>
          <a:xfrm>
            <a:off x="7848600" y="3314700"/>
            <a:ext cx="3657600" cy="1714500"/>
            <a:chOff x="7848600" y="3314700"/>
            <a:chExt cx="3657600" cy="1714500"/>
          </a:xfrm>
        </p:grpSpPr>
        <p:sp>
          <p:nvSpPr>
            <p:cNvPr id="17" name="Rectangle 17"/>
            <p:cNvSpPr/>
            <p:nvPr/>
          </p:nvSpPr>
          <p:spPr>
            <a:xfrm>
              <a:off x="7848600" y="3314700"/>
              <a:ext cx="3657600" cy="1714500"/>
            </a:xfrm>
            <a:prstGeom prst="roundRect">
              <a:avLst>
                <a:gd name="adj" fmla="val 3333"/>
              </a:avLst>
            </a:prstGeom>
            <a:solidFill>
              <a:schemeClr val="lt2"/>
            </a:solidFill>
            <a:ln w="14288">
              <a:solidFill>
                <a:schemeClr val="accent6"/>
              </a:solidFill>
            </a:ln>
          </p:spPr>
        </p:sp>
        <p:sp>
          <p:nvSpPr>
            <p:cNvPr id="18" name="Rectangle 18"/>
            <p:cNvSpPr/>
            <p:nvPr/>
          </p:nvSpPr>
          <p:spPr>
            <a:xfrm>
              <a:off x="7848600" y="3314700"/>
              <a:ext cx="76200" cy="1714500"/>
            </a:xfrm>
            <a:prstGeom prst="roundRect">
              <a:avLst>
                <a:gd name="adj" fmla="val 50000"/>
              </a:avLst>
            </a:prstGeom>
            <a:solidFill>
              <a:schemeClr val="accent3"/>
            </a:solidFill>
            <a:ln>
              <a:noFill/>
            </a:ln>
          </p:spPr>
        </p:sp>
        <p:sp>
          <p:nvSpPr>
            <p:cNvPr id="19" name="TextBox 19"/>
            <p:cNvSpPr txBox="1"/>
            <p:nvPr/>
          </p:nvSpPr>
          <p:spPr>
            <a:xfrm>
              <a:off x="8103870" y="34718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私有查询</a:t>
              </a:r>
            </a:p>
          </p:txBody>
        </p:sp>
        <p:sp>
          <p:nvSpPr>
            <p:cNvPr id="20" name="TextBox 20"/>
            <p:cNvSpPr txBox="1"/>
            <p:nvPr/>
          </p:nvSpPr>
          <p:spPr>
            <a:xfrm>
              <a:off x="8106918" y="393668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主体身份相等才放行错误路径返回统一错误码避免枚举敏感信息</a:t>
              </a:r>
            </a:p>
          </p:txBody>
        </p:sp>
      </p:grpSp>
      <p:grpSp>
        <p:nvGrpSpPr>
          <p:cNvPr id="24" name="Group 24"/>
          <p:cNvGrpSpPr/>
          <p:nvPr/>
        </p:nvGrpSpPr>
        <p:grpSpPr>
          <a:xfrm>
            <a:off x="685800" y="5276850"/>
            <a:ext cx="10820400" cy="625793"/>
            <a:chOff x="685800" y="5276850"/>
            <a:chExt cx="10820400" cy="625793"/>
          </a:xfrm>
        </p:grpSpPr>
        <p:sp>
          <p:nvSpPr>
            <p:cNvPr id="22" name="Rectangle 22"/>
            <p:cNvSpPr/>
            <p:nvPr/>
          </p:nvSpPr>
          <p:spPr>
            <a:xfrm>
              <a:off x="685800" y="5276850"/>
              <a:ext cx="10820400" cy="590550"/>
            </a:xfrm>
            <a:prstGeom prst="roundRect">
              <a:avLst>
                <a:gd name="adj" fmla="val 12903"/>
              </a:avLst>
            </a:prstGeom>
            <a:solidFill>
              <a:schemeClr val="accent2"/>
            </a:solidFill>
            <a:ln>
              <a:noFill/>
            </a:ln>
          </p:spPr>
        </p:sp>
        <p:sp>
          <p:nvSpPr>
            <p:cNvPr id="23" name="TextBox 23"/>
            <p:cNvSpPr txBox="1"/>
            <p:nvPr/>
          </p:nvSpPr>
          <p:spPr>
            <a:xfrm>
              <a:off x="941070" y="5462588"/>
              <a:ext cx="8793556"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隐私不是“前端不显示”，而是每一层都不能越过授权边界。</a:t>
              </a:r>
            </a:p>
          </p:txBody>
        </p:sp>
      </p:grpSp>
      <p:grpSp>
        <p:nvGrpSpPr>
          <p:cNvPr id="27" name="Group 27"/>
          <p:cNvGrpSpPr/>
          <p:nvPr/>
        </p:nvGrpSpPr>
        <p:grpSpPr>
          <a:xfrm>
            <a:off x="678942" y="6407468"/>
            <a:ext cx="10643616" cy="264033"/>
            <a:chOff x="678942" y="6407468"/>
            <a:chExt cx="10643616" cy="264033"/>
          </a:xfrm>
        </p:grpSpPr>
        <p:sp>
          <p:nvSpPr>
            <p:cNvPr id="25" name="TextBox 25"/>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6" name="TextBox 26"/>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14</a:t>
              </a:r>
            </a:p>
          </p:txBody>
        </p:sp>
        <p:sp>
          <p:nvSpPr>
            <p:cNvPr id="3" name="TextBox 3"/>
            <p:cNvSpPr txBox="1"/>
            <p:nvPr/>
          </p:nvSpPr>
          <p:spPr>
            <a:xfrm>
              <a:off x="666750" y="738188"/>
              <a:ext cx="723500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4｜轻量修订与申诉闭环</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5143500" cy="1905000"/>
            <a:chOff x="685800" y="1695450"/>
            <a:chExt cx="5143500" cy="1905000"/>
          </a:xfrm>
        </p:grpSpPr>
        <p:sp>
          <p:nvSpPr>
            <p:cNvPr id="6" name="Rectangle 6"/>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7" name="Rectangle 7"/>
            <p:cNvSpPr/>
            <p:nvPr/>
          </p:nvSpPr>
          <p:spPr>
            <a:xfrm>
              <a:off x="685800" y="1695450"/>
              <a:ext cx="76200" cy="1905000"/>
            </a:xfrm>
            <a:prstGeom prst="roundRect">
              <a:avLst>
                <a:gd name="adj" fmla="val 50000"/>
              </a:avLst>
            </a:prstGeom>
            <a:solidFill>
              <a:schemeClr val="accent2"/>
            </a:solidFill>
            <a:ln>
              <a:noFill/>
            </a:ln>
          </p:spPr>
        </p:sp>
        <p:sp>
          <p:nvSpPr>
            <p:cNvPr id="8" name="TextBox 8"/>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9" name="TextBox 9"/>
            <p:cNvSpPr txBox="1"/>
            <p:nvPr/>
          </p:nvSpPr>
          <p:spPr>
            <a:xfrm>
              <a:off x="9441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成绩一旦生效，现实中的纠错无处落地直接覆盖又会破坏历史证据</a:t>
              </a:r>
            </a:p>
          </p:txBody>
        </p:sp>
      </p:grpSp>
      <p:grpSp>
        <p:nvGrpSpPr>
          <p:cNvPr id="15" name="Group 15"/>
          <p:cNvGrpSpPr/>
          <p:nvPr/>
        </p:nvGrpSpPr>
        <p:grpSpPr>
          <a:xfrm>
            <a:off x="6362700" y="1695450"/>
            <a:ext cx="5143500" cy="1905000"/>
            <a:chOff x="6362700" y="1695450"/>
            <a:chExt cx="5143500" cy="1905000"/>
          </a:xfrm>
        </p:grpSpPr>
        <p:sp>
          <p:nvSpPr>
            <p:cNvPr id="11" name="Rectangle 11"/>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2" name="Rectangle 12"/>
            <p:cNvSpPr/>
            <p:nvPr/>
          </p:nvSpPr>
          <p:spPr>
            <a:xfrm>
              <a:off x="6362700" y="1695450"/>
              <a:ext cx="76200" cy="1905000"/>
            </a:xfrm>
            <a:prstGeom prst="roundRect">
              <a:avLst>
                <a:gd name="adj" fmla="val 50000"/>
              </a:avLst>
            </a:prstGeom>
            <a:solidFill>
              <a:schemeClr val="accent1"/>
            </a:solidFill>
            <a:ln>
              <a:noFill/>
            </a:ln>
          </p:spPr>
        </p:sp>
        <p:sp>
          <p:nvSpPr>
            <p:cNvPr id="13" name="TextBox 13"/>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4" name="TextBox 14"/>
            <p:cNvSpPr txBox="1"/>
            <p:nvPr/>
          </p:nvSpPr>
          <p:spPr>
            <a:xfrm>
              <a:off x="6621018" y="231743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修订创建新版本并引用前序记录申诉采用提出、受理、裁决、关闭流程</a:t>
              </a:r>
            </a:p>
          </p:txBody>
        </p:sp>
      </p:grpSp>
      <p:grpSp>
        <p:nvGrpSpPr>
          <p:cNvPr id="20" name="Group 20"/>
          <p:cNvGrpSpPr/>
          <p:nvPr/>
        </p:nvGrpSpPr>
        <p:grpSpPr>
          <a:xfrm>
            <a:off x="685800" y="3886200"/>
            <a:ext cx="5143500" cy="1905000"/>
            <a:chOff x="685800" y="3886200"/>
            <a:chExt cx="5143500" cy="1905000"/>
          </a:xfrm>
        </p:grpSpPr>
        <p:sp>
          <p:nvSpPr>
            <p:cNvPr id="16" name="Rectangle 16"/>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7" name="Rectangle 17"/>
            <p:cNvSpPr/>
            <p:nvPr/>
          </p:nvSpPr>
          <p:spPr>
            <a:xfrm>
              <a:off x="685800" y="3886200"/>
              <a:ext cx="76200" cy="1905000"/>
            </a:xfrm>
            <a:prstGeom prst="roundRect">
              <a:avLst>
                <a:gd name="adj" fmla="val 50000"/>
              </a:avLst>
            </a:prstGeom>
            <a:solidFill>
              <a:schemeClr val="accent3"/>
            </a:solidFill>
            <a:ln>
              <a:noFill/>
            </a:ln>
          </p:spPr>
        </p:sp>
        <p:sp>
          <p:nvSpPr>
            <p:cNvPr id="18" name="TextBox 18"/>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19" name="TextBox 19"/>
            <p:cNvSpPr txBox="1"/>
            <p:nvPr/>
          </p:nvSpPr>
          <p:spPr>
            <a:xfrm>
              <a:off x="944118" y="4508182"/>
              <a:ext cx="357911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原记录保持可查，新记录成为当前版本每个动作都有操作者、时间与原因</a:t>
              </a:r>
            </a:p>
          </p:txBody>
        </p:sp>
      </p:grpSp>
      <p:grpSp>
        <p:nvGrpSpPr>
          <p:cNvPr id="25" name="Group 25"/>
          <p:cNvGrpSpPr/>
          <p:nvPr/>
        </p:nvGrpSpPr>
        <p:grpSpPr>
          <a:xfrm>
            <a:off x="6362700" y="3886200"/>
            <a:ext cx="5143500" cy="1905000"/>
            <a:chOff x="6362700" y="3886200"/>
            <a:chExt cx="5143500" cy="1905000"/>
          </a:xfrm>
        </p:grpSpPr>
        <p:sp>
          <p:nvSpPr>
            <p:cNvPr id="21" name="Rectangle 21"/>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2" name="Rectangle 22"/>
            <p:cNvSpPr/>
            <p:nvPr/>
          </p:nvSpPr>
          <p:spPr>
            <a:xfrm>
              <a:off x="6362700" y="3886200"/>
              <a:ext cx="76200" cy="1905000"/>
            </a:xfrm>
            <a:prstGeom prst="roundRect">
              <a:avLst>
                <a:gd name="adj" fmla="val 50000"/>
              </a:avLst>
            </a:prstGeom>
            <a:solidFill>
              <a:schemeClr val="accent2"/>
            </a:solidFill>
            <a:ln>
              <a:noFill/>
            </a:ln>
          </p:spPr>
        </p:sp>
        <p:sp>
          <p:nvSpPr>
            <p:cNvPr id="23" name="TextBox 23"/>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4" name="TextBox 24"/>
            <p:cNvSpPr txBox="1"/>
            <p:nvPr/>
          </p:nvSpPr>
          <p:spPr>
            <a:xfrm>
              <a:off x="6621018" y="4508182"/>
              <a:ext cx="29504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并发修订可能产生覆盖竞争流程正确，但批量操作效率不足</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4956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CORE CODE · 15</a:t>
              </a:r>
            </a:p>
          </p:txBody>
        </p:sp>
        <p:sp>
          <p:nvSpPr>
            <p:cNvPr id="3" name="TextBox 3"/>
            <p:cNvSpPr txBox="1"/>
            <p:nvPr/>
          </p:nvSpPr>
          <p:spPr>
            <a:xfrm>
              <a:off x="666750" y="738188"/>
              <a:ext cx="843915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修订原子性：旧版封存，新版创建</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1" name="Group 11"/>
          <p:cNvGrpSpPr/>
          <p:nvPr/>
        </p:nvGrpSpPr>
        <p:grpSpPr>
          <a:xfrm>
            <a:off x="685800" y="1695450"/>
            <a:ext cx="6858000" cy="3590925"/>
            <a:chOff x="685800" y="1695450"/>
            <a:chExt cx="6858000" cy="3590925"/>
          </a:xfrm>
        </p:grpSpPr>
        <p:sp>
          <p:nvSpPr>
            <p:cNvPr id="6" name="Rectangle 6"/>
            <p:cNvSpPr/>
            <p:nvPr/>
          </p:nvSpPr>
          <p:spPr>
            <a:xfrm>
              <a:off x="685800" y="1695450"/>
              <a:ext cx="6858000" cy="3590925"/>
            </a:xfrm>
            <a:prstGeom prst="roundRect">
              <a:avLst>
                <a:gd name="adj" fmla="val 1857"/>
              </a:avLst>
            </a:prstGeom>
            <a:solidFill>
              <a:srgbClr val="12202D"/>
            </a:solidFill>
            <a:ln>
              <a:noFill/>
            </a:ln>
          </p:spPr>
        </p:sp>
        <p:sp>
          <p:nvSpPr>
            <p:cNvPr id="7" name="Ellipse 7"/>
            <p:cNvSpPr/>
            <p:nvPr/>
          </p:nvSpPr>
          <p:spPr>
            <a:xfrm>
              <a:off x="847725" y="1838325"/>
              <a:ext cx="95250" cy="95250"/>
            </a:xfrm>
            <a:prstGeom prst="ellipse">
              <a:avLst/>
            </a:prstGeom>
            <a:solidFill>
              <a:schemeClr val="accent2"/>
            </a:solidFill>
            <a:ln>
              <a:noFill/>
            </a:ln>
          </p:spPr>
        </p:sp>
        <p:sp>
          <p:nvSpPr>
            <p:cNvPr id="8" name="Ellipse 8"/>
            <p:cNvSpPr/>
            <p:nvPr/>
          </p:nvSpPr>
          <p:spPr>
            <a:xfrm>
              <a:off x="1019175" y="1838325"/>
              <a:ext cx="95250" cy="95250"/>
            </a:xfrm>
            <a:prstGeom prst="ellipse">
              <a:avLst/>
            </a:prstGeom>
            <a:solidFill>
              <a:srgbClr val="D3A84B"/>
            </a:solidFill>
            <a:ln>
              <a:noFill/>
            </a:ln>
          </p:spPr>
        </p:sp>
        <p:sp>
          <p:nvSpPr>
            <p:cNvPr id="9" name="Ellipse 9"/>
            <p:cNvSpPr/>
            <p:nvPr/>
          </p:nvSpPr>
          <p:spPr>
            <a:xfrm>
              <a:off x="1190625" y="1838325"/>
              <a:ext cx="95250" cy="95250"/>
            </a:xfrm>
            <a:prstGeom prst="ellipse">
              <a:avLst/>
            </a:prstGeom>
            <a:solidFill>
              <a:schemeClr val="accent3"/>
            </a:solidFill>
            <a:ln>
              <a:noFill/>
            </a:ln>
          </p:spPr>
        </p:sp>
        <p:sp>
          <p:nvSpPr>
            <p:cNvPr id="10" name="TextBox 10"/>
            <p:cNvSpPr txBox="1"/>
            <p:nvPr/>
          </p:nvSpPr>
          <p:spPr>
            <a:xfrm>
              <a:off x="888492" y="2102168"/>
              <a:ext cx="3948494" cy="2064258"/>
            </a:xfrm>
            <a:prstGeom prst="rect">
              <a:avLst/>
            </a:prstGeom>
            <a:noFill/>
            <a:ln>
              <a:noFill/>
            </a:ln>
          </p:spPr>
          <p:txBody>
            <a:bodyPr wrap="square" lIns="0" tIns="0" rIns="0" bIns="0" anchor="t" anchorCtr="0"/>
            <a:lstStyle/>
            <a:p>
              <a:pPr algn="l">
                <a:lnSpc>
                  <a:spcPts val="2025"/>
                </a:lnSpc>
              </a:pPr>
              <a:r>
                <a:rPr lang="en-US" sz="1350" dirty="0">
                  <a:solidFill>
                    <a:srgbClr val="DCE7EF"/>
                  </a:solidFill>
                  <a:latin typeface="Consolas"/>
                  <a:ea typeface="Consolas"/>
                  <a:cs typeface="Consolas"/>
                </a:rPr>
                <a:t xml:space="preserve">const old = await getGrade(ctx, gradeId); </a:t>
              </a:r>
              <a:r>
                <a:rPr lang="en-US" sz="1350" dirty="0">
                  <a:solidFill>
                    <a:srgbClr val="6DD3CE"/>
                  </a:solidFill>
                  <a:latin typeface="Consolas"/>
                  <a:ea typeface="Consolas"/>
                  <a:cs typeface="Consolas"/>
                </a:rPr>
                <a:t xml:space="preserve">assertVersion(old.version, expectedVersion); </a:t>
              </a:r>
              <a:r>
                <a:rPr lang="en-US" sz="1350" dirty="0">
                  <a:solidFill>
                    <a:srgbClr val="DCE7EF"/>
                  </a:solidFill>
                  <a:latin typeface="Consolas"/>
                  <a:ea typeface="Consolas"/>
                  <a:cs typeface="Consolas"/>
                </a:rPr>
                <a:t xml:space="preserve">const next = { ...old, </a:t>
              </a:r>
              <a:r>
                <a:rPr lang="en-US" sz="1350" dirty="0">
                  <a:solidFill>
                    <a:srgbClr val="6DD3CE"/>
                  </a:solidFill>
                  <a:latin typeface="Consolas"/>
                  <a:ea typeface="Consolas"/>
                  <a:cs typeface="Consolas"/>
                </a:rPr>
                <a:t xml:space="preserve">gradeId: newId, version: old.version + 1, previousId: old.gradeId, status: "EFFECTIVE" </a:t>
              </a:r>
              <a:r>
                <a:rPr lang="en-US" sz="1350" dirty="0">
                  <a:solidFill>
                    <a:srgbClr val="DCE7EF"/>
                  </a:solidFill>
                  <a:latin typeface="Consolas"/>
                  <a:ea typeface="Consolas"/>
                  <a:cs typeface="Consolas"/>
                </a:rPr>
                <a:t xml:space="preserve">}; </a:t>
              </a:r>
              <a:r>
                <a:rPr lang="en-US" sz="1350" dirty="0">
                  <a:solidFill>
                    <a:srgbClr val="6DD3CE"/>
                  </a:solidFill>
                  <a:latin typeface="Consolas"/>
                  <a:ea typeface="Consolas"/>
                  <a:cs typeface="Consolas"/>
                </a:rPr>
                <a:t>old.status = "SUPERSEDED"; await putBothAtomically(ctx, old, next);</a:t>
              </a:r>
            </a:p>
          </p:txBody>
        </p:sp>
      </p:grpSp>
      <p:grpSp>
        <p:nvGrpSpPr>
          <p:cNvPr id="16" name="Group 16"/>
          <p:cNvGrpSpPr/>
          <p:nvPr/>
        </p:nvGrpSpPr>
        <p:grpSpPr>
          <a:xfrm>
            <a:off x="7848600" y="1695450"/>
            <a:ext cx="3657600" cy="1619250"/>
            <a:chOff x="7848600" y="1695450"/>
            <a:chExt cx="3657600" cy="1619250"/>
          </a:xfrm>
        </p:grpSpPr>
        <p:sp>
          <p:nvSpPr>
            <p:cNvPr id="12" name="Rectangle 12"/>
            <p:cNvSpPr/>
            <p:nvPr/>
          </p:nvSpPr>
          <p:spPr>
            <a:xfrm>
              <a:off x="7848600" y="1695450"/>
              <a:ext cx="3657600" cy="1619250"/>
            </a:xfrm>
            <a:prstGeom prst="roundRect">
              <a:avLst>
                <a:gd name="adj" fmla="val 3529"/>
              </a:avLst>
            </a:prstGeom>
            <a:solidFill>
              <a:schemeClr val="lt2"/>
            </a:solidFill>
            <a:ln w="14288">
              <a:solidFill>
                <a:schemeClr val="accent6"/>
              </a:solidFill>
            </a:ln>
          </p:spPr>
        </p:sp>
        <p:sp>
          <p:nvSpPr>
            <p:cNvPr id="13" name="Rectangle 13"/>
            <p:cNvSpPr/>
            <p:nvPr/>
          </p:nvSpPr>
          <p:spPr>
            <a:xfrm>
              <a:off x="7848600" y="1695450"/>
              <a:ext cx="76200" cy="1619250"/>
            </a:xfrm>
            <a:prstGeom prst="roundRect">
              <a:avLst>
                <a:gd name="adj" fmla="val 50000"/>
              </a:avLst>
            </a:prstGeom>
            <a:solidFill>
              <a:schemeClr val="accent3"/>
            </a:solidFill>
            <a:ln>
              <a:noFill/>
            </a:ln>
          </p:spPr>
        </p:sp>
        <p:sp>
          <p:nvSpPr>
            <p:cNvPr id="14" name="TextBox 14"/>
            <p:cNvSpPr txBox="1"/>
            <p:nvPr/>
          </p:nvSpPr>
          <p:spPr>
            <a:xfrm>
              <a:off x="81038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保持不变量</a:t>
              </a:r>
            </a:p>
          </p:txBody>
        </p:sp>
        <p:sp>
          <p:nvSpPr>
            <p:cNvPr id="15" name="TextBox 15"/>
            <p:cNvSpPr txBox="1"/>
            <p:nvPr/>
          </p:nvSpPr>
          <p:spPr>
            <a:xfrm>
              <a:off x="8106918" y="2317432"/>
              <a:ext cx="25313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同一成绩只有一个当前版本旧记录不删除新旧哈希均可验证</a:t>
              </a:r>
            </a:p>
          </p:txBody>
        </p:sp>
      </p:grpSp>
      <p:grpSp>
        <p:nvGrpSpPr>
          <p:cNvPr id="21" name="Group 21"/>
          <p:cNvGrpSpPr/>
          <p:nvPr/>
        </p:nvGrpSpPr>
        <p:grpSpPr>
          <a:xfrm>
            <a:off x="7848600" y="3505200"/>
            <a:ext cx="3657600" cy="1781175"/>
            <a:chOff x="7848600" y="3505200"/>
            <a:chExt cx="3657600" cy="1781175"/>
          </a:xfrm>
        </p:grpSpPr>
        <p:sp>
          <p:nvSpPr>
            <p:cNvPr id="17" name="Rectangle 17"/>
            <p:cNvSpPr/>
            <p:nvPr/>
          </p:nvSpPr>
          <p:spPr>
            <a:xfrm>
              <a:off x="7848600" y="3505200"/>
              <a:ext cx="3657600" cy="1781175"/>
            </a:xfrm>
            <a:prstGeom prst="roundRect">
              <a:avLst>
                <a:gd name="adj" fmla="val 3209"/>
              </a:avLst>
            </a:prstGeom>
            <a:solidFill>
              <a:schemeClr val="lt2"/>
            </a:solidFill>
            <a:ln w="14288">
              <a:solidFill>
                <a:schemeClr val="accent6"/>
              </a:solidFill>
            </a:ln>
          </p:spPr>
        </p:sp>
        <p:sp>
          <p:nvSpPr>
            <p:cNvPr id="18" name="Rectangle 18"/>
            <p:cNvSpPr/>
            <p:nvPr/>
          </p:nvSpPr>
          <p:spPr>
            <a:xfrm>
              <a:off x="7848600" y="3505200"/>
              <a:ext cx="76200" cy="1781175"/>
            </a:xfrm>
            <a:prstGeom prst="roundRect">
              <a:avLst>
                <a:gd name="adj" fmla="val 50000"/>
              </a:avLst>
            </a:prstGeom>
            <a:solidFill>
              <a:schemeClr val="accent2"/>
            </a:solidFill>
            <a:ln>
              <a:noFill/>
            </a:ln>
          </p:spPr>
        </p:sp>
        <p:sp>
          <p:nvSpPr>
            <p:cNvPr id="19" name="TextBox 19"/>
            <p:cNvSpPr txBox="1"/>
            <p:nvPr/>
          </p:nvSpPr>
          <p:spPr>
            <a:xfrm>
              <a:off x="8103870" y="366236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避免并发覆盖</a:t>
              </a:r>
            </a:p>
          </p:txBody>
        </p:sp>
        <p:sp>
          <p:nvSpPr>
            <p:cNvPr id="20" name="TextBox 20"/>
            <p:cNvSpPr txBox="1"/>
            <p:nvPr/>
          </p:nvSpPr>
          <p:spPr>
            <a:xfrm>
              <a:off x="8106918" y="4127182"/>
              <a:ext cx="2803779"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调用方提交 expectedVersion版本不一致立即拒绝客户端重新读取后再决策</a:t>
              </a:r>
            </a:p>
          </p:txBody>
        </p:sp>
      </p:grpSp>
      <p:grpSp>
        <p:nvGrpSpPr>
          <p:cNvPr id="24" name="Group 24"/>
          <p:cNvGrpSpPr/>
          <p:nvPr/>
        </p:nvGrpSpPr>
        <p:grpSpPr>
          <a:xfrm>
            <a:off x="678942" y="6407468"/>
            <a:ext cx="10643616" cy="264033"/>
            <a:chOff x="678942" y="6407468"/>
            <a:chExt cx="10643616" cy="264033"/>
          </a:xfrm>
        </p:grpSpPr>
        <p:sp>
          <p:nvSpPr>
            <p:cNvPr id="22" name="TextBox 22"/>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3" name="TextBox 23"/>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84850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ROLE-BASED UI · 16</a:t>
              </a:r>
            </a:p>
          </p:txBody>
        </p:sp>
        <p:sp>
          <p:nvSpPr>
            <p:cNvPr id="3" name="TextBox 3"/>
            <p:cNvSpPr txBox="1"/>
            <p:nvPr/>
          </p:nvSpPr>
          <p:spPr>
            <a:xfrm>
              <a:off x="666750" y="738188"/>
              <a:ext cx="83551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5｜四个角色，四种任务界面</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4876800" cy="4000500"/>
            <a:chOff x="685800" y="1695450"/>
            <a:chExt cx="4876800" cy="4000500"/>
          </a:xfrm>
        </p:grpSpPr>
        <p:sp>
          <p:nvSpPr>
            <p:cNvPr id="6" name="Rectangle 6"/>
            <p:cNvSpPr/>
            <p:nvPr/>
          </p:nvSpPr>
          <p:spPr>
            <a:xfrm>
              <a:off x="685800" y="1695450"/>
              <a:ext cx="4876800" cy="4000500"/>
            </a:xfrm>
            <a:prstGeom prst="roundRect">
              <a:avLst>
                <a:gd name="adj" fmla="val 1905"/>
              </a:avLst>
            </a:prstGeom>
            <a:solidFill>
              <a:schemeClr val="lt2"/>
            </a:solidFill>
            <a:ln w="9525">
              <a:solidFill>
                <a:schemeClr val="accent6"/>
              </a:solidFill>
            </a:ln>
          </p:spPr>
        </p:sp>
        <p:pic>
          <p:nvPicPr>
            <p:cNvPr id="7" name="Image 7"/>
            <p:cNvPicPr>
              <a:picLocks noChangeAspect="1"/>
            </p:cNvPicPr>
            <p:nvPr/>
          </p:nvPicPr>
          <p:blipFill>
            <a:blip r:embed="rId2"/>
            <a:srcRect l="9150" t="0" r="9150" b="0"/>
            <a:stretch>
              <a:fillRect/>
            </a:stretch>
          </p:blipFill>
          <p:spPr>
            <a:xfrm>
              <a:off x="742950" y="1752600"/>
              <a:ext cx="4762500" cy="3886200"/>
            </a:xfrm>
            <a:prstGeom prst="rect">
              <a:avLst/>
            </a:prstGeom>
          </p:spPr>
        </p:pic>
      </p:grpSp>
      <p:grpSp>
        <p:nvGrpSpPr>
          <p:cNvPr id="11" name="Group 11"/>
          <p:cNvGrpSpPr/>
          <p:nvPr/>
        </p:nvGrpSpPr>
        <p:grpSpPr>
          <a:xfrm>
            <a:off x="5829300" y="1695450"/>
            <a:ext cx="2686050" cy="4000500"/>
            <a:chOff x="5829300" y="1695450"/>
            <a:chExt cx="2686050" cy="4000500"/>
          </a:xfrm>
        </p:grpSpPr>
        <p:sp>
          <p:nvSpPr>
            <p:cNvPr id="9" name="Rectangle 9"/>
            <p:cNvSpPr/>
            <p:nvPr/>
          </p:nvSpPr>
          <p:spPr>
            <a:xfrm>
              <a:off x="5829300" y="1695450"/>
              <a:ext cx="2686050" cy="4000500"/>
            </a:xfrm>
            <a:prstGeom prst="roundRect">
              <a:avLst>
                <a:gd name="adj" fmla="val 2837"/>
              </a:avLst>
            </a:prstGeom>
            <a:solidFill>
              <a:schemeClr val="lt2"/>
            </a:solidFill>
            <a:ln w="9525">
              <a:solidFill>
                <a:schemeClr val="accent6"/>
              </a:solidFill>
            </a:ln>
          </p:spPr>
        </p:sp>
        <p:pic>
          <p:nvPicPr>
            <p:cNvPr id="10" name="Image 10"/>
            <p:cNvPicPr>
              <a:picLocks noChangeAspect="1"/>
            </p:cNvPicPr>
            <p:nvPr/>
          </p:nvPicPr>
          <p:blipFill>
            <a:blip r:embed="rId3"/>
            <a:srcRect l="0" t="20002" r="0" b="20002"/>
            <a:stretch>
              <a:fillRect/>
            </a:stretch>
          </p:blipFill>
          <p:spPr>
            <a:xfrm>
              <a:off x="5886450" y="1752600"/>
              <a:ext cx="2571750" cy="3886200"/>
            </a:xfrm>
            <a:prstGeom prst="rect">
              <a:avLst/>
            </a:prstGeom>
          </p:spPr>
        </p:pic>
      </p:grpSp>
      <p:grpSp>
        <p:nvGrpSpPr>
          <p:cNvPr id="14" name="Group 14"/>
          <p:cNvGrpSpPr/>
          <p:nvPr/>
        </p:nvGrpSpPr>
        <p:grpSpPr>
          <a:xfrm>
            <a:off x="8782050" y="1695450"/>
            <a:ext cx="2724150" cy="4000500"/>
            <a:chOff x="8782050" y="1695450"/>
            <a:chExt cx="2724150" cy="4000500"/>
          </a:xfrm>
        </p:grpSpPr>
        <p:sp>
          <p:nvSpPr>
            <p:cNvPr id="12" name="Rectangle 12"/>
            <p:cNvSpPr/>
            <p:nvPr/>
          </p:nvSpPr>
          <p:spPr>
            <a:xfrm>
              <a:off x="8782050" y="1695450"/>
              <a:ext cx="2724150" cy="4000500"/>
            </a:xfrm>
            <a:prstGeom prst="roundRect">
              <a:avLst>
                <a:gd name="adj" fmla="val 2797"/>
              </a:avLst>
            </a:prstGeom>
            <a:solidFill>
              <a:schemeClr val="lt2"/>
            </a:solidFill>
            <a:ln w="9525">
              <a:solidFill>
                <a:schemeClr val="accent6"/>
              </a:solidFill>
            </a:ln>
          </p:spPr>
        </p:sp>
        <p:pic>
          <p:nvPicPr>
            <p:cNvPr id="13" name="Image 13"/>
            <p:cNvPicPr>
              <a:picLocks noChangeAspect="1"/>
            </p:cNvPicPr>
            <p:nvPr/>
          </p:nvPicPr>
          <p:blipFill>
            <a:blip r:embed="rId4"/>
            <a:srcRect l="0" t="18997" r="0" b="18997"/>
            <a:stretch>
              <a:fillRect/>
            </a:stretch>
          </p:blipFill>
          <p:spPr>
            <a:xfrm>
              <a:off x="8839200" y="1752600"/>
              <a:ext cx="2609850" cy="3886200"/>
            </a:xfrm>
            <a:prstGeom prst="rect">
              <a:avLst/>
            </a:prstGeom>
          </p:spPr>
        </p:pic>
      </p:grpSp>
      <p:grpSp>
        <p:nvGrpSpPr>
          <p:cNvPr id="16" name="Group 16"/>
          <p:cNvGrpSpPr/>
          <p:nvPr/>
        </p:nvGrpSpPr>
        <p:grpSpPr>
          <a:xfrm>
            <a:off x="677418" y="5879782"/>
            <a:ext cx="6680454" cy="322707"/>
            <a:chOff x="677418" y="5879782"/>
            <a:chExt cx="6680454" cy="322707"/>
          </a:xfrm>
        </p:grpSpPr>
        <p:sp>
          <p:nvSpPr>
            <p:cNvPr id="15" name="TextBox 15"/>
            <p:cNvSpPr txBox="1"/>
            <p:nvPr/>
          </p:nvSpPr>
          <p:spPr>
            <a:xfrm>
              <a:off x="677418" y="5879782"/>
              <a:ext cx="668045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入口按任务而非技术模块组织：签发、复核、我的成绩、公开验证。</a:t>
              </a:r>
            </a:p>
          </p:txBody>
        </p:sp>
      </p:grpSp>
      <p:grpSp>
        <p:nvGrpSpPr>
          <p:cNvPr id="19" name="Group 19"/>
          <p:cNvGrpSpPr/>
          <p:nvPr/>
        </p:nvGrpSpPr>
        <p:grpSpPr>
          <a:xfrm>
            <a:off x="678942" y="6407468"/>
            <a:ext cx="10643616" cy="264033"/>
            <a:chOff x="678942" y="6407468"/>
            <a:chExt cx="10643616" cy="264033"/>
          </a:xfrm>
        </p:grpSpPr>
        <p:sp>
          <p:nvSpPr>
            <p:cNvPr id="17" name="TextBox 17"/>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18" name="TextBox 18"/>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747693"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WORKFLOW UI · 17</a:t>
              </a:r>
            </a:p>
          </p:txBody>
        </p:sp>
        <p:sp>
          <p:nvSpPr>
            <p:cNvPr id="3" name="TextBox 3"/>
            <p:cNvSpPr txBox="1"/>
            <p:nvPr/>
          </p:nvSpPr>
          <p:spPr>
            <a:xfrm>
              <a:off x="666750" y="738188"/>
              <a:ext cx="891521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5｜把高频任务做成可验收交互</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4762500" cy="3238500"/>
            <a:chOff x="685800" y="1695450"/>
            <a:chExt cx="4762500" cy="3238500"/>
          </a:xfrm>
        </p:grpSpPr>
        <p:sp>
          <p:nvSpPr>
            <p:cNvPr id="6" name="Rectangle 6"/>
            <p:cNvSpPr/>
            <p:nvPr/>
          </p:nvSpPr>
          <p:spPr>
            <a:xfrm>
              <a:off x="685800" y="1695450"/>
              <a:ext cx="4762500" cy="3238500"/>
            </a:xfrm>
            <a:prstGeom prst="roundRect">
              <a:avLst>
                <a:gd name="adj" fmla="val 2353"/>
              </a:avLst>
            </a:prstGeom>
            <a:solidFill>
              <a:schemeClr val="lt2"/>
            </a:solidFill>
            <a:ln w="9525">
              <a:solidFill>
                <a:schemeClr val="accent6"/>
              </a:solidFill>
            </a:ln>
          </p:spPr>
        </p:sp>
        <p:pic>
          <p:nvPicPr>
            <p:cNvPr id="7" name="Image 7"/>
            <p:cNvPicPr>
              <a:picLocks noChangeAspect="1"/>
            </p:cNvPicPr>
            <p:nvPr/>
          </p:nvPicPr>
          <p:blipFill>
            <a:blip r:embed="rId2"/>
            <a:srcRect l="0" t="26557" r="0" b="26557"/>
            <a:stretch>
              <a:fillRect/>
            </a:stretch>
          </p:blipFill>
          <p:spPr>
            <a:xfrm>
              <a:off x="742950" y="1752600"/>
              <a:ext cx="4648200" cy="3124200"/>
            </a:xfrm>
            <a:prstGeom prst="rect">
              <a:avLst/>
            </a:prstGeom>
          </p:spPr>
        </p:pic>
      </p:grpSp>
      <p:grpSp>
        <p:nvGrpSpPr>
          <p:cNvPr id="13" name="Group 13"/>
          <p:cNvGrpSpPr/>
          <p:nvPr/>
        </p:nvGrpSpPr>
        <p:grpSpPr>
          <a:xfrm>
            <a:off x="5753100" y="1695450"/>
            <a:ext cx="5753100" cy="1428750"/>
            <a:chOff x="5753100" y="1695450"/>
            <a:chExt cx="5753100" cy="1428750"/>
          </a:xfrm>
        </p:grpSpPr>
        <p:sp>
          <p:nvSpPr>
            <p:cNvPr id="9" name="Rectangle 9"/>
            <p:cNvSpPr/>
            <p:nvPr/>
          </p:nvSpPr>
          <p:spPr>
            <a:xfrm>
              <a:off x="5753100" y="1695450"/>
              <a:ext cx="5753100" cy="1428750"/>
            </a:xfrm>
            <a:prstGeom prst="roundRect">
              <a:avLst>
                <a:gd name="adj" fmla="val 4000"/>
              </a:avLst>
            </a:prstGeom>
            <a:solidFill>
              <a:schemeClr val="lt2"/>
            </a:solidFill>
            <a:ln w="14288">
              <a:solidFill>
                <a:schemeClr val="accent6"/>
              </a:solidFill>
            </a:ln>
          </p:spPr>
        </p:sp>
        <p:sp>
          <p:nvSpPr>
            <p:cNvPr id="10" name="Rectangle 10"/>
            <p:cNvSpPr/>
            <p:nvPr/>
          </p:nvSpPr>
          <p:spPr>
            <a:xfrm>
              <a:off x="5753100" y="1695450"/>
              <a:ext cx="76200" cy="1428750"/>
            </a:xfrm>
            <a:prstGeom prst="roundRect">
              <a:avLst>
                <a:gd name="adj" fmla="val 50000"/>
              </a:avLst>
            </a:prstGeom>
            <a:solidFill>
              <a:schemeClr val="accent1"/>
            </a:solidFill>
            <a:ln>
              <a:noFill/>
            </a:ln>
          </p:spPr>
        </p:sp>
        <p:sp>
          <p:nvSpPr>
            <p:cNvPr id="11" name="TextBox 11"/>
            <p:cNvSpPr txBox="1"/>
            <p:nvPr/>
          </p:nvSpPr>
          <p:spPr>
            <a:xfrm>
              <a:off x="60083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批量签发</a:t>
              </a:r>
            </a:p>
          </p:txBody>
        </p:sp>
        <p:sp>
          <p:nvSpPr>
            <p:cNvPr id="12" name="TextBox 12"/>
            <p:cNvSpPr txBox="1"/>
            <p:nvPr/>
          </p:nvSpPr>
          <p:spPr>
            <a:xfrm>
              <a:off x="6011418" y="2317432"/>
              <a:ext cx="3254311"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模板校验 → 预览 → 提交 → 逐条结果失败项可定位，不用重做整批</a:t>
              </a:r>
            </a:p>
          </p:txBody>
        </p:sp>
      </p:grpSp>
      <p:grpSp>
        <p:nvGrpSpPr>
          <p:cNvPr id="18" name="Group 18"/>
          <p:cNvGrpSpPr/>
          <p:nvPr/>
        </p:nvGrpSpPr>
        <p:grpSpPr>
          <a:xfrm>
            <a:off x="5753100" y="3314700"/>
            <a:ext cx="5753100" cy="1619250"/>
            <a:chOff x="5753100" y="3314700"/>
            <a:chExt cx="5753100" cy="1619250"/>
          </a:xfrm>
        </p:grpSpPr>
        <p:sp>
          <p:nvSpPr>
            <p:cNvPr id="14" name="Rectangle 14"/>
            <p:cNvSpPr/>
            <p:nvPr/>
          </p:nvSpPr>
          <p:spPr>
            <a:xfrm>
              <a:off x="5753100" y="3314700"/>
              <a:ext cx="5753100" cy="1619250"/>
            </a:xfrm>
            <a:prstGeom prst="roundRect">
              <a:avLst>
                <a:gd name="adj" fmla="val 3529"/>
              </a:avLst>
            </a:prstGeom>
            <a:solidFill>
              <a:schemeClr val="lt2"/>
            </a:solidFill>
            <a:ln w="14288">
              <a:solidFill>
                <a:schemeClr val="accent6"/>
              </a:solidFill>
            </a:ln>
          </p:spPr>
        </p:sp>
        <p:sp>
          <p:nvSpPr>
            <p:cNvPr id="15" name="Rectangle 15"/>
            <p:cNvSpPr/>
            <p:nvPr/>
          </p:nvSpPr>
          <p:spPr>
            <a:xfrm>
              <a:off x="5753100" y="3314700"/>
              <a:ext cx="76200" cy="1619250"/>
            </a:xfrm>
            <a:prstGeom prst="roundRect">
              <a:avLst>
                <a:gd name="adj" fmla="val 50000"/>
              </a:avLst>
            </a:prstGeom>
            <a:solidFill>
              <a:schemeClr val="accent3"/>
            </a:solidFill>
            <a:ln>
              <a:noFill/>
            </a:ln>
          </p:spPr>
        </p:sp>
        <p:sp>
          <p:nvSpPr>
            <p:cNvPr id="16" name="TextBox 16"/>
            <p:cNvSpPr txBox="1"/>
            <p:nvPr/>
          </p:nvSpPr>
          <p:spPr>
            <a:xfrm>
              <a:off x="6008370" y="34718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有限披露</a:t>
              </a:r>
            </a:p>
          </p:txBody>
        </p:sp>
        <p:sp>
          <p:nvSpPr>
            <p:cNvPr id="17" name="TextBox 17"/>
            <p:cNvSpPr txBox="1"/>
            <p:nvPr/>
          </p:nvSpPr>
          <p:spPr>
            <a:xfrm>
              <a:off x="6011418" y="393668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验证方只看到结论与必要字段学生主动提供凭证，不暴露私有集合</a:t>
              </a:r>
            </a:p>
          </p:txBody>
        </p:sp>
      </p:grpSp>
      <p:grpSp>
        <p:nvGrpSpPr>
          <p:cNvPr id="21" name="Group 21"/>
          <p:cNvGrpSpPr/>
          <p:nvPr/>
        </p:nvGrpSpPr>
        <p:grpSpPr>
          <a:xfrm>
            <a:off x="1428750" y="5219700"/>
            <a:ext cx="9334500" cy="625793"/>
            <a:chOff x="1428750" y="5219700"/>
            <a:chExt cx="9334500" cy="625793"/>
          </a:xfrm>
        </p:grpSpPr>
        <p:sp>
          <p:nvSpPr>
            <p:cNvPr id="19" name="Rectangle 19"/>
            <p:cNvSpPr/>
            <p:nvPr/>
          </p:nvSpPr>
          <p:spPr>
            <a:xfrm>
              <a:off x="1428750" y="5219700"/>
              <a:ext cx="9334500" cy="619125"/>
            </a:xfrm>
            <a:prstGeom prst="roundRect">
              <a:avLst>
                <a:gd name="adj" fmla="val 12308"/>
              </a:avLst>
            </a:prstGeom>
            <a:solidFill>
              <a:schemeClr val="accent2"/>
            </a:solidFill>
            <a:ln>
              <a:noFill/>
            </a:ln>
          </p:spPr>
        </p:sp>
        <p:sp>
          <p:nvSpPr>
            <p:cNvPr id="20" name="TextBox 20"/>
            <p:cNvSpPr txBox="1"/>
            <p:nvPr/>
          </p:nvSpPr>
          <p:spPr>
            <a:xfrm>
              <a:off x="1684020" y="5405438"/>
              <a:ext cx="9061190"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UI 的职责：让正确路径更短，让越权路径不可达。</a:t>
              </a:r>
            </a:p>
          </p:txBody>
        </p:sp>
      </p:grpSp>
      <p:grpSp>
        <p:nvGrpSpPr>
          <p:cNvPr id="24" name="Group 24"/>
          <p:cNvGrpSpPr/>
          <p:nvPr/>
        </p:nvGrpSpPr>
        <p:grpSpPr>
          <a:xfrm>
            <a:off x="678942" y="6407468"/>
            <a:ext cx="10643616" cy="264033"/>
            <a:chOff x="678942" y="6407468"/>
            <a:chExt cx="10643616" cy="264033"/>
          </a:xfrm>
        </p:grpSpPr>
        <p:sp>
          <p:nvSpPr>
            <p:cNvPr id="22" name="TextBox 22"/>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3" name="TextBox 23"/>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811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FAULT &amp; RECOVERY · 18</a:t>
              </a:r>
            </a:p>
          </p:txBody>
        </p:sp>
        <p:sp>
          <p:nvSpPr>
            <p:cNvPr id="3" name="TextBox 3"/>
            <p:cNvSpPr txBox="1"/>
            <p:nvPr/>
          </p:nvSpPr>
          <p:spPr>
            <a:xfrm>
              <a:off x="666750" y="738188"/>
              <a:ext cx="10827449"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工程转折：Docker 故障没有改变项目边界</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4476750" cy="2095500"/>
            <a:chOff x="685800" y="1695450"/>
            <a:chExt cx="4476750" cy="2095500"/>
          </a:xfrm>
        </p:grpSpPr>
        <p:sp>
          <p:nvSpPr>
            <p:cNvPr id="6" name="Rectangle 6"/>
            <p:cNvSpPr/>
            <p:nvPr/>
          </p:nvSpPr>
          <p:spPr>
            <a:xfrm>
              <a:off x="685800" y="1695450"/>
              <a:ext cx="4476750" cy="2095500"/>
            </a:xfrm>
            <a:prstGeom prst="roundRect">
              <a:avLst>
                <a:gd name="adj" fmla="val 2727"/>
              </a:avLst>
            </a:prstGeom>
            <a:solidFill>
              <a:schemeClr val="lt2"/>
            </a:solidFill>
            <a:ln w="14288">
              <a:solidFill>
                <a:schemeClr val="accent6"/>
              </a:solidFill>
            </a:ln>
          </p:spPr>
        </p:sp>
        <p:sp>
          <p:nvSpPr>
            <p:cNvPr id="7" name="Rectangle 7"/>
            <p:cNvSpPr/>
            <p:nvPr/>
          </p:nvSpPr>
          <p:spPr>
            <a:xfrm>
              <a:off x="685800" y="1695450"/>
              <a:ext cx="76200" cy="2095500"/>
            </a:xfrm>
            <a:prstGeom prst="roundRect">
              <a:avLst>
                <a:gd name="adj" fmla="val 50000"/>
              </a:avLst>
            </a:prstGeom>
            <a:solidFill>
              <a:schemeClr val="accent2"/>
            </a:solidFill>
            <a:ln>
              <a:noFill/>
            </a:ln>
          </p:spPr>
        </p:sp>
        <p:sp>
          <p:nvSpPr>
            <p:cNvPr id="8" name="TextBox 8"/>
            <p:cNvSpPr txBox="1"/>
            <p:nvPr/>
          </p:nvSpPr>
          <p:spPr>
            <a:xfrm>
              <a:off x="941070" y="1852612"/>
              <a:ext cx="694944"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故障</a:t>
              </a:r>
            </a:p>
          </p:txBody>
        </p:sp>
        <p:sp>
          <p:nvSpPr>
            <p:cNvPr id="9" name="TextBox 9"/>
            <p:cNvSpPr txBox="1"/>
            <p:nvPr/>
          </p:nvSpPr>
          <p:spPr>
            <a:xfrm>
              <a:off x="944118" y="2317432"/>
              <a:ext cx="391439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Docker 数据目录异常，容器与镜像不可用继续等待会中断链码、接口与 UI 验收</a:t>
              </a:r>
            </a:p>
          </p:txBody>
        </p:sp>
      </p:grpSp>
      <p:grpSp>
        <p:nvGrpSpPr>
          <p:cNvPr id="15" name="Group 15"/>
          <p:cNvGrpSpPr/>
          <p:nvPr/>
        </p:nvGrpSpPr>
        <p:grpSpPr>
          <a:xfrm>
            <a:off x="685800" y="3981450"/>
            <a:ext cx="4476750" cy="1809750"/>
            <a:chOff x="685800" y="3981450"/>
            <a:chExt cx="4476750" cy="1809750"/>
          </a:xfrm>
        </p:grpSpPr>
        <p:sp>
          <p:nvSpPr>
            <p:cNvPr id="11" name="Rectangle 11"/>
            <p:cNvSpPr/>
            <p:nvPr/>
          </p:nvSpPr>
          <p:spPr>
            <a:xfrm>
              <a:off x="685800" y="3981450"/>
              <a:ext cx="4476750" cy="1809750"/>
            </a:xfrm>
            <a:prstGeom prst="roundRect">
              <a:avLst>
                <a:gd name="adj" fmla="val 3158"/>
              </a:avLst>
            </a:prstGeom>
            <a:solidFill>
              <a:schemeClr val="lt2"/>
            </a:solidFill>
            <a:ln w="14288">
              <a:solidFill>
                <a:schemeClr val="accent6"/>
              </a:solidFill>
            </a:ln>
          </p:spPr>
        </p:sp>
        <p:sp>
          <p:nvSpPr>
            <p:cNvPr id="12" name="Rectangle 12"/>
            <p:cNvSpPr/>
            <p:nvPr/>
          </p:nvSpPr>
          <p:spPr>
            <a:xfrm>
              <a:off x="685800" y="3981450"/>
              <a:ext cx="76200" cy="1809750"/>
            </a:xfrm>
            <a:prstGeom prst="roundRect">
              <a:avLst>
                <a:gd name="adj" fmla="val 50000"/>
              </a:avLst>
            </a:prstGeom>
            <a:solidFill>
              <a:schemeClr val="accent1"/>
            </a:solidFill>
            <a:ln>
              <a:noFill/>
            </a:ln>
          </p:spPr>
        </p:sp>
        <p:sp>
          <p:nvSpPr>
            <p:cNvPr id="13" name="TextBox 13"/>
            <p:cNvSpPr txBox="1"/>
            <p:nvPr/>
          </p:nvSpPr>
          <p:spPr>
            <a:xfrm>
              <a:off x="941070" y="4138612"/>
              <a:ext cx="69494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绕行</a:t>
              </a:r>
            </a:p>
          </p:txBody>
        </p:sp>
        <p:sp>
          <p:nvSpPr>
            <p:cNvPr id="14" name="TextBox 14"/>
            <p:cNvSpPr txBox="1"/>
            <p:nvPr/>
          </p:nvSpPr>
          <p:spPr>
            <a:xfrm>
              <a:off x="944118" y="4603432"/>
              <a:ext cx="336956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保留 Fabric 网络配置与数据语义本机开发转向可用组件与自动化测试服务器恢复后再完成原生网络验收</a:t>
              </a:r>
            </a:p>
          </p:txBody>
        </p:sp>
      </p:grpSp>
      <p:grpSp>
        <p:nvGrpSpPr>
          <p:cNvPr id="33" name="Group 33"/>
          <p:cNvGrpSpPr/>
          <p:nvPr/>
        </p:nvGrpSpPr>
        <p:grpSpPr>
          <a:xfrm>
            <a:off x="5619750" y="1695450"/>
            <a:ext cx="5886450" cy="4095750"/>
            <a:chOff x="5619750" y="1695450"/>
            <a:chExt cx="5886450" cy="4095750"/>
          </a:xfrm>
        </p:grpSpPr>
        <p:sp>
          <p:nvSpPr>
            <p:cNvPr id="16" name="Rectangle 16"/>
            <p:cNvSpPr/>
            <p:nvPr/>
          </p:nvSpPr>
          <p:spPr>
            <a:xfrm>
              <a:off x="5619750" y="1695450"/>
              <a:ext cx="5886450" cy="4095750"/>
            </a:xfrm>
            <a:prstGeom prst="roundRect">
              <a:avLst>
                <a:gd name="adj" fmla="val 1395"/>
              </a:avLst>
            </a:prstGeom>
            <a:solidFill>
              <a:schemeClr val="lt2"/>
            </a:solidFill>
            <a:ln w="14288">
              <a:solidFill>
                <a:schemeClr val="accent3"/>
              </a:solidFill>
            </a:ln>
          </p:spPr>
        </p:sp>
        <p:sp>
          <p:nvSpPr>
            <p:cNvPr id="17" name="TextBox 17"/>
            <p:cNvSpPr txBox="1"/>
            <p:nvPr/>
          </p:nvSpPr>
          <p:spPr>
            <a:xfrm>
              <a:off x="5913120" y="1871662"/>
              <a:ext cx="2375154"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恢复后的验证链</a:t>
              </a:r>
            </a:p>
          </p:txBody>
        </p:sp>
        <p:sp>
          <p:nvSpPr>
            <p:cNvPr id="18" name="Ellipse 18"/>
            <p:cNvSpPr/>
            <p:nvPr/>
          </p:nvSpPr>
          <p:spPr>
            <a:xfrm>
              <a:off x="5943600" y="2419350"/>
              <a:ext cx="342900" cy="342900"/>
            </a:xfrm>
            <a:prstGeom prst="ellipse">
              <a:avLst/>
            </a:prstGeom>
            <a:solidFill>
              <a:schemeClr val="accent3"/>
            </a:solidFill>
            <a:ln>
              <a:noFill/>
            </a:ln>
          </p:spPr>
        </p:sp>
        <p:sp>
          <p:nvSpPr>
            <p:cNvPr id="19" name="TextBox 19"/>
            <p:cNvSpPr txBox="1"/>
            <p:nvPr/>
          </p:nvSpPr>
          <p:spPr>
            <a:xfrm>
              <a:off x="6055715" y="25022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20" name="TextBox 20"/>
            <p:cNvSpPr txBox="1"/>
            <p:nvPr/>
          </p:nvSpPr>
          <p:spPr>
            <a:xfrm>
              <a:off x="6468618" y="2479358"/>
              <a:ext cx="248232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检查 daemon 与目录边界</a:t>
              </a:r>
            </a:p>
          </p:txBody>
        </p:sp>
        <p:sp>
          <p:nvSpPr>
            <p:cNvPr id="21" name="Ellipse 21"/>
            <p:cNvSpPr/>
            <p:nvPr/>
          </p:nvSpPr>
          <p:spPr>
            <a:xfrm>
              <a:off x="5943600" y="3009900"/>
              <a:ext cx="342900" cy="342900"/>
            </a:xfrm>
            <a:prstGeom prst="ellipse">
              <a:avLst/>
            </a:prstGeom>
            <a:solidFill>
              <a:schemeClr val="accent3"/>
            </a:solidFill>
            <a:ln>
              <a:noFill/>
            </a:ln>
          </p:spPr>
        </p:sp>
        <p:sp>
          <p:nvSpPr>
            <p:cNvPr id="22" name="TextBox 22"/>
            <p:cNvSpPr txBox="1"/>
            <p:nvPr/>
          </p:nvSpPr>
          <p:spPr>
            <a:xfrm>
              <a:off x="6055715" y="30927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23" name="TextBox 23"/>
            <p:cNvSpPr txBox="1"/>
            <p:nvPr/>
          </p:nvSpPr>
          <p:spPr>
            <a:xfrm>
              <a:off x="6468618" y="3069908"/>
              <a:ext cx="282473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重建 2 Org + Orderer 网络</a:t>
              </a:r>
            </a:p>
          </p:txBody>
        </p:sp>
        <p:sp>
          <p:nvSpPr>
            <p:cNvPr id="24" name="Ellipse 24"/>
            <p:cNvSpPr/>
            <p:nvPr/>
          </p:nvSpPr>
          <p:spPr>
            <a:xfrm>
              <a:off x="5943600" y="3600450"/>
              <a:ext cx="342900" cy="342900"/>
            </a:xfrm>
            <a:prstGeom prst="ellipse">
              <a:avLst/>
            </a:prstGeom>
            <a:solidFill>
              <a:schemeClr val="accent3"/>
            </a:solidFill>
            <a:ln>
              <a:noFill/>
            </a:ln>
          </p:spPr>
        </p:sp>
        <p:sp>
          <p:nvSpPr>
            <p:cNvPr id="25" name="TextBox 25"/>
            <p:cNvSpPr txBox="1"/>
            <p:nvPr/>
          </p:nvSpPr>
          <p:spPr>
            <a:xfrm>
              <a:off x="6055715" y="36833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26" name="TextBox 26"/>
            <p:cNvSpPr txBox="1"/>
            <p:nvPr/>
          </p:nvSpPr>
          <p:spPr>
            <a:xfrm>
              <a:off x="6468618" y="3660458"/>
              <a:ext cx="1704815"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部署 CCaaS 链码</a:t>
              </a:r>
            </a:p>
          </p:txBody>
        </p:sp>
        <p:sp>
          <p:nvSpPr>
            <p:cNvPr id="27" name="Ellipse 27"/>
            <p:cNvSpPr/>
            <p:nvPr/>
          </p:nvSpPr>
          <p:spPr>
            <a:xfrm>
              <a:off x="5943600" y="4191000"/>
              <a:ext cx="342900" cy="342900"/>
            </a:xfrm>
            <a:prstGeom prst="ellipse">
              <a:avLst/>
            </a:prstGeom>
            <a:solidFill>
              <a:schemeClr val="accent3"/>
            </a:solidFill>
            <a:ln>
              <a:noFill/>
            </a:ln>
          </p:spPr>
        </p:sp>
        <p:sp>
          <p:nvSpPr>
            <p:cNvPr id="28" name="TextBox 28"/>
            <p:cNvSpPr txBox="1"/>
            <p:nvPr/>
          </p:nvSpPr>
          <p:spPr>
            <a:xfrm>
              <a:off x="6055715" y="42738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29" name="TextBox 29"/>
            <p:cNvSpPr txBox="1"/>
            <p:nvPr/>
          </p:nvSpPr>
          <p:spPr>
            <a:xfrm>
              <a:off x="6468618" y="4251008"/>
              <a:ext cx="2093824"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回放 API / UI / 基准</a:t>
              </a:r>
            </a:p>
          </p:txBody>
        </p:sp>
        <p:sp>
          <p:nvSpPr>
            <p:cNvPr id="30" name="Ellipse 30"/>
            <p:cNvSpPr/>
            <p:nvPr/>
          </p:nvSpPr>
          <p:spPr>
            <a:xfrm>
              <a:off x="5943600" y="4781550"/>
              <a:ext cx="342900" cy="342900"/>
            </a:xfrm>
            <a:prstGeom prst="ellipse">
              <a:avLst/>
            </a:prstGeom>
            <a:solidFill>
              <a:schemeClr val="accent2"/>
            </a:solidFill>
            <a:ln>
              <a:noFill/>
            </a:ln>
          </p:spPr>
        </p:sp>
        <p:sp>
          <p:nvSpPr>
            <p:cNvPr id="31" name="TextBox 31"/>
            <p:cNvSpPr txBox="1"/>
            <p:nvPr/>
          </p:nvSpPr>
          <p:spPr>
            <a:xfrm>
              <a:off x="6055715" y="486441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5</a:t>
              </a:r>
            </a:p>
          </p:txBody>
        </p:sp>
        <p:sp>
          <p:nvSpPr>
            <p:cNvPr id="32" name="TextBox 32"/>
            <p:cNvSpPr txBox="1"/>
            <p:nvPr/>
          </p:nvSpPr>
          <p:spPr>
            <a:xfrm>
              <a:off x="6468618" y="4841558"/>
              <a:ext cx="2460117"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记录恢复时间与账本高度</a:t>
              </a:r>
            </a:p>
          </p:txBody>
        </p:sp>
      </p:grpSp>
      <p:grpSp>
        <p:nvGrpSpPr>
          <p:cNvPr id="36" name="Group 36"/>
          <p:cNvGrpSpPr/>
          <p:nvPr/>
        </p:nvGrpSpPr>
        <p:grpSpPr>
          <a:xfrm>
            <a:off x="678942" y="6407468"/>
            <a:ext cx="10643616" cy="264033"/>
            <a:chOff x="678942" y="6407468"/>
            <a:chExt cx="10643616" cy="264033"/>
          </a:xfrm>
        </p:grpSpPr>
        <p:sp>
          <p:nvSpPr>
            <p:cNvPr id="34" name="TextBox 34"/>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5" name="TextBox 35"/>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7110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DESIGN EVOLUTION · 19</a:t>
              </a:r>
            </a:p>
          </p:txBody>
        </p:sp>
        <p:sp>
          <p:nvSpPr>
            <p:cNvPr id="3" name="TextBox 3"/>
            <p:cNvSpPr txBox="1"/>
            <p:nvPr/>
          </p:nvSpPr>
          <p:spPr>
            <a:xfrm>
              <a:off x="666750" y="738188"/>
              <a:ext cx="10613422"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6｜用标准 VC 支持跨系统验证</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5143500" cy="1905000"/>
            <a:chOff x="685800" y="1695450"/>
            <a:chExt cx="5143500" cy="1905000"/>
          </a:xfrm>
        </p:grpSpPr>
        <p:sp>
          <p:nvSpPr>
            <p:cNvPr id="6" name="Rectangle 6"/>
            <p:cNvSpPr/>
            <p:nvPr/>
          </p:nvSpPr>
          <p:spPr>
            <a:xfrm>
              <a:off x="685800" y="1695450"/>
              <a:ext cx="5143500" cy="1905000"/>
            </a:xfrm>
            <a:prstGeom prst="roundRect">
              <a:avLst>
                <a:gd name="adj" fmla="val 3000"/>
              </a:avLst>
            </a:prstGeom>
            <a:solidFill>
              <a:schemeClr val="lt2"/>
            </a:solidFill>
            <a:ln w="14288">
              <a:solidFill>
                <a:schemeClr val="accent6"/>
              </a:solidFill>
            </a:ln>
          </p:spPr>
        </p:sp>
        <p:sp>
          <p:nvSpPr>
            <p:cNvPr id="7" name="Rectangle 7"/>
            <p:cNvSpPr/>
            <p:nvPr/>
          </p:nvSpPr>
          <p:spPr>
            <a:xfrm>
              <a:off x="685800" y="1695450"/>
              <a:ext cx="76200" cy="1905000"/>
            </a:xfrm>
            <a:prstGeom prst="roundRect">
              <a:avLst>
                <a:gd name="adj" fmla="val 50000"/>
              </a:avLst>
            </a:prstGeom>
            <a:solidFill>
              <a:schemeClr val="accent2"/>
            </a:solidFill>
            <a:ln>
              <a:noFill/>
            </a:ln>
          </p:spPr>
        </p:sp>
        <p:sp>
          <p:nvSpPr>
            <p:cNvPr id="8" name="TextBox 8"/>
            <p:cNvSpPr txBox="1"/>
            <p:nvPr/>
          </p:nvSpPr>
          <p:spPr>
            <a:xfrm>
              <a:off x="941070" y="1852612"/>
              <a:ext cx="2039112"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上一阶段缺点</a:t>
              </a:r>
            </a:p>
          </p:txBody>
        </p:sp>
        <p:sp>
          <p:nvSpPr>
            <p:cNvPr id="9" name="TextBox 9"/>
            <p:cNvSpPr txBox="1"/>
            <p:nvPr/>
          </p:nvSpPr>
          <p:spPr>
            <a:xfrm>
              <a:off x="944118" y="2317432"/>
              <a:ext cx="3421952"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公开验证仍需要访问 ChainGrade API校外验证方无法复用统一凭证工具链</a:t>
              </a:r>
            </a:p>
          </p:txBody>
        </p:sp>
      </p:grpSp>
      <p:grpSp>
        <p:nvGrpSpPr>
          <p:cNvPr id="15" name="Group 15"/>
          <p:cNvGrpSpPr/>
          <p:nvPr/>
        </p:nvGrpSpPr>
        <p:grpSpPr>
          <a:xfrm>
            <a:off x="6362700" y="1695450"/>
            <a:ext cx="5143500" cy="1905000"/>
            <a:chOff x="6362700" y="1695450"/>
            <a:chExt cx="5143500" cy="1905000"/>
          </a:xfrm>
        </p:grpSpPr>
        <p:sp>
          <p:nvSpPr>
            <p:cNvPr id="11" name="Rectangle 11"/>
            <p:cNvSpPr/>
            <p:nvPr/>
          </p:nvSpPr>
          <p:spPr>
            <a:xfrm>
              <a:off x="6362700" y="1695450"/>
              <a:ext cx="5143500" cy="1905000"/>
            </a:xfrm>
            <a:prstGeom prst="roundRect">
              <a:avLst>
                <a:gd name="adj" fmla="val 3000"/>
              </a:avLst>
            </a:prstGeom>
            <a:solidFill>
              <a:schemeClr val="lt2"/>
            </a:solidFill>
            <a:ln w="14288">
              <a:solidFill>
                <a:schemeClr val="accent6"/>
              </a:solidFill>
            </a:ln>
          </p:spPr>
        </p:sp>
        <p:sp>
          <p:nvSpPr>
            <p:cNvPr id="12" name="Rectangle 12"/>
            <p:cNvSpPr/>
            <p:nvPr/>
          </p:nvSpPr>
          <p:spPr>
            <a:xfrm>
              <a:off x="6362700" y="1695450"/>
              <a:ext cx="76200" cy="1905000"/>
            </a:xfrm>
            <a:prstGeom prst="roundRect">
              <a:avLst>
                <a:gd name="adj" fmla="val 50000"/>
              </a:avLst>
            </a:prstGeom>
            <a:solidFill>
              <a:schemeClr val="accent1"/>
            </a:solidFill>
            <a:ln>
              <a:noFill/>
            </a:ln>
          </p:spPr>
        </p:sp>
        <p:sp>
          <p:nvSpPr>
            <p:cNvPr id="13" name="TextBox 13"/>
            <p:cNvSpPr txBox="1"/>
            <p:nvPr/>
          </p:nvSpPr>
          <p:spPr>
            <a:xfrm>
              <a:off x="6617970" y="1852612"/>
              <a:ext cx="170307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本阶段设计</a:t>
              </a:r>
            </a:p>
          </p:txBody>
        </p:sp>
        <p:sp>
          <p:nvSpPr>
            <p:cNvPr id="14" name="TextBox 14"/>
            <p:cNvSpPr txBox="1"/>
            <p:nvPr/>
          </p:nvSpPr>
          <p:spPr>
            <a:xfrm>
              <a:off x="6621018" y="2317432"/>
              <a:ext cx="33695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签发 W3C VC 数据模型凭证链上锚定摘要，离线验证签名与结构</a:t>
              </a:r>
            </a:p>
          </p:txBody>
        </p:sp>
      </p:grpSp>
      <p:grpSp>
        <p:nvGrpSpPr>
          <p:cNvPr id="20" name="Group 20"/>
          <p:cNvGrpSpPr/>
          <p:nvPr/>
        </p:nvGrpSpPr>
        <p:grpSpPr>
          <a:xfrm>
            <a:off x="685800" y="3886200"/>
            <a:ext cx="5143500" cy="1905000"/>
            <a:chOff x="685800" y="3886200"/>
            <a:chExt cx="5143500" cy="1905000"/>
          </a:xfrm>
        </p:grpSpPr>
        <p:sp>
          <p:nvSpPr>
            <p:cNvPr id="16" name="Rectangle 16"/>
            <p:cNvSpPr/>
            <p:nvPr/>
          </p:nvSpPr>
          <p:spPr>
            <a:xfrm>
              <a:off x="685800" y="3886200"/>
              <a:ext cx="5143500" cy="1905000"/>
            </a:xfrm>
            <a:prstGeom prst="roundRect">
              <a:avLst>
                <a:gd name="adj" fmla="val 3000"/>
              </a:avLst>
            </a:prstGeom>
            <a:solidFill>
              <a:schemeClr val="lt2"/>
            </a:solidFill>
            <a:ln w="14288">
              <a:solidFill>
                <a:schemeClr val="accent6"/>
              </a:solidFill>
            </a:ln>
          </p:spPr>
        </p:sp>
        <p:sp>
          <p:nvSpPr>
            <p:cNvPr id="17" name="Rectangle 17"/>
            <p:cNvSpPr/>
            <p:nvPr/>
          </p:nvSpPr>
          <p:spPr>
            <a:xfrm>
              <a:off x="685800" y="3886200"/>
              <a:ext cx="76200" cy="1905000"/>
            </a:xfrm>
            <a:prstGeom prst="roundRect">
              <a:avLst>
                <a:gd name="adj" fmla="val 50000"/>
              </a:avLst>
            </a:prstGeom>
            <a:solidFill>
              <a:schemeClr val="accent3"/>
            </a:solidFill>
            <a:ln>
              <a:noFill/>
            </a:ln>
          </p:spPr>
        </p:sp>
        <p:sp>
          <p:nvSpPr>
            <p:cNvPr id="18" name="TextBox 18"/>
            <p:cNvSpPr txBox="1"/>
            <p:nvPr/>
          </p:nvSpPr>
          <p:spPr>
            <a:xfrm>
              <a:off x="941070" y="404336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实现结果</a:t>
              </a:r>
            </a:p>
          </p:txBody>
        </p:sp>
        <p:sp>
          <p:nvSpPr>
            <p:cNvPr id="19" name="TextBox 19"/>
            <p:cNvSpPr txBox="1"/>
            <p:nvPr/>
          </p:nvSpPr>
          <p:spPr>
            <a:xfrm>
              <a:off x="944118" y="4508182"/>
              <a:ext cx="378866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凭证可携带，验证不依赖私有成绩接口正向与篡改、过期、错误签发者均有测试</a:t>
              </a:r>
            </a:p>
          </p:txBody>
        </p:sp>
      </p:grpSp>
      <p:grpSp>
        <p:nvGrpSpPr>
          <p:cNvPr id="25" name="Group 25"/>
          <p:cNvGrpSpPr/>
          <p:nvPr/>
        </p:nvGrpSpPr>
        <p:grpSpPr>
          <a:xfrm>
            <a:off x="6362700" y="3886200"/>
            <a:ext cx="5143500" cy="1905000"/>
            <a:chOff x="6362700" y="3886200"/>
            <a:chExt cx="5143500" cy="1905000"/>
          </a:xfrm>
        </p:grpSpPr>
        <p:sp>
          <p:nvSpPr>
            <p:cNvPr id="21" name="Rectangle 21"/>
            <p:cNvSpPr/>
            <p:nvPr/>
          </p:nvSpPr>
          <p:spPr>
            <a:xfrm>
              <a:off x="6362700" y="3886200"/>
              <a:ext cx="5143500" cy="1905000"/>
            </a:xfrm>
            <a:prstGeom prst="roundRect">
              <a:avLst>
                <a:gd name="adj" fmla="val 3000"/>
              </a:avLst>
            </a:prstGeom>
            <a:solidFill>
              <a:schemeClr val="lt2"/>
            </a:solidFill>
            <a:ln w="14288">
              <a:solidFill>
                <a:schemeClr val="accent6"/>
              </a:solidFill>
            </a:ln>
          </p:spPr>
        </p:sp>
        <p:sp>
          <p:nvSpPr>
            <p:cNvPr id="22" name="Rectangle 22"/>
            <p:cNvSpPr/>
            <p:nvPr/>
          </p:nvSpPr>
          <p:spPr>
            <a:xfrm>
              <a:off x="6362700" y="3886200"/>
              <a:ext cx="76200" cy="1905000"/>
            </a:xfrm>
            <a:prstGeom prst="roundRect">
              <a:avLst>
                <a:gd name="adj" fmla="val 50000"/>
              </a:avLst>
            </a:prstGeom>
            <a:solidFill>
              <a:schemeClr val="accent2"/>
            </a:solidFill>
            <a:ln>
              <a:noFill/>
            </a:ln>
          </p:spPr>
        </p:sp>
        <p:sp>
          <p:nvSpPr>
            <p:cNvPr id="23" name="TextBox 23"/>
            <p:cNvSpPr txBox="1"/>
            <p:nvPr/>
          </p:nvSpPr>
          <p:spPr>
            <a:xfrm>
              <a:off x="6617970" y="4043362"/>
              <a:ext cx="1703070"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遗留的缺口</a:t>
              </a:r>
            </a:p>
          </p:txBody>
        </p:sp>
        <p:sp>
          <p:nvSpPr>
            <p:cNvPr id="24" name="TextBox 24"/>
            <p:cNvSpPr txBox="1"/>
            <p:nvPr/>
          </p:nvSpPr>
          <p:spPr>
            <a:xfrm>
              <a:off x="6621018" y="4508182"/>
              <a:ext cx="2699004" cy="6275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选择性披露仍是字段级裁剪尚未采用 BBS+ 或零知识证明</a:t>
              </a:r>
            </a:p>
          </p:txBody>
        </p:sp>
      </p:grpSp>
      <p:grpSp>
        <p:nvGrpSpPr>
          <p:cNvPr id="28" name="Group 28"/>
          <p:cNvGrpSpPr/>
          <p:nvPr/>
        </p:nvGrpSpPr>
        <p:grpSpPr>
          <a:xfrm>
            <a:off x="678942" y="6407468"/>
            <a:ext cx="10643616" cy="264033"/>
            <a:chOff x="678942" y="6407468"/>
            <a:chExt cx="10643616" cy="264033"/>
          </a:xfrm>
        </p:grpSpPr>
        <p:sp>
          <p:nvSpPr>
            <p:cNvPr id="26" name="TextBox 2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7" name="TextBox 2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59451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VERIFIABLE CREDENTIAL · 20</a:t>
              </a:r>
            </a:p>
          </p:txBody>
        </p:sp>
        <p:sp>
          <p:nvSpPr>
            <p:cNvPr id="3" name="TextBox 3"/>
            <p:cNvSpPr txBox="1"/>
            <p:nvPr/>
          </p:nvSpPr>
          <p:spPr>
            <a:xfrm>
              <a:off x="666750" y="738188"/>
              <a:ext cx="9151239"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标准 VC：签名正确不等于可信</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4762500" cy="3524250"/>
            <a:chOff x="685800" y="1695450"/>
            <a:chExt cx="4762500" cy="3524250"/>
          </a:xfrm>
        </p:grpSpPr>
        <p:sp>
          <p:nvSpPr>
            <p:cNvPr id="6" name="Rectangle 6"/>
            <p:cNvSpPr/>
            <p:nvPr/>
          </p:nvSpPr>
          <p:spPr>
            <a:xfrm>
              <a:off x="685800" y="1695450"/>
              <a:ext cx="4762500" cy="3524250"/>
            </a:xfrm>
            <a:prstGeom prst="roundRect">
              <a:avLst>
                <a:gd name="adj" fmla="val 2162"/>
              </a:avLst>
            </a:prstGeom>
            <a:solidFill>
              <a:schemeClr val="lt2"/>
            </a:solidFill>
            <a:ln w="9525">
              <a:solidFill>
                <a:schemeClr val="accent6"/>
              </a:solidFill>
            </a:ln>
          </p:spPr>
        </p:sp>
        <p:pic>
          <p:nvPicPr>
            <p:cNvPr id="7" name="Image 7"/>
            <p:cNvPicPr>
              <a:picLocks noChangeAspect="1"/>
            </p:cNvPicPr>
            <p:nvPr/>
          </p:nvPicPr>
          <p:blipFill>
            <a:blip r:embed="rId2"/>
            <a:srcRect l="1457" t="0" r="1457" b="0"/>
            <a:stretch>
              <a:fillRect/>
            </a:stretch>
          </p:blipFill>
          <p:spPr>
            <a:xfrm>
              <a:off x="742950" y="1752600"/>
              <a:ext cx="4648200" cy="3409950"/>
            </a:xfrm>
            <a:prstGeom prst="rect">
              <a:avLst/>
            </a:prstGeom>
          </p:spPr>
        </p:pic>
      </p:grpSp>
      <p:grpSp>
        <p:nvGrpSpPr>
          <p:cNvPr id="14" name="Group 14"/>
          <p:cNvGrpSpPr/>
          <p:nvPr/>
        </p:nvGrpSpPr>
        <p:grpSpPr>
          <a:xfrm>
            <a:off x="5753100" y="1695450"/>
            <a:ext cx="5753100" cy="2047875"/>
            <a:chOff x="5753100" y="1695450"/>
            <a:chExt cx="5753100" cy="2047875"/>
          </a:xfrm>
        </p:grpSpPr>
        <p:sp>
          <p:nvSpPr>
            <p:cNvPr id="9" name="Rectangle 9"/>
            <p:cNvSpPr/>
            <p:nvPr/>
          </p:nvSpPr>
          <p:spPr>
            <a:xfrm>
              <a:off x="5753100" y="1695450"/>
              <a:ext cx="5753100" cy="2047875"/>
            </a:xfrm>
            <a:prstGeom prst="roundRect">
              <a:avLst>
                <a:gd name="adj" fmla="val 3256"/>
              </a:avLst>
            </a:prstGeom>
            <a:solidFill>
              <a:srgbClr val="12202D"/>
            </a:solidFill>
            <a:ln>
              <a:noFill/>
            </a:ln>
          </p:spPr>
        </p:sp>
        <p:sp>
          <p:nvSpPr>
            <p:cNvPr id="10" name="Ellipse 10"/>
            <p:cNvSpPr/>
            <p:nvPr/>
          </p:nvSpPr>
          <p:spPr>
            <a:xfrm>
              <a:off x="5915025" y="1838325"/>
              <a:ext cx="95250" cy="95250"/>
            </a:xfrm>
            <a:prstGeom prst="ellipse">
              <a:avLst/>
            </a:prstGeom>
            <a:solidFill>
              <a:schemeClr val="accent2"/>
            </a:solidFill>
            <a:ln>
              <a:noFill/>
            </a:ln>
          </p:spPr>
        </p:sp>
        <p:sp>
          <p:nvSpPr>
            <p:cNvPr id="11" name="Ellipse 11"/>
            <p:cNvSpPr/>
            <p:nvPr/>
          </p:nvSpPr>
          <p:spPr>
            <a:xfrm>
              <a:off x="6086475" y="1838325"/>
              <a:ext cx="95250" cy="95250"/>
            </a:xfrm>
            <a:prstGeom prst="ellipse">
              <a:avLst/>
            </a:prstGeom>
            <a:solidFill>
              <a:srgbClr val="D3A84B"/>
            </a:solidFill>
            <a:ln>
              <a:noFill/>
            </a:ln>
          </p:spPr>
        </p:sp>
        <p:sp>
          <p:nvSpPr>
            <p:cNvPr id="12" name="Ellipse 12"/>
            <p:cNvSpPr/>
            <p:nvPr/>
          </p:nvSpPr>
          <p:spPr>
            <a:xfrm>
              <a:off x="6257925" y="1838325"/>
              <a:ext cx="95250" cy="95250"/>
            </a:xfrm>
            <a:prstGeom prst="ellipse">
              <a:avLst/>
            </a:prstGeom>
            <a:solidFill>
              <a:schemeClr val="accent3"/>
            </a:solidFill>
            <a:ln>
              <a:noFill/>
            </a:ln>
          </p:spPr>
        </p:sp>
        <p:sp>
          <p:nvSpPr>
            <p:cNvPr id="13" name="TextBox 13"/>
            <p:cNvSpPr txBox="1"/>
            <p:nvPr/>
          </p:nvSpPr>
          <p:spPr>
            <a:xfrm>
              <a:off x="5955792" y="2102168"/>
              <a:ext cx="2705481" cy="1292733"/>
            </a:xfrm>
            <a:prstGeom prst="rect">
              <a:avLst/>
            </a:prstGeom>
            <a:noFill/>
            <a:ln>
              <a:noFill/>
            </a:ln>
          </p:spPr>
          <p:txBody>
            <a:bodyPr wrap="square" lIns="0" tIns="0" rIns="0" bIns="0" anchor="t" anchorCtr="0"/>
            <a:lstStyle/>
            <a:p>
              <a:pPr algn="l">
                <a:lnSpc>
                  <a:spcPts val="2025"/>
                </a:lnSpc>
              </a:pPr>
              <a:r>
                <a:rPr lang="en-US" sz="1350" dirty="0">
                  <a:solidFill>
                    <a:srgbClr val="6DD3CE"/>
                  </a:solidFill>
                  <a:latin typeface="Consolas"/>
                  <a:ea typeface="Consolas"/>
                  <a:cs typeface="Consolas"/>
                </a:rPr>
                <a:t>verifySchema(vc); verifyIssuerTrust(vc.issuer); verifySignature(vc.proof); verifyStatusAndExpiry(vc); verifyLedgerAnchor(hash(vc));</a:t>
              </a:r>
            </a:p>
          </p:txBody>
        </p:sp>
      </p:grpSp>
      <p:grpSp>
        <p:nvGrpSpPr>
          <p:cNvPr id="19" name="Group 19"/>
          <p:cNvGrpSpPr/>
          <p:nvPr/>
        </p:nvGrpSpPr>
        <p:grpSpPr>
          <a:xfrm>
            <a:off x="5753100" y="3933825"/>
            <a:ext cx="5753100" cy="1285875"/>
            <a:chOff x="5753100" y="3933825"/>
            <a:chExt cx="5753100" cy="1285875"/>
          </a:xfrm>
        </p:grpSpPr>
        <p:sp>
          <p:nvSpPr>
            <p:cNvPr id="15" name="Rectangle 15"/>
            <p:cNvSpPr/>
            <p:nvPr/>
          </p:nvSpPr>
          <p:spPr>
            <a:xfrm>
              <a:off x="5753100" y="3933825"/>
              <a:ext cx="5753100" cy="1285875"/>
            </a:xfrm>
            <a:prstGeom prst="roundRect">
              <a:avLst>
                <a:gd name="adj" fmla="val 4444"/>
              </a:avLst>
            </a:prstGeom>
            <a:solidFill>
              <a:schemeClr val="lt2"/>
            </a:solidFill>
            <a:ln w="14288">
              <a:solidFill>
                <a:schemeClr val="accent6"/>
              </a:solidFill>
            </a:ln>
          </p:spPr>
        </p:sp>
        <p:sp>
          <p:nvSpPr>
            <p:cNvPr id="16" name="Rectangle 16"/>
            <p:cNvSpPr/>
            <p:nvPr/>
          </p:nvSpPr>
          <p:spPr>
            <a:xfrm>
              <a:off x="5753100" y="3933825"/>
              <a:ext cx="76200" cy="1285875"/>
            </a:xfrm>
            <a:prstGeom prst="roundRect">
              <a:avLst>
                <a:gd name="adj" fmla="val 50000"/>
              </a:avLst>
            </a:prstGeom>
            <a:solidFill>
              <a:schemeClr val="accent2"/>
            </a:solidFill>
            <a:ln>
              <a:noFill/>
            </a:ln>
          </p:spPr>
        </p:sp>
        <p:sp>
          <p:nvSpPr>
            <p:cNvPr id="17" name="TextBox 17"/>
            <p:cNvSpPr txBox="1"/>
            <p:nvPr/>
          </p:nvSpPr>
          <p:spPr>
            <a:xfrm>
              <a:off x="6008370" y="4090988"/>
              <a:ext cx="136702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负向用例</a:t>
              </a:r>
            </a:p>
          </p:txBody>
        </p:sp>
        <p:sp>
          <p:nvSpPr>
            <p:cNvPr id="18" name="TextBox 18"/>
            <p:cNvSpPr txBox="1"/>
            <p:nvPr/>
          </p:nvSpPr>
          <p:spPr>
            <a:xfrm>
              <a:off x="6011418" y="4555808"/>
              <a:ext cx="4559179"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内容篡改 / 错误签发者 / 已过期 / 锚点不一致</a:t>
              </a:r>
            </a:p>
          </p:txBody>
        </p:sp>
      </p:grpSp>
      <p:grpSp>
        <p:nvGrpSpPr>
          <p:cNvPr id="21" name="Group 21"/>
          <p:cNvGrpSpPr/>
          <p:nvPr/>
        </p:nvGrpSpPr>
        <p:grpSpPr>
          <a:xfrm>
            <a:off x="677418" y="5536882"/>
            <a:ext cx="7888248" cy="322707"/>
            <a:chOff x="677418" y="5536882"/>
            <a:chExt cx="7888248" cy="322707"/>
          </a:xfrm>
        </p:grpSpPr>
        <p:sp>
          <p:nvSpPr>
            <p:cNvPr id="20" name="TextBox 20"/>
            <p:cNvSpPr txBox="1"/>
            <p:nvPr/>
          </p:nvSpPr>
          <p:spPr>
            <a:xfrm>
              <a:off x="677418" y="5536882"/>
              <a:ext cx="7888248"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结论 = 结构合法 ∩ 签发者可信 ∩ 密码学正确 ∩ 当前状态有效 ∩ 链上承诺一致</a:t>
              </a:r>
            </a:p>
          </p:txBody>
        </p:sp>
      </p:grpSp>
      <p:grpSp>
        <p:nvGrpSpPr>
          <p:cNvPr id="24" name="Group 24"/>
          <p:cNvGrpSpPr/>
          <p:nvPr/>
        </p:nvGrpSpPr>
        <p:grpSpPr>
          <a:xfrm>
            <a:off x="678942" y="6407468"/>
            <a:ext cx="10643616" cy="264033"/>
            <a:chOff x="678942" y="6407468"/>
            <a:chExt cx="10643616" cy="264033"/>
          </a:xfrm>
        </p:grpSpPr>
        <p:sp>
          <p:nvSpPr>
            <p:cNvPr id="22" name="TextBox 22"/>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3" name="TextBox 23"/>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20</a:t>
              </a:r>
            </a:p>
          </p:txBody>
        </p:sp>
      </p:grpSp>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67516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REPEATABLE BENCHMARK · 21</a:t>
              </a:r>
            </a:p>
          </p:txBody>
        </p:sp>
        <p:sp>
          <p:nvSpPr>
            <p:cNvPr id="3" name="TextBox 3"/>
            <p:cNvSpPr txBox="1"/>
            <p:nvPr/>
          </p:nvSpPr>
          <p:spPr>
            <a:xfrm>
              <a:off x="666750" y="738188"/>
              <a:ext cx="1059542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阶段 7｜基准设计先保证可重复，再谈数字</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2381250" cy="1428750"/>
            <a:chOff x="685800" y="1695450"/>
            <a:chExt cx="2381250" cy="1428750"/>
          </a:xfrm>
        </p:grpSpPr>
        <p:sp>
          <p:nvSpPr>
            <p:cNvPr id="6" name="Rectangle 6"/>
            <p:cNvSpPr/>
            <p:nvPr/>
          </p:nvSpPr>
          <p:spPr>
            <a:xfrm>
              <a:off x="685800" y="1695450"/>
              <a:ext cx="2381250" cy="1428750"/>
            </a:xfrm>
            <a:prstGeom prst="roundRect">
              <a:avLst>
                <a:gd name="adj" fmla="val 4000"/>
              </a:avLst>
            </a:prstGeom>
            <a:solidFill>
              <a:schemeClr val="lt2"/>
            </a:solidFill>
            <a:ln w="14288">
              <a:solidFill>
                <a:schemeClr val="accent6"/>
              </a:solidFill>
            </a:ln>
          </p:spPr>
        </p:sp>
        <p:sp>
          <p:nvSpPr>
            <p:cNvPr id="7" name="TextBox 7"/>
            <p:cNvSpPr txBox="1"/>
            <p:nvPr/>
          </p:nvSpPr>
          <p:spPr>
            <a:xfrm>
              <a:off x="88849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并发档位</a:t>
              </a:r>
            </a:p>
          </p:txBody>
        </p:sp>
        <p:sp>
          <p:nvSpPr>
            <p:cNvPr id="8" name="TextBox 8"/>
            <p:cNvSpPr txBox="1"/>
            <p:nvPr/>
          </p:nvSpPr>
          <p:spPr>
            <a:xfrm>
              <a:off x="87934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7</a:t>
              </a:r>
            </a:p>
          </p:txBody>
        </p:sp>
        <p:sp>
          <p:nvSpPr>
            <p:cNvPr id="9" name="TextBox 9"/>
            <p:cNvSpPr txBox="1"/>
            <p:nvPr/>
          </p:nvSpPr>
          <p:spPr>
            <a:xfrm>
              <a:off x="888492" y="2711768"/>
              <a:ext cx="171295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1/2/5/10/20/40/80</a:t>
              </a:r>
            </a:p>
          </p:txBody>
        </p:sp>
      </p:grpSp>
      <p:grpSp>
        <p:nvGrpSpPr>
          <p:cNvPr id="15" name="Group 15"/>
          <p:cNvGrpSpPr/>
          <p:nvPr/>
        </p:nvGrpSpPr>
        <p:grpSpPr>
          <a:xfrm>
            <a:off x="3371850" y="1695450"/>
            <a:ext cx="2381250" cy="1428750"/>
            <a:chOff x="3371850" y="1695450"/>
            <a:chExt cx="2381250" cy="1428750"/>
          </a:xfrm>
        </p:grpSpPr>
        <p:sp>
          <p:nvSpPr>
            <p:cNvPr id="11" name="Rectangle 11"/>
            <p:cNvSpPr/>
            <p:nvPr/>
          </p:nvSpPr>
          <p:spPr>
            <a:xfrm>
              <a:off x="3371850" y="1695450"/>
              <a:ext cx="2381250" cy="1428750"/>
            </a:xfrm>
            <a:prstGeom prst="roundRect">
              <a:avLst>
                <a:gd name="adj" fmla="val 4000"/>
              </a:avLst>
            </a:prstGeom>
            <a:solidFill>
              <a:schemeClr val="lt2"/>
            </a:solidFill>
            <a:ln w="14288">
              <a:solidFill>
                <a:schemeClr val="accent6"/>
              </a:solidFill>
            </a:ln>
          </p:spPr>
        </p:sp>
        <p:sp>
          <p:nvSpPr>
            <p:cNvPr id="12" name="TextBox 12"/>
            <p:cNvSpPr txBox="1"/>
            <p:nvPr/>
          </p:nvSpPr>
          <p:spPr>
            <a:xfrm>
              <a:off x="35745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业务场景</a:t>
              </a:r>
            </a:p>
          </p:txBody>
        </p:sp>
        <p:sp>
          <p:nvSpPr>
            <p:cNvPr id="13" name="TextBox 13"/>
            <p:cNvSpPr txBox="1"/>
            <p:nvPr/>
          </p:nvSpPr>
          <p:spPr>
            <a:xfrm>
              <a:off x="356539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4</a:t>
              </a:r>
            </a:p>
          </p:txBody>
        </p:sp>
        <p:sp>
          <p:nvSpPr>
            <p:cNvPr id="14" name="TextBox 14"/>
            <p:cNvSpPr txBox="1"/>
            <p:nvPr/>
          </p:nvSpPr>
          <p:spPr>
            <a:xfrm>
              <a:off x="3574542" y="2711768"/>
              <a:ext cx="201282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公开、私有、写入、批量</a:t>
              </a:r>
            </a:p>
          </p:txBody>
        </p:sp>
      </p:grpSp>
      <p:grpSp>
        <p:nvGrpSpPr>
          <p:cNvPr id="20" name="Group 20"/>
          <p:cNvGrpSpPr/>
          <p:nvPr/>
        </p:nvGrpSpPr>
        <p:grpSpPr>
          <a:xfrm>
            <a:off x="6057900" y="1695450"/>
            <a:ext cx="2381250" cy="1428750"/>
            <a:chOff x="6057900" y="1695450"/>
            <a:chExt cx="2381250" cy="1428750"/>
          </a:xfrm>
        </p:grpSpPr>
        <p:sp>
          <p:nvSpPr>
            <p:cNvPr id="16" name="Rectangle 16"/>
            <p:cNvSpPr/>
            <p:nvPr/>
          </p:nvSpPr>
          <p:spPr>
            <a:xfrm>
              <a:off x="6057900" y="1695450"/>
              <a:ext cx="2381250" cy="1428750"/>
            </a:xfrm>
            <a:prstGeom prst="roundRect">
              <a:avLst>
                <a:gd name="adj" fmla="val 4000"/>
              </a:avLst>
            </a:prstGeom>
            <a:solidFill>
              <a:schemeClr val="lt2"/>
            </a:solidFill>
            <a:ln w="14288">
              <a:solidFill>
                <a:schemeClr val="accent6"/>
              </a:solidFill>
            </a:ln>
          </p:spPr>
        </p:sp>
        <p:sp>
          <p:nvSpPr>
            <p:cNvPr id="17" name="TextBox 17"/>
            <p:cNvSpPr txBox="1"/>
            <p:nvPr/>
          </p:nvSpPr>
          <p:spPr>
            <a:xfrm>
              <a:off x="626059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重复轮数</a:t>
              </a:r>
            </a:p>
          </p:txBody>
        </p:sp>
        <p:sp>
          <p:nvSpPr>
            <p:cNvPr id="18" name="TextBox 18"/>
            <p:cNvSpPr txBox="1"/>
            <p:nvPr/>
          </p:nvSpPr>
          <p:spPr>
            <a:xfrm>
              <a:off x="6251448" y="2174558"/>
              <a:ext cx="290756"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3</a:t>
              </a:r>
            </a:p>
          </p:txBody>
        </p:sp>
        <p:sp>
          <p:nvSpPr>
            <p:cNvPr id="19" name="TextBox 19"/>
            <p:cNvSpPr txBox="1"/>
            <p:nvPr/>
          </p:nvSpPr>
          <p:spPr>
            <a:xfrm>
              <a:off x="626059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每个组合独立执行</a:t>
              </a:r>
            </a:p>
          </p:txBody>
        </p:sp>
      </p:grpSp>
      <p:grpSp>
        <p:nvGrpSpPr>
          <p:cNvPr id="25" name="Group 25"/>
          <p:cNvGrpSpPr/>
          <p:nvPr/>
        </p:nvGrpSpPr>
        <p:grpSpPr>
          <a:xfrm>
            <a:off x="8743950" y="1695450"/>
            <a:ext cx="2762250" cy="1428750"/>
            <a:chOff x="8743950" y="1695450"/>
            <a:chExt cx="2762250" cy="1428750"/>
          </a:xfrm>
        </p:grpSpPr>
        <p:sp>
          <p:nvSpPr>
            <p:cNvPr id="21" name="Rectangle 21"/>
            <p:cNvSpPr/>
            <p:nvPr/>
          </p:nvSpPr>
          <p:spPr>
            <a:xfrm>
              <a:off x="8743950" y="1695450"/>
              <a:ext cx="2762250" cy="1428750"/>
            </a:xfrm>
            <a:prstGeom prst="roundRect">
              <a:avLst>
                <a:gd name="adj" fmla="val 4000"/>
              </a:avLst>
            </a:prstGeom>
            <a:solidFill>
              <a:schemeClr val="lt2"/>
            </a:solidFill>
            <a:ln w="14288">
              <a:solidFill>
                <a:schemeClr val="accent6"/>
              </a:solidFill>
            </a:ln>
          </p:spPr>
        </p:sp>
        <p:sp>
          <p:nvSpPr>
            <p:cNvPr id="22" name="TextBox 22"/>
            <p:cNvSpPr txBox="1"/>
            <p:nvPr/>
          </p:nvSpPr>
          <p:spPr>
            <a:xfrm>
              <a:off x="8946642" y="1873568"/>
              <a:ext cx="1158659"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合法请求单元</a:t>
              </a:r>
            </a:p>
          </p:txBody>
        </p:sp>
        <p:sp>
          <p:nvSpPr>
            <p:cNvPr id="23" name="TextBox 23"/>
            <p:cNvSpPr txBox="1"/>
            <p:nvPr/>
          </p:nvSpPr>
          <p:spPr>
            <a:xfrm>
              <a:off x="8937498" y="2174558"/>
              <a:ext cx="549509" cy="616077"/>
            </a:xfrm>
            <a:prstGeom prst="rect">
              <a:avLst/>
            </a:prstGeom>
            <a:noFill/>
            <a:ln>
              <a:noFill/>
            </a:ln>
          </p:spPr>
          <p:txBody>
            <a:bodyPr wrap="none" lIns="0" tIns="0" rIns="0" bIns="0" anchor="t" anchorCtr="0">
              <a:spAutoFit/>
            </a:bodyPr>
            <a:lstStyle/>
            <a:p>
              <a:pPr algn="l"/>
              <a:r>
                <a:rPr lang="en-US" sz="3150" b="1" dirty="0">
                  <a:solidFill>
                    <a:srgbClr val="D3A84B"/>
                  </a:solidFill>
                  <a:latin typeface="+mj-lt"/>
                  <a:ea typeface="+mj-ea"/>
                  <a:cs typeface="+mj-cs"/>
                </a:rPr>
                <a:t>84</a:t>
              </a:r>
            </a:p>
          </p:txBody>
        </p:sp>
        <p:sp>
          <p:nvSpPr>
            <p:cNvPr id="24" name="TextBox 24"/>
            <p:cNvSpPr txBox="1"/>
            <p:nvPr/>
          </p:nvSpPr>
          <p:spPr>
            <a:xfrm>
              <a:off x="8946642" y="2711768"/>
              <a:ext cx="731577"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7 × 4 × 3</a:t>
              </a:r>
            </a:p>
          </p:txBody>
        </p:sp>
      </p:grpSp>
      <p:grpSp>
        <p:nvGrpSpPr>
          <p:cNvPr id="45" name="Group 45"/>
          <p:cNvGrpSpPr/>
          <p:nvPr/>
        </p:nvGrpSpPr>
        <p:grpSpPr>
          <a:xfrm>
            <a:off x="819150" y="3486150"/>
            <a:ext cx="10553700" cy="1066800"/>
            <a:chOff x="819150" y="3486150"/>
            <a:chExt cx="10553700" cy="1066800"/>
          </a:xfrm>
        </p:grpSpPr>
        <p:sp>
          <p:nvSpPr>
            <p:cNvPr id="26" name="Rectangle 26"/>
            <p:cNvSpPr/>
            <p:nvPr/>
          </p:nvSpPr>
          <p:spPr>
            <a:xfrm>
              <a:off x="819150" y="3486150"/>
              <a:ext cx="2466975" cy="1066800"/>
            </a:xfrm>
            <a:prstGeom prst="roundRect">
              <a:avLst>
                <a:gd name="adj" fmla="val 5357"/>
              </a:avLst>
            </a:prstGeom>
            <a:solidFill>
              <a:schemeClr val="lt2"/>
            </a:solidFill>
            <a:ln w="14288">
              <a:solidFill>
                <a:schemeClr val="accent2"/>
              </a:solidFill>
            </a:ln>
          </p:spPr>
        </p:sp>
        <p:sp>
          <p:nvSpPr>
            <p:cNvPr id="27" name="Ellipse 27"/>
            <p:cNvSpPr/>
            <p:nvPr/>
          </p:nvSpPr>
          <p:spPr>
            <a:xfrm>
              <a:off x="933450" y="3619500"/>
              <a:ext cx="266700" cy="266700"/>
            </a:xfrm>
            <a:prstGeom prst="ellipse">
              <a:avLst/>
            </a:prstGeom>
            <a:solidFill>
              <a:schemeClr val="accent2"/>
            </a:solidFill>
            <a:ln>
              <a:noFill/>
            </a:ln>
          </p:spPr>
        </p:sp>
        <p:sp>
          <p:nvSpPr>
            <p:cNvPr id="28" name="TextBox 28"/>
            <p:cNvSpPr txBox="1"/>
            <p:nvPr/>
          </p:nvSpPr>
          <p:spPr>
            <a:xfrm>
              <a:off x="1007465"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1</a:t>
              </a:r>
            </a:p>
          </p:txBody>
        </p:sp>
        <p:sp>
          <p:nvSpPr>
            <p:cNvPr id="29" name="TextBox 29"/>
            <p:cNvSpPr txBox="1"/>
            <p:nvPr/>
          </p:nvSpPr>
          <p:spPr>
            <a:xfrm>
              <a:off x="1001268" y="3993832"/>
              <a:ext cx="483222"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预热</a:t>
              </a:r>
            </a:p>
          </p:txBody>
        </p:sp>
        <p:sp>
          <p:nvSpPr>
            <p:cNvPr id="30" name="Freeform 30"/>
            <p:cNvSpPr/>
            <p:nvPr/>
          </p:nvSpPr>
          <p:spPr>
            <a:xfrm>
              <a:off x="3333750"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1" name="Rectangle 31"/>
            <p:cNvSpPr/>
            <p:nvPr/>
          </p:nvSpPr>
          <p:spPr>
            <a:xfrm>
              <a:off x="3514725" y="3486150"/>
              <a:ext cx="2466975" cy="1066800"/>
            </a:xfrm>
            <a:prstGeom prst="roundRect">
              <a:avLst>
                <a:gd name="adj" fmla="val 5357"/>
              </a:avLst>
            </a:prstGeom>
            <a:solidFill>
              <a:schemeClr val="lt2"/>
            </a:solidFill>
            <a:ln w="14288">
              <a:solidFill>
                <a:schemeClr val="accent1"/>
              </a:solidFill>
            </a:ln>
          </p:spPr>
        </p:sp>
        <p:sp>
          <p:nvSpPr>
            <p:cNvPr id="32" name="Ellipse 32"/>
            <p:cNvSpPr/>
            <p:nvPr/>
          </p:nvSpPr>
          <p:spPr>
            <a:xfrm>
              <a:off x="3629025" y="3619500"/>
              <a:ext cx="266700" cy="266700"/>
            </a:xfrm>
            <a:prstGeom prst="ellipse">
              <a:avLst/>
            </a:prstGeom>
            <a:solidFill>
              <a:schemeClr val="accent1"/>
            </a:solidFill>
            <a:ln>
              <a:noFill/>
            </a:ln>
          </p:spPr>
        </p:sp>
        <p:sp>
          <p:nvSpPr>
            <p:cNvPr id="33" name="TextBox 33"/>
            <p:cNvSpPr txBox="1"/>
            <p:nvPr/>
          </p:nvSpPr>
          <p:spPr>
            <a:xfrm>
              <a:off x="3703040"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2</a:t>
              </a:r>
            </a:p>
          </p:txBody>
        </p:sp>
        <p:sp>
          <p:nvSpPr>
            <p:cNvPr id="34" name="TextBox 34"/>
            <p:cNvSpPr txBox="1"/>
            <p:nvPr/>
          </p:nvSpPr>
          <p:spPr>
            <a:xfrm>
              <a:off x="3696843" y="3993832"/>
              <a:ext cx="1182910"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固定数据集</a:t>
              </a:r>
            </a:p>
          </p:txBody>
        </p:sp>
        <p:sp>
          <p:nvSpPr>
            <p:cNvPr id="35" name="Freeform 35"/>
            <p:cNvSpPr/>
            <p:nvPr/>
          </p:nvSpPr>
          <p:spPr>
            <a:xfrm>
              <a:off x="6029325"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36" name="Rectangle 36"/>
            <p:cNvSpPr/>
            <p:nvPr/>
          </p:nvSpPr>
          <p:spPr>
            <a:xfrm>
              <a:off x="6210300" y="3486150"/>
              <a:ext cx="2466975" cy="1066800"/>
            </a:xfrm>
            <a:prstGeom prst="roundRect">
              <a:avLst>
                <a:gd name="adj" fmla="val 5357"/>
              </a:avLst>
            </a:prstGeom>
            <a:solidFill>
              <a:schemeClr val="lt2"/>
            </a:solidFill>
            <a:ln w="14288">
              <a:solidFill>
                <a:schemeClr val="accent3"/>
              </a:solidFill>
            </a:ln>
          </p:spPr>
        </p:sp>
        <p:sp>
          <p:nvSpPr>
            <p:cNvPr id="37" name="Ellipse 37"/>
            <p:cNvSpPr/>
            <p:nvPr/>
          </p:nvSpPr>
          <p:spPr>
            <a:xfrm>
              <a:off x="6324600" y="3619500"/>
              <a:ext cx="266700" cy="266700"/>
            </a:xfrm>
            <a:prstGeom prst="ellipse">
              <a:avLst/>
            </a:prstGeom>
            <a:solidFill>
              <a:schemeClr val="accent3"/>
            </a:solidFill>
            <a:ln>
              <a:noFill/>
            </a:ln>
          </p:spPr>
        </p:sp>
        <p:sp>
          <p:nvSpPr>
            <p:cNvPr id="38" name="TextBox 38"/>
            <p:cNvSpPr txBox="1"/>
            <p:nvPr/>
          </p:nvSpPr>
          <p:spPr>
            <a:xfrm>
              <a:off x="6398615"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3</a:t>
              </a:r>
            </a:p>
          </p:txBody>
        </p:sp>
        <p:sp>
          <p:nvSpPr>
            <p:cNvPr id="39" name="TextBox 39"/>
            <p:cNvSpPr txBox="1"/>
            <p:nvPr/>
          </p:nvSpPr>
          <p:spPr>
            <a:xfrm>
              <a:off x="6392418" y="3993832"/>
              <a:ext cx="1532313"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采集 P50/P95</a:t>
              </a:r>
            </a:p>
          </p:txBody>
        </p:sp>
        <p:sp>
          <p:nvSpPr>
            <p:cNvPr id="40" name="Freeform 40"/>
            <p:cNvSpPr/>
            <p:nvPr/>
          </p:nvSpPr>
          <p:spPr>
            <a:xfrm>
              <a:off x="8724900" y="4019550"/>
              <a:ext cx="133350" cy="9525"/>
            </a:xfrm>
            <a:custGeom>
              <a:avLst/>
              <a:gdLst/>
              <a:ahLst/>
              <a:cxnLst/>
              <a:rect l="l" t="t" r="r" b="b"/>
              <a:pathLst>
                <a:path w="133350" h="9525">
                  <a:moveTo>
                    <a:pt x="0" y="0"/>
                  </a:moveTo>
                  <a:lnTo>
                    <a:pt x="133350" y="0"/>
                  </a:lnTo>
                </a:path>
              </a:pathLst>
            </a:custGeom>
            <a:solidFill>
              <a:srgbClr val="000000"/>
            </a:solidFill>
            <a:ln w="28575">
              <a:solidFill>
                <a:schemeClr val="accent6"/>
              </a:solidFill>
            </a:ln>
          </p:spPr>
        </p:sp>
        <p:sp>
          <p:nvSpPr>
            <p:cNvPr id="41" name="Rectangle 41"/>
            <p:cNvSpPr/>
            <p:nvPr/>
          </p:nvSpPr>
          <p:spPr>
            <a:xfrm>
              <a:off x="8905875" y="3486150"/>
              <a:ext cx="2466975" cy="1066800"/>
            </a:xfrm>
            <a:prstGeom prst="roundRect">
              <a:avLst>
                <a:gd name="adj" fmla="val 5357"/>
              </a:avLst>
            </a:prstGeom>
            <a:solidFill>
              <a:schemeClr val="lt2"/>
            </a:solidFill>
            <a:ln w="14288">
              <a:solidFill>
                <a:srgbClr val="D3A84B"/>
              </a:solidFill>
            </a:ln>
          </p:spPr>
        </p:sp>
        <p:sp>
          <p:nvSpPr>
            <p:cNvPr id="42" name="Ellipse 42"/>
            <p:cNvSpPr/>
            <p:nvPr/>
          </p:nvSpPr>
          <p:spPr>
            <a:xfrm>
              <a:off x="9020175" y="3619500"/>
              <a:ext cx="266700" cy="266700"/>
            </a:xfrm>
            <a:prstGeom prst="ellipse">
              <a:avLst/>
            </a:prstGeom>
            <a:solidFill>
              <a:srgbClr val="D3A84B"/>
            </a:solidFill>
            <a:ln>
              <a:noFill/>
            </a:ln>
          </p:spPr>
        </p:sp>
        <p:sp>
          <p:nvSpPr>
            <p:cNvPr id="43" name="TextBox 43"/>
            <p:cNvSpPr txBox="1"/>
            <p:nvPr/>
          </p:nvSpPr>
          <p:spPr>
            <a:xfrm>
              <a:off x="9094190" y="36642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4</a:t>
              </a:r>
            </a:p>
          </p:txBody>
        </p:sp>
        <p:sp>
          <p:nvSpPr>
            <p:cNvPr id="44" name="TextBox 44"/>
            <p:cNvSpPr txBox="1"/>
            <p:nvPr/>
          </p:nvSpPr>
          <p:spPr>
            <a:xfrm>
              <a:off x="9087993" y="3993832"/>
              <a:ext cx="1182910"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校验失败率</a:t>
              </a:r>
            </a:p>
          </p:txBody>
        </p:sp>
      </p:grpSp>
      <p:grpSp>
        <p:nvGrpSpPr>
          <p:cNvPr id="48" name="Group 48"/>
          <p:cNvGrpSpPr/>
          <p:nvPr/>
        </p:nvGrpSpPr>
        <p:grpSpPr>
          <a:xfrm>
            <a:off x="2114550" y="4857750"/>
            <a:ext cx="7962900" cy="990600"/>
            <a:chOff x="2114550" y="4857750"/>
            <a:chExt cx="7962900" cy="990600"/>
          </a:xfrm>
        </p:grpSpPr>
        <p:sp>
          <p:nvSpPr>
            <p:cNvPr id="46" name="Rectangle 46"/>
            <p:cNvSpPr/>
            <p:nvPr/>
          </p:nvSpPr>
          <p:spPr>
            <a:xfrm>
              <a:off x="2114550" y="4857750"/>
              <a:ext cx="7962900" cy="990600"/>
            </a:xfrm>
            <a:prstGeom prst="roundRect">
              <a:avLst>
                <a:gd name="adj" fmla="val 7692"/>
              </a:avLst>
            </a:prstGeom>
            <a:solidFill>
              <a:schemeClr val="accent1"/>
            </a:solidFill>
            <a:ln>
              <a:noFill/>
            </a:ln>
          </p:spPr>
        </p:sp>
        <p:sp>
          <p:nvSpPr>
            <p:cNvPr id="47" name="TextBox 47"/>
            <p:cNvSpPr txBox="1"/>
            <p:nvPr/>
          </p:nvSpPr>
          <p:spPr>
            <a:xfrm>
              <a:off x="2369820" y="5043488"/>
              <a:ext cx="5123498"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不是跑一次“最好成绩”，而是保存配置、原始结果与统计口径。</a:t>
              </a:r>
            </a:p>
          </p:txBody>
        </p:sp>
      </p:grpSp>
      <p:grpSp>
        <p:nvGrpSpPr>
          <p:cNvPr id="51" name="Group 51"/>
          <p:cNvGrpSpPr/>
          <p:nvPr/>
        </p:nvGrpSpPr>
        <p:grpSpPr>
          <a:xfrm>
            <a:off x="678942" y="6407468"/>
            <a:ext cx="10643616" cy="264033"/>
            <a:chOff x="678942" y="6407468"/>
            <a:chExt cx="10643616" cy="264033"/>
          </a:xfrm>
        </p:grpSpPr>
        <p:sp>
          <p:nvSpPr>
            <p:cNvPr id="49" name="TextBox 49"/>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50" name="TextBox 50"/>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21</a:t>
              </a:r>
            </a:p>
          </p:txBody>
        </p:sp>
      </p:grpSp>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665087"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PERFORMANCE EVIDENCE · 22</a:t>
              </a:r>
            </a:p>
          </p:txBody>
        </p:sp>
        <p:sp>
          <p:nvSpPr>
            <p:cNvPr id="3" name="TextBox 3"/>
            <p:cNvSpPr txBox="1"/>
            <p:nvPr/>
          </p:nvSpPr>
          <p:spPr>
            <a:xfrm>
              <a:off x="666750" y="738188"/>
              <a:ext cx="1011936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性能结果：读路径稳定，批量写入待优化</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3333750" cy="1428750"/>
            <a:chOff x="685800" y="1695450"/>
            <a:chExt cx="3333750" cy="1428750"/>
          </a:xfrm>
        </p:grpSpPr>
        <p:sp>
          <p:nvSpPr>
            <p:cNvPr id="6" name="Rectangle 6"/>
            <p:cNvSpPr/>
            <p:nvPr/>
          </p:nvSpPr>
          <p:spPr>
            <a:xfrm>
              <a:off x="685800" y="1695450"/>
              <a:ext cx="3333750" cy="1428750"/>
            </a:xfrm>
            <a:prstGeom prst="roundRect">
              <a:avLst>
                <a:gd name="adj" fmla="val 4000"/>
              </a:avLst>
            </a:prstGeom>
            <a:solidFill>
              <a:schemeClr val="lt2"/>
            </a:solidFill>
            <a:ln w="14288">
              <a:solidFill>
                <a:schemeClr val="accent6"/>
              </a:solidFill>
            </a:ln>
          </p:spPr>
        </p:sp>
        <p:sp>
          <p:nvSpPr>
            <p:cNvPr id="7" name="TextBox 7"/>
            <p:cNvSpPr txBox="1"/>
            <p:nvPr/>
          </p:nvSpPr>
          <p:spPr>
            <a:xfrm>
              <a:off x="888492" y="1873568"/>
              <a:ext cx="1384767"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公开验证 · C20</a:t>
              </a:r>
            </a:p>
          </p:txBody>
        </p:sp>
        <p:sp>
          <p:nvSpPr>
            <p:cNvPr id="8" name="TextBox 8"/>
            <p:cNvSpPr txBox="1"/>
            <p:nvPr/>
          </p:nvSpPr>
          <p:spPr>
            <a:xfrm>
              <a:off x="883920" y="2271712"/>
              <a:ext cx="2341550"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746.614 req/s</a:t>
              </a:r>
            </a:p>
          </p:txBody>
        </p:sp>
        <p:sp>
          <p:nvSpPr>
            <p:cNvPr id="9" name="TextBox 9"/>
            <p:cNvSpPr txBox="1"/>
            <p:nvPr/>
          </p:nvSpPr>
          <p:spPr>
            <a:xfrm>
              <a:off x="888492" y="2711768"/>
              <a:ext cx="128210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38.202 ms</a:t>
              </a:r>
            </a:p>
          </p:txBody>
        </p:sp>
      </p:grpSp>
      <p:grpSp>
        <p:nvGrpSpPr>
          <p:cNvPr id="15" name="Group 15"/>
          <p:cNvGrpSpPr/>
          <p:nvPr/>
        </p:nvGrpSpPr>
        <p:grpSpPr>
          <a:xfrm>
            <a:off x="4429125" y="1695450"/>
            <a:ext cx="3333750" cy="1428750"/>
            <a:chOff x="4429125" y="1695450"/>
            <a:chExt cx="3333750" cy="1428750"/>
          </a:xfrm>
        </p:grpSpPr>
        <p:sp>
          <p:nvSpPr>
            <p:cNvPr id="11" name="Rectangle 11"/>
            <p:cNvSpPr/>
            <p:nvPr/>
          </p:nvSpPr>
          <p:spPr>
            <a:xfrm>
              <a:off x="4429125" y="1695450"/>
              <a:ext cx="3333750" cy="1428750"/>
            </a:xfrm>
            <a:prstGeom prst="roundRect">
              <a:avLst>
                <a:gd name="adj" fmla="val 4000"/>
              </a:avLst>
            </a:prstGeom>
            <a:solidFill>
              <a:schemeClr val="lt2"/>
            </a:solidFill>
            <a:ln w="14288">
              <a:solidFill>
                <a:schemeClr val="accent6"/>
              </a:solidFill>
            </a:ln>
          </p:spPr>
        </p:sp>
        <p:sp>
          <p:nvSpPr>
            <p:cNvPr id="12" name="TextBox 12"/>
            <p:cNvSpPr txBox="1"/>
            <p:nvPr/>
          </p:nvSpPr>
          <p:spPr>
            <a:xfrm>
              <a:off x="4631817" y="1873568"/>
              <a:ext cx="1788018"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学生私有查询 · C20</a:t>
              </a:r>
            </a:p>
          </p:txBody>
        </p:sp>
        <p:sp>
          <p:nvSpPr>
            <p:cNvPr id="13" name="TextBox 13"/>
            <p:cNvSpPr txBox="1"/>
            <p:nvPr/>
          </p:nvSpPr>
          <p:spPr>
            <a:xfrm>
              <a:off x="4627245" y="2271712"/>
              <a:ext cx="2341550"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mj-lt"/>
                  <a:ea typeface="+mj-ea"/>
                  <a:cs typeface="+mj-cs"/>
                </a:rPr>
                <a:t>752.360 req/s</a:t>
              </a:r>
            </a:p>
          </p:txBody>
        </p:sp>
        <p:sp>
          <p:nvSpPr>
            <p:cNvPr id="14" name="TextBox 14"/>
            <p:cNvSpPr txBox="1"/>
            <p:nvPr/>
          </p:nvSpPr>
          <p:spPr>
            <a:xfrm>
              <a:off x="4631817" y="2711768"/>
              <a:ext cx="128210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38.096 ms</a:t>
              </a:r>
            </a:p>
          </p:txBody>
        </p:sp>
      </p:grpSp>
      <p:grpSp>
        <p:nvGrpSpPr>
          <p:cNvPr id="20" name="Group 20"/>
          <p:cNvGrpSpPr/>
          <p:nvPr/>
        </p:nvGrpSpPr>
        <p:grpSpPr>
          <a:xfrm>
            <a:off x="8172450" y="1695450"/>
            <a:ext cx="3333750" cy="1428750"/>
            <a:chOff x="8172450" y="1695450"/>
            <a:chExt cx="3333750" cy="1428750"/>
          </a:xfrm>
        </p:grpSpPr>
        <p:sp>
          <p:nvSpPr>
            <p:cNvPr id="16" name="Rectangle 16"/>
            <p:cNvSpPr/>
            <p:nvPr/>
          </p:nvSpPr>
          <p:spPr>
            <a:xfrm>
              <a:off x="8172450" y="1695450"/>
              <a:ext cx="3333750" cy="1428750"/>
            </a:xfrm>
            <a:prstGeom prst="roundRect">
              <a:avLst>
                <a:gd name="adj" fmla="val 4000"/>
              </a:avLst>
            </a:prstGeom>
            <a:solidFill>
              <a:schemeClr val="lt2"/>
            </a:solidFill>
            <a:ln w="14288">
              <a:solidFill>
                <a:schemeClr val="accent6"/>
              </a:solidFill>
            </a:ln>
          </p:spPr>
        </p:sp>
        <p:sp>
          <p:nvSpPr>
            <p:cNvPr id="17" name="TextBox 17"/>
            <p:cNvSpPr txBox="1"/>
            <p:nvPr/>
          </p:nvSpPr>
          <p:spPr>
            <a:xfrm>
              <a:off x="8375142" y="1873568"/>
              <a:ext cx="910588"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批量 50 条</a:t>
              </a:r>
            </a:p>
          </p:txBody>
        </p:sp>
        <p:sp>
          <p:nvSpPr>
            <p:cNvPr id="18" name="TextBox 18"/>
            <p:cNvSpPr txBox="1"/>
            <p:nvPr/>
          </p:nvSpPr>
          <p:spPr>
            <a:xfrm>
              <a:off x="8370570" y="2271712"/>
              <a:ext cx="2996832"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mj-lt"/>
                  <a:ea typeface="+mj-ea"/>
                  <a:cs typeface="+mj-cs"/>
                </a:rPr>
                <a:t>482.549 entries/s</a:t>
              </a:r>
            </a:p>
          </p:txBody>
        </p:sp>
        <p:sp>
          <p:nvSpPr>
            <p:cNvPr id="19" name="TextBox 19"/>
            <p:cNvSpPr txBox="1"/>
            <p:nvPr/>
          </p:nvSpPr>
          <p:spPr>
            <a:xfrm>
              <a:off x="8375142" y="2711768"/>
              <a:ext cx="148578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P95 2497.371 ms</a:t>
              </a:r>
            </a:p>
          </p:txBody>
        </p:sp>
      </p:grpSp>
      <p:grpSp>
        <p:nvGrpSpPr>
          <p:cNvPr id="32" name="Group 32"/>
          <p:cNvGrpSpPr/>
          <p:nvPr/>
        </p:nvGrpSpPr>
        <p:grpSpPr>
          <a:xfrm>
            <a:off x="685800" y="3429000"/>
            <a:ext cx="10820400" cy="1811465"/>
            <a:chOff x="685800" y="3429000"/>
            <a:chExt cx="10820400" cy="1811465"/>
          </a:xfrm>
        </p:grpSpPr>
        <p:sp>
          <p:nvSpPr>
            <p:cNvPr id="21" name="Rectangle 21"/>
            <p:cNvSpPr/>
            <p:nvPr/>
          </p:nvSpPr>
          <p:spPr>
            <a:xfrm>
              <a:off x="685800" y="3429000"/>
              <a:ext cx="10820400" cy="1809750"/>
            </a:xfrm>
            <a:prstGeom prst="roundRect">
              <a:avLst>
                <a:gd name="adj" fmla="val 3158"/>
              </a:avLst>
            </a:prstGeom>
            <a:solidFill>
              <a:schemeClr val="lt2"/>
            </a:solidFill>
            <a:ln w="14288">
              <a:solidFill>
                <a:schemeClr val="accent6"/>
              </a:solidFill>
            </a:ln>
          </p:spPr>
        </p:sp>
        <p:sp>
          <p:nvSpPr>
            <p:cNvPr id="22" name="TextBox 22"/>
            <p:cNvSpPr txBox="1"/>
            <p:nvPr/>
          </p:nvSpPr>
          <p:spPr>
            <a:xfrm>
              <a:off x="907542" y="3635692"/>
              <a:ext cx="2558034"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相对吞吐（同一图仅用于比较）</a:t>
              </a:r>
            </a:p>
          </p:txBody>
        </p:sp>
        <p:sp>
          <p:nvSpPr>
            <p:cNvPr id="23" name="TextBox 23"/>
            <p:cNvSpPr txBox="1"/>
            <p:nvPr/>
          </p:nvSpPr>
          <p:spPr>
            <a:xfrm>
              <a:off x="906018" y="4060508"/>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公开验证</a:t>
              </a:r>
            </a:p>
          </p:txBody>
        </p:sp>
        <p:sp>
          <p:nvSpPr>
            <p:cNvPr id="24" name="Rectangle 24"/>
            <p:cNvSpPr/>
            <p:nvPr/>
          </p:nvSpPr>
          <p:spPr>
            <a:xfrm>
              <a:off x="2457450" y="4010025"/>
              <a:ext cx="6667500" cy="266700"/>
            </a:xfrm>
            <a:prstGeom prst="rect">
              <a:avLst/>
            </a:prstGeom>
            <a:solidFill>
              <a:schemeClr val="accent1"/>
            </a:solidFill>
            <a:ln>
              <a:noFill/>
            </a:ln>
          </p:spPr>
        </p:sp>
        <p:sp>
          <p:nvSpPr>
            <p:cNvPr id="25" name="TextBox 25"/>
            <p:cNvSpPr txBox="1"/>
            <p:nvPr/>
          </p:nvSpPr>
          <p:spPr>
            <a:xfrm>
              <a:off x="9288018" y="4050982"/>
              <a:ext cx="658144" cy="322707"/>
            </a:xfrm>
            <a:prstGeom prst="rect">
              <a:avLst/>
            </a:prstGeom>
            <a:noFill/>
            <a:ln>
              <a:noFill/>
            </a:ln>
          </p:spPr>
          <p:txBody>
            <a:bodyPr wrap="none" lIns="0" tIns="0" rIns="0" bIns="0" anchor="t" anchorCtr="0">
              <a:spAutoFit/>
            </a:bodyPr>
            <a:lstStyle/>
            <a:p>
              <a:pPr algn="l"/>
              <a:r>
                <a:rPr lang="en-US" sz="1650" b="1" dirty="0">
                  <a:solidFill>
                    <a:schemeClr val="accent1"/>
                  </a:solidFill>
                  <a:latin typeface="+mn-lt"/>
                  <a:ea typeface="+mn-ea"/>
                  <a:cs typeface="+mn-cs"/>
                </a:rPr>
                <a:t>746.6</a:t>
              </a:r>
            </a:p>
          </p:txBody>
        </p:sp>
        <p:sp>
          <p:nvSpPr>
            <p:cNvPr id="26" name="TextBox 26"/>
            <p:cNvSpPr txBox="1"/>
            <p:nvPr/>
          </p:nvSpPr>
          <p:spPr>
            <a:xfrm>
              <a:off x="906018" y="4489132"/>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私有查询</a:t>
              </a:r>
            </a:p>
          </p:txBody>
        </p:sp>
        <p:sp>
          <p:nvSpPr>
            <p:cNvPr id="27" name="Rectangle 27"/>
            <p:cNvSpPr/>
            <p:nvPr/>
          </p:nvSpPr>
          <p:spPr>
            <a:xfrm>
              <a:off x="2457450" y="4438650"/>
              <a:ext cx="6715125" cy="266700"/>
            </a:xfrm>
            <a:prstGeom prst="rect">
              <a:avLst/>
            </a:prstGeom>
            <a:solidFill>
              <a:schemeClr val="accent3"/>
            </a:solidFill>
            <a:ln>
              <a:noFill/>
            </a:ln>
          </p:spPr>
        </p:sp>
        <p:sp>
          <p:nvSpPr>
            <p:cNvPr id="28" name="TextBox 28"/>
            <p:cNvSpPr txBox="1"/>
            <p:nvPr/>
          </p:nvSpPr>
          <p:spPr>
            <a:xfrm>
              <a:off x="9335643" y="4479608"/>
              <a:ext cx="658144" cy="322707"/>
            </a:xfrm>
            <a:prstGeom prst="rect">
              <a:avLst/>
            </a:prstGeom>
            <a:noFill/>
            <a:ln>
              <a:noFill/>
            </a:ln>
          </p:spPr>
          <p:txBody>
            <a:bodyPr wrap="none" lIns="0" tIns="0" rIns="0" bIns="0" anchor="t" anchorCtr="0">
              <a:spAutoFit/>
            </a:bodyPr>
            <a:lstStyle/>
            <a:p>
              <a:pPr algn="l"/>
              <a:r>
                <a:rPr lang="en-US" sz="1650" b="1" dirty="0">
                  <a:solidFill>
                    <a:schemeClr val="accent3"/>
                  </a:solidFill>
                  <a:latin typeface="+mn-lt"/>
                  <a:ea typeface="+mn-ea"/>
                  <a:cs typeface="+mn-cs"/>
                </a:rPr>
                <a:t>752.4</a:t>
              </a:r>
            </a:p>
          </p:txBody>
        </p:sp>
        <p:sp>
          <p:nvSpPr>
            <p:cNvPr id="29" name="TextBox 29"/>
            <p:cNvSpPr txBox="1"/>
            <p:nvPr/>
          </p:nvSpPr>
          <p:spPr>
            <a:xfrm>
              <a:off x="906018" y="4917758"/>
              <a:ext cx="905256" cy="322707"/>
            </a:xfrm>
            <a:prstGeom prst="rect">
              <a:avLst/>
            </a:prstGeom>
            <a:noFill/>
            <a:ln>
              <a:noFill/>
            </a:ln>
          </p:spPr>
          <p:txBody>
            <a:bodyPr wrap="none" lIns="0" tIns="0" rIns="0" bIns="0" anchor="t" anchorCtr="0">
              <a:spAutoFit/>
            </a:bodyPr>
            <a:lstStyle/>
            <a:p>
              <a:pPr algn="l"/>
              <a:r>
                <a:rPr lang="zh-CN" sz="1650" dirty="0">
                  <a:solidFill>
                    <a:schemeClr val="dk1"/>
                  </a:solidFill>
                  <a:latin typeface="+mn-lt"/>
                  <a:ea typeface="+mn-ea"/>
                  <a:cs typeface="+mn-cs"/>
                </a:rPr>
                <a:t>批量写入</a:t>
              </a:r>
            </a:p>
          </p:txBody>
        </p:sp>
        <p:sp>
          <p:nvSpPr>
            <p:cNvPr id="30" name="Rectangle 30"/>
            <p:cNvSpPr/>
            <p:nvPr/>
          </p:nvSpPr>
          <p:spPr>
            <a:xfrm>
              <a:off x="2457450" y="4867275"/>
              <a:ext cx="4305300" cy="266700"/>
            </a:xfrm>
            <a:prstGeom prst="rect">
              <a:avLst/>
            </a:prstGeom>
            <a:solidFill>
              <a:schemeClr val="accent2"/>
            </a:solidFill>
            <a:ln>
              <a:noFill/>
            </a:ln>
          </p:spPr>
        </p:sp>
        <p:sp>
          <p:nvSpPr>
            <p:cNvPr id="31" name="TextBox 31"/>
            <p:cNvSpPr txBox="1"/>
            <p:nvPr/>
          </p:nvSpPr>
          <p:spPr>
            <a:xfrm>
              <a:off x="6925818" y="4908232"/>
              <a:ext cx="658144" cy="322707"/>
            </a:xfrm>
            <a:prstGeom prst="rect">
              <a:avLst/>
            </a:prstGeom>
            <a:noFill/>
            <a:ln>
              <a:noFill/>
            </a:ln>
          </p:spPr>
          <p:txBody>
            <a:bodyPr wrap="none" lIns="0" tIns="0" rIns="0" bIns="0" anchor="t" anchorCtr="0">
              <a:spAutoFit/>
            </a:bodyPr>
            <a:lstStyle/>
            <a:p>
              <a:pPr algn="l"/>
              <a:r>
                <a:rPr lang="en-US" sz="1650" b="1" dirty="0">
                  <a:solidFill>
                    <a:schemeClr val="accent2"/>
                  </a:solidFill>
                  <a:latin typeface="+mn-lt"/>
                  <a:ea typeface="+mn-ea"/>
                  <a:cs typeface="+mn-cs"/>
                </a:rPr>
                <a:t>482.5</a:t>
              </a:r>
            </a:p>
          </p:txBody>
        </p:sp>
      </p:grpSp>
      <p:grpSp>
        <p:nvGrpSpPr>
          <p:cNvPr id="35" name="Group 35"/>
          <p:cNvGrpSpPr/>
          <p:nvPr/>
        </p:nvGrpSpPr>
        <p:grpSpPr>
          <a:xfrm>
            <a:off x="2400300" y="5353050"/>
            <a:ext cx="7391400" cy="625793"/>
            <a:chOff x="2400300" y="5353050"/>
            <a:chExt cx="7391400" cy="625793"/>
          </a:xfrm>
        </p:grpSpPr>
        <p:sp>
          <p:nvSpPr>
            <p:cNvPr id="33" name="Rectangle 33"/>
            <p:cNvSpPr/>
            <p:nvPr/>
          </p:nvSpPr>
          <p:spPr>
            <a:xfrm>
              <a:off x="2400300" y="5353050"/>
              <a:ext cx="7391400" cy="590550"/>
            </a:xfrm>
            <a:prstGeom prst="roundRect">
              <a:avLst>
                <a:gd name="adj" fmla="val 12903"/>
              </a:avLst>
            </a:prstGeom>
            <a:solidFill>
              <a:schemeClr val="accent3"/>
            </a:solidFill>
            <a:ln>
              <a:noFill/>
            </a:ln>
          </p:spPr>
        </p:sp>
        <p:sp>
          <p:nvSpPr>
            <p:cNvPr id="34" name="TextBox 34"/>
            <p:cNvSpPr txBox="1"/>
            <p:nvPr/>
          </p:nvSpPr>
          <p:spPr>
            <a:xfrm>
              <a:off x="2655570" y="5538788"/>
              <a:ext cx="4139375"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84 个合法请求单元：失败 0</a:t>
              </a:r>
            </a:p>
          </p:txBody>
        </p:sp>
      </p:grpSp>
      <p:grpSp>
        <p:nvGrpSpPr>
          <p:cNvPr id="38" name="Group 38"/>
          <p:cNvGrpSpPr/>
          <p:nvPr/>
        </p:nvGrpSpPr>
        <p:grpSpPr>
          <a:xfrm>
            <a:off x="678942" y="6407468"/>
            <a:ext cx="10643616" cy="264033"/>
            <a:chOff x="678942" y="6407468"/>
            <a:chExt cx="10643616" cy="264033"/>
          </a:xfrm>
        </p:grpSpPr>
        <p:sp>
          <p:nvSpPr>
            <p:cNvPr id="36" name="TextBox 36"/>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7" name="TextBox 37"/>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22</a:t>
              </a:r>
            </a:p>
          </p:txBody>
        </p:sp>
      </p:grpSp>
    </p:spTree>
  </p:cSld>
  <p:clrMapOvr>
    <a:masterClrMapping/>
  </p:clrMapOvr>
  <p:transition xmlns:p14="http://schemas.microsoft.com/office/powerpoint/2010/main" p14:dur="400">
    <p:fad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37273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RESILIENCE EVIDENCE · 23</a:t>
              </a:r>
            </a:p>
          </p:txBody>
        </p:sp>
        <p:sp>
          <p:nvSpPr>
            <p:cNvPr id="3" name="TextBox 3"/>
            <p:cNvSpPr txBox="1"/>
            <p:nvPr/>
          </p:nvSpPr>
          <p:spPr>
            <a:xfrm>
              <a:off x="666750" y="738188"/>
              <a:ext cx="1067943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故障恢复：可恢复已验证，高可用仍未实现</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3143250" cy="1428750"/>
            <a:chOff x="685800" y="1695450"/>
            <a:chExt cx="3143250" cy="1428750"/>
          </a:xfrm>
        </p:grpSpPr>
        <p:sp>
          <p:nvSpPr>
            <p:cNvPr id="6" name="Rectangle 6"/>
            <p:cNvSpPr/>
            <p:nvPr/>
          </p:nvSpPr>
          <p:spPr>
            <a:xfrm>
              <a:off x="685800" y="1695450"/>
              <a:ext cx="3143250" cy="1428750"/>
            </a:xfrm>
            <a:prstGeom prst="roundRect">
              <a:avLst>
                <a:gd name="adj" fmla="val 4000"/>
              </a:avLst>
            </a:prstGeom>
            <a:solidFill>
              <a:schemeClr val="lt2"/>
            </a:solidFill>
            <a:ln w="14288">
              <a:solidFill>
                <a:schemeClr val="accent6"/>
              </a:solidFill>
            </a:ln>
          </p:spPr>
        </p:sp>
        <p:sp>
          <p:nvSpPr>
            <p:cNvPr id="7" name="TextBox 7"/>
            <p:cNvSpPr txBox="1"/>
            <p:nvPr/>
          </p:nvSpPr>
          <p:spPr>
            <a:xfrm>
              <a:off x="888492" y="1873568"/>
              <a:ext cx="963875"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Org2 Peer</a:t>
              </a:r>
            </a:p>
          </p:txBody>
        </p:sp>
        <p:sp>
          <p:nvSpPr>
            <p:cNvPr id="8" name="TextBox 8"/>
            <p:cNvSpPr txBox="1"/>
            <p:nvPr/>
          </p:nvSpPr>
          <p:spPr>
            <a:xfrm>
              <a:off x="879348"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14.030 s</a:t>
              </a:r>
            </a:p>
          </p:txBody>
        </p:sp>
        <p:sp>
          <p:nvSpPr>
            <p:cNvPr id="9" name="TextBox 9"/>
            <p:cNvSpPr txBox="1"/>
            <p:nvPr/>
          </p:nvSpPr>
          <p:spPr>
            <a:xfrm>
              <a:off x="88849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恢复到可接受请求</a:t>
              </a:r>
            </a:p>
          </p:txBody>
        </p:sp>
      </p:grpSp>
      <p:grpSp>
        <p:nvGrpSpPr>
          <p:cNvPr id="15" name="Group 15"/>
          <p:cNvGrpSpPr/>
          <p:nvPr/>
        </p:nvGrpSpPr>
        <p:grpSpPr>
          <a:xfrm>
            <a:off x="4524375" y="1695450"/>
            <a:ext cx="3143250" cy="1428750"/>
            <a:chOff x="4524375" y="1695450"/>
            <a:chExt cx="3143250" cy="1428750"/>
          </a:xfrm>
        </p:grpSpPr>
        <p:sp>
          <p:nvSpPr>
            <p:cNvPr id="11" name="Rectangle 11"/>
            <p:cNvSpPr/>
            <p:nvPr/>
          </p:nvSpPr>
          <p:spPr>
            <a:xfrm>
              <a:off x="4524375" y="1695450"/>
              <a:ext cx="3143250" cy="1428750"/>
            </a:xfrm>
            <a:prstGeom prst="roundRect">
              <a:avLst>
                <a:gd name="adj" fmla="val 4000"/>
              </a:avLst>
            </a:prstGeom>
            <a:solidFill>
              <a:schemeClr val="lt2"/>
            </a:solidFill>
            <a:ln w="14288">
              <a:solidFill>
                <a:schemeClr val="accent6"/>
              </a:solidFill>
            </a:ln>
          </p:spPr>
        </p:sp>
        <p:sp>
          <p:nvSpPr>
            <p:cNvPr id="12" name="TextBox 12"/>
            <p:cNvSpPr txBox="1"/>
            <p:nvPr/>
          </p:nvSpPr>
          <p:spPr>
            <a:xfrm>
              <a:off x="4727067" y="1873568"/>
              <a:ext cx="556304"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CCaaS</a:t>
              </a:r>
            </a:p>
          </p:txBody>
        </p:sp>
        <p:sp>
          <p:nvSpPr>
            <p:cNvPr id="13" name="TextBox 13"/>
            <p:cNvSpPr txBox="1"/>
            <p:nvPr/>
          </p:nvSpPr>
          <p:spPr>
            <a:xfrm>
              <a:off x="4717923"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16.870 s</a:t>
              </a:r>
            </a:p>
          </p:txBody>
        </p:sp>
        <p:sp>
          <p:nvSpPr>
            <p:cNvPr id="14" name="TextBox 14"/>
            <p:cNvSpPr txBox="1"/>
            <p:nvPr/>
          </p:nvSpPr>
          <p:spPr>
            <a:xfrm>
              <a:off x="4727067" y="2711768"/>
              <a:ext cx="110413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链码服务重连</a:t>
              </a:r>
            </a:p>
          </p:txBody>
        </p:sp>
      </p:grpSp>
      <p:grpSp>
        <p:nvGrpSpPr>
          <p:cNvPr id="20" name="Group 20"/>
          <p:cNvGrpSpPr/>
          <p:nvPr/>
        </p:nvGrpSpPr>
        <p:grpSpPr>
          <a:xfrm>
            <a:off x="8362950" y="1695450"/>
            <a:ext cx="3143250" cy="1428750"/>
            <a:chOff x="8362950" y="1695450"/>
            <a:chExt cx="3143250" cy="1428750"/>
          </a:xfrm>
        </p:grpSpPr>
        <p:sp>
          <p:nvSpPr>
            <p:cNvPr id="16" name="Rectangle 16"/>
            <p:cNvSpPr/>
            <p:nvPr/>
          </p:nvSpPr>
          <p:spPr>
            <a:xfrm>
              <a:off x="8362950" y="1695450"/>
              <a:ext cx="3143250" cy="1428750"/>
            </a:xfrm>
            <a:prstGeom prst="roundRect">
              <a:avLst>
                <a:gd name="adj" fmla="val 4000"/>
              </a:avLst>
            </a:prstGeom>
            <a:solidFill>
              <a:schemeClr val="lt2"/>
            </a:solidFill>
            <a:ln w="14288">
              <a:solidFill>
                <a:schemeClr val="accent6"/>
              </a:solidFill>
            </a:ln>
          </p:spPr>
        </p:sp>
        <p:sp>
          <p:nvSpPr>
            <p:cNvPr id="17" name="TextBox 17"/>
            <p:cNvSpPr txBox="1"/>
            <p:nvPr/>
          </p:nvSpPr>
          <p:spPr>
            <a:xfrm>
              <a:off x="8565642" y="1873568"/>
              <a:ext cx="792802" cy="264033"/>
            </a:xfrm>
            <a:prstGeom prst="rect">
              <a:avLst/>
            </a:prstGeom>
            <a:noFill/>
            <a:ln>
              <a:noFill/>
            </a:ln>
          </p:spPr>
          <p:txBody>
            <a:bodyPr wrap="none" lIns="0" tIns="0" rIns="0" bIns="0" anchor="t" anchorCtr="0">
              <a:spAutoFit/>
            </a:bodyPr>
            <a:lstStyle/>
            <a:p>
              <a:pPr algn="l"/>
              <a:r>
                <a:rPr lang="en-US" sz="1350" b="1" dirty="0">
                  <a:solidFill>
                    <a:schemeClr val="accent5"/>
                  </a:solidFill>
                  <a:latin typeface="+mn-lt"/>
                  <a:ea typeface="+mn-ea"/>
                  <a:cs typeface="+mn-cs"/>
                </a:rPr>
                <a:t>Orderer</a:t>
              </a:r>
            </a:p>
          </p:txBody>
        </p:sp>
        <p:sp>
          <p:nvSpPr>
            <p:cNvPr id="18" name="TextBox 18"/>
            <p:cNvSpPr txBox="1"/>
            <p:nvPr/>
          </p:nvSpPr>
          <p:spPr>
            <a:xfrm>
              <a:off x="8556498" y="2174558"/>
              <a:ext cx="1984408"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22.482 s</a:t>
              </a:r>
            </a:p>
          </p:txBody>
        </p:sp>
        <p:sp>
          <p:nvSpPr>
            <p:cNvPr id="19" name="TextBox 19"/>
            <p:cNvSpPr txBox="1"/>
            <p:nvPr/>
          </p:nvSpPr>
          <p:spPr>
            <a:xfrm>
              <a:off x="856564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恢复到可提交交易</a:t>
              </a:r>
            </a:p>
          </p:txBody>
        </p:sp>
      </p:grpSp>
      <p:grpSp>
        <p:nvGrpSpPr>
          <p:cNvPr id="25" name="Group 25"/>
          <p:cNvGrpSpPr/>
          <p:nvPr/>
        </p:nvGrpSpPr>
        <p:grpSpPr>
          <a:xfrm>
            <a:off x="685800" y="3429000"/>
            <a:ext cx="5238750" cy="1790700"/>
            <a:chOff x="685800" y="3429000"/>
            <a:chExt cx="5238750" cy="1790700"/>
          </a:xfrm>
        </p:grpSpPr>
        <p:sp>
          <p:nvSpPr>
            <p:cNvPr id="21" name="Rectangle 21"/>
            <p:cNvSpPr/>
            <p:nvPr/>
          </p:nvSpPr>
          <p:spPr>
            <a:xfrm>
              <a:off x="685800" y="3429000"/>
              <a:ext cx="5238750" cy="1790700"/>
            </a:xfrm>
            <a:prstGeom prst="roundRect">
              <a:avLst>
                <a:gd name="adj" fmla="val 3191"/>
              </a:avLst>
            </a:prstGeom>
            <a:solidFill>
              <a:schemeClr val="lt2"/>
            </a:solidFill>
            <a:ln w="14288">
              <a:solidFill>
                <a:schemeClr val="accent6"/>
              </a:solidFill>
            </a:ln>
          </p:spPr>
        </p:sp>
        <p:sp>
          <p:nvSpPr>
            <p:cNvPr id="22" name="Rectangle 22"/>
            <p:cNvSpPr/>
            <p:nvPr/>
          </p:nvSpPr>
          <p:spPr>
            <a:xfrm>
              <a:off x="685800" y="3429000"/>
              <a:ext cx="76200" cy="1790700"/>
            </a:xfrm>
            <a:prstGeom prst="roundRect">
              <a:avLst>
                <a:gd name="adj" fmla="val 50000"/>
              </a:avLst>
            </a:prstGeom>
            <a:solidFill>
              <a:schemeClr val="accent3"/>
            </a:solidFill>
            <a:ln>
              <a:noFill/>
            </a:ln>
          </p:spPr>
        </p:sp>
        <p:sp>
          <p:nvSpPr>
            <p:cNvPr id="23" name="TextBox 23"/>
            <p:cNvSpPr txBox="1"/>
            <p:nvPr/>
          </p:nvSpPr>
          <p:spPr>
            <a:xfrm>
              <a:off x="941070" y="3586162"/>
              <a:ext cx="2039112"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恢复后一致性</a:t>
              </a:r>
            </a:p>
          </p:txBody>
        </p:sp>
        <p:sp>
          <p:nvSpPr>
            <p:cNvPr id="24" name="TextBox 24"/>
            <p:cNvSpPr txBox="1"/>
            <p:nvPr/>
          </p:nvSpPr>
          <p:spPr>
            <a:xfrm>
              <a:off x="944118" y="4050982"/>
              <a:ext cx="3128582"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账本高度：12 → 4315有效交易：32527；无效交易：27恢复后审计检查全部通过</a:t>
              </a:r>
            </a:p>
          </p:txBody>
        </p:sp>
      </p:grpSp>
      <p:grpSp>
        <p:nvGrpSpPr>
          <p:cNvPr id="30" name="Group 30"/>
          <p:cNvGrpSpPr/>
          <p:nvPr/>
        </p:nvGrpSpPr>
        <p:grpSpPr>
          <a:xfrm>
            <a:off x="6267450" y="3429000"/>
            <a:ext cx="5238750" cy="1790700"/>
            <a:chOff x="6267450" y="3429000"/>
            <a:chExt cx="5238750" cy="1790700"/>
          </a:xfrm>
        </p:grpSpPr>
        <p:sp>
          <p:nvSpPr>
            <p:cNvPr id="26" name="Rectangle 26"/>
            <p:cNvSpPr/>
            <p:nvPr/>
          </p:nvSpPr>
          <p:spPr>
            <a:xfrm>
              <a:off x="6267450" y="3429000"/>
              <a:ext cx="5238750" cy="1790700"/>
            </a:xfrm>
            <a:prstGeom prst="roundRect">
              <a:avLst>
                <a:gd name="adj" fmla="val 3191"/>
              </a:avLst>
            </a:prstGeom>
            <a:solidFill>
              <a:schemeClr val="lt2"/>
            </a:solidFill>
            <a:ln w="14288">
              <a:solidFill>
                <a:schemeClr val="accent6"/>
              </a:solidFill>
            </a:ln>
          </p:spPr>
        </p:sp>
        <p:sp>
          <p:nvSpPr>
            <p:cNvPr id="27" name="Rectangle 27"/>
            <p:cNvSpPr/>
            <p:nvPr/>
          </p:nvSpPr>
          <p:spPr>
            <a:xfrm>
              <a:off x="6267450" y="3429000"/>
              <a:ext cx="76200" cy="1790700"/>
            </a:xfrm>
            <a:prstGeom prst="roundRect">
              <a:avLst>
                <a:gd name="adj" fmla="val 50000"/>
              </a:avLst>
            </a:prstGeom>
            <a:solidFill>
              <a:schemeClr val="accent2"/>
            </a:solidFill>
            <a:ln>
              <a:noFill/>
            </a:ln>
          </p:spPr>
        </p:sp>
        <p:sp>
          <p:nvSpPr>
            <p:cNvPr id="28" name="TextBox 28"/>
            <p:cNvSpPr txBox="1"/>
            <p:nvPr/>
          </p:nvSpPr>
          <p:spPr>
            <a:xfrm>
              <a:off x="6522720" y="3586162"/>
              <a:ext cx="304723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必须如实说明的边界</a:t>
              </a:r>
            </a:p>
          </p:txBody>
        </p:sp>
        <p:sp>
          <p:nvSpPr>
            <p:cNvPr id="29" name="TextBox 29"/>
            <p:cNvSpPr txBox="1"/>
            <p:nvPr/>
          </p:nvSpPr>
          <p:spPr>
            <a:xfrm>
              <a:off x="6525768" y="4050982"/>
              <a:ext cx="362102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当前仅 1 个 Orderer该节点故障期间无法形成新区块结论是“可恢复”，不是“无中断高可用”</a:t>
              </a:r>
            </a:p>
          </p:txBody>
        </p:sp>
      </p:grpSp>
      <p:grpSp>
        <p:nvGrpSpPr>
          <p:cNvPr id="32" name="Group 32"/>
          <p:cNvGrpSpPr/>
          <p:nvPr/>
        </p:nvGrpSpPr>
        <p:grpSpPr>
          <a:xfrm>
            <a:off x="677418" y="5546408"/>
            <a:ext cx="5847493" cy="322707"/>
            <a:chOff x="677418" y="5546408"/>
            <a:chExt cx="5847493" cy="322707"/>
          </a:xfrm>
        </p:grpSpPr>
        <p:sp>
          <p:nvSpPr>
            <p:cNvPr id="31" name="TextBox 31"/>
            <p:cNvSpPr txBox="1"/>
            <p:nvPr/>
          </p:nvSpPr>
          <p:spPr>
            <a:xfrm>
              <a:off x="677418" y="5546408"/>
              <a:ext cx="5847493" cy="322707"/>
            </a:xfrm>
            <a:prstGeom prst="rect">
              <a:avLst/>
            </a:prstGeom>
            <a:noFill/>
            <a:ln>
              <a:noFill/>
            </a:ln>
          </p:spPr>
          <p:txBody>
            <a:bodyPr wrap="none" lIns="0" tIns="0" rIns="0" bIns="0" anchor="t" anchorCtr="0">
              <a:spAutoFit/>
            </a:bodyPr>
            <a:lstStyle/>
            <a:p>
              <a:pPr algn="l"/>
              <a:r>
                <a:rPr lang="zh-CN" sz="1650" b="1" dirty="0">
                  <a:solidFill>
                    <a:schemeClr val="accent1"/>
                  </a:solidFill>
                  <a:latin typeface="+mn-lt"/>
                  <a:ea typeface="+mn-ea"/>
                  <a:cs typeface="+mn-cs"/>
                </a:rPr>
                <a:t>数据回答两个问题：多久恢复？恢复后账本是否仍一致？</a:t>
              </a:r>
            </a:p>
          </p:txBody>
        </p:sp>
      </p:grpSp>
      <p:grpSp>
        <p:nvGrpSpPr>
          <p:cNvPr id="35" name="Group 35"/>
          <p:cNvGrpSpPr/>
          <p:nvPr/>
        </p:nvGrpSpPr>
        <p:grpSpPr>
          <a:xfrm>
            <a:off x="678942" y="6407468"/>
            <a:ext cx="10643616" cy="264033"/>
            <a:chOff x="678942" y="6407468"/>
            <a:chExt cx="10643616" cy="264033"/>
          </a:xfrm>
        </p:grpSpPr>
        <p:sp>
          <p:nvSpPr>
            <p:cNvPr id="33" name="TextBox 33"/>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4" name="TextBox 34"/>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23</a:t>
              </a:r>
            </a:p>
          </p:txBody>
        </p:sp>
      </p:grpSp>
    </p:spTree>
  </p:cSld>
  <p:clrMapOvr>
    <a:masterClrMapping/>
  </p:clrMapOvr>
  <p:transition xmlns:p14="http://schemas.microsoft.com/office/powerpoint/2010/main" p14:dur="400">
    <p:fad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311874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ACCEPTANCE &amp; CONTRIBUTION · 24</a:t>
              </a:r>
            </a:p>
          </p:txBody>
        </p:sp>
        <p:sp>
          <p:nvSpPr>
            <p:cNvPr id="3" name="TextBox 3"/>
            <p:cNvSpPr txBox="1"/>
            <p:nvPr/>
          </p:nvSpPr>
          <p:spPr>
            <a:xfrm>
              <a:off x="666750" y="738188"/>
              <a:ext cx="507873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收口证据与团队贡献</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2501494" cy="1428750"/>
            <a:chOff x="685800" y="1695450"/>
            <a:chExt cx="2501494" cy="1428750"/>
          </a:xfrm>
        </p:grpSpPr>
        <p:sp>
          <p:nvSpPr>
            <p:cNvPr id="6" name="Rectangle 6"/>
            <p:cNvSpPr/>
            <p:nvPr/>
          </p:nvSpPr>
          <p:spPr>
            <a:xfrm>
              <a:off x="685800" y="1695450"/>
              <a:ext cx="2381250" cy="1428750"/>
            </a:xfrm>
            <a:prstGeom prst="roundRect">
              <a:avLst>
                <a:gd name="adj" fmla="val 4000"/>
              </a:avLst>
            </a:prstGeom>
            <a:solidFill>
              <a:schemeClr val="lt2"/>
            </a:solidFill>
            <a:ln w="14288">
              <a:solidFill>
                <a:schemeClr val="accent6"/>
              </a:solidFill>
            </a:ln>
          </p:spPr>
        </p:sp>
        <p:sp>
          <p:nvSpPr>
            <p:cNvPr id="7" name="TextBox 7"/>
            <p:cNvSpPr txBox="1"/>
            <p:nvPr/>
          </p:nvSpPr>
          <p:spPr>
            <a:xfrm>
              <a:off x="888492" y="1873568"/>
              <a:ext cx="967835"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自动化测试</a:t>
              </a:r>
            </a:p>
          </p:txBody>
        </p:sp>
        <p:sp>
          <p:nvSpPr>
            <p:cNvPr id="8" name="TextBox 8"/>
            <p:cNvSpPr txBox="1"/>
            <p:nvPr/>
          </p:nvSpPr>
          <p:spPr>
            <a:xfrm>
              <a:off x="879348" y="2174558"/>
              <a:ext cx="808261" cy="616077"/>
            </a:xfrm>
            <a:prstGeom prst="rect">
              <a:avLst/>
            </a:prstGeom>
            <a:noFill/>
            <a:ln>
              <a:noFill/>
            </a:ln>
          </p:spPr>
          <p:txBody>
            <a:bodyPr wrap="none" lIns="0" tIns="0" rIns="0" bIns="0" anchor="t" anchorCtr="0">
              <a:spAutoFit/>
            </a:bodyPr>
            <a:lstStyle/>
            <a:p>
              <a:pPr algn="l"/>
              <a:r>
                <a:rPr lang="en-US" sz="3150" b="1" dirty="0">
                  <a:solidFill>
                    <a:schemeClr val="accent1"/>
                  </a:solidFill>
                  <a:latin typeface="+mj-lt"/>
                  <a:ea typeface="+mj-ea"/>
                  <a:cs typeface="+mj-cs"/>
                </a:rPr>
                <a:t>120</a:t>
              </a:r>
            </a:p>
          </p:txBody>
        </p:sp>
        <p:sp>
          <p:nvSpPr>
            <p:cNvPr id="9" name="TextBox 9"/>
            <p:cNvSpPr txBox="1"/>
            <p:nvPr/>
          </p:nvSpPr>
          <p:spPr>
            <a:xfrm>
              <a:off x="888492" y="2711768"/>
              <a:ext cx="229880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共享 33 / 链码 20 / API 67</a:t>
              </a:r>
            </a:p>
          </p:txBody>
        </p:sp>
      </p:grpSp>
      <p:grpSp>
        <p:nvGrpSpPr>
          <p:cNvPr id="15" name="Group 15"/>
          <p:cNvGrpSpPr/>
          <p:nvPr/>
        </p:nvGrpSpPr>
        <p:grpSpPr>
          <a:xfrm>
            <a:off x="3371850" y="1695450"/>
            <a:ext cx="2381250" cy="1428750"/>
            <a:chOff x="3371850" y="1695450"/>
            <a:chExt cx="2381250" cy="1428750"/>
          </a:xfrm>
        </p:grpSpPr>
        <p:sp>
          <p:nvSpPr>
            <p:cNvPr id="11" name="Rectangle 11"/>
            <p:cNvSpPr/>
            <p:nvPr/>
          </p:nvSpPr>
          <p:spPr>
            <a:xfrm>
              <a:off x="3371850" y="1695450"/>
              <a:ext cx="2381250" cy="1428750"/>
            </a:xfrm>
            <a:prstGeom prst="roundRect">
              <a:avLst>
                <a:gd name="adj" fmla="val 4000"/>
              </a:avLst>
            </a:prstGeom>
            <a:solidFill>
              <a:schemeClr val="lt2"/>
            </a:solidFill>
            <a:ln w="14288">
              <a:solidFill>
                <a:schemeClr val="accent6"/>
              </a:solidFill>
            </a:ln>
          </p:spPr>
        </p:sp>
        <p:sp>
          <p:nvSpPr>
            <p:cNvPr id="12" name="TextBox 12"/>
            <p:cNvSpPr txBox="1"/>
            <p:nvPr/>
          </p:nvSpPr>
          <p:spPr>
            <a:xfrm>
              <a:off x="35745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链码方法</a:t>
              </a:r>
            </a:p>
          </p:txBody>
        </p:sp>
        <p:sp>
          <p:nvSpPr>
            <p:cNvPr id="13" name="TextBox 13"/>
            <p:cNvSpPr txBox="1"/>
            <p:nvPr/>
          </p:nvSpPr>
          <p:spPr>
            <a:xfrm>
              <a:off x="3565398" y="2174558"/>
              <a:ext cx="549509" cy="616077"/>
            </a:xfrm>
            <a:prstGeom prst="rect">
              <a:avLst/>
            </a:prstGeom>
            <a:noFill/>
            <a:ln>
              <a:noFill/>
            </a:ln>
          </p:spPr>
          <p:txBody>
            <a:bodyPr wrap="none" lIns="0" tIns="0" rIns="0" bIns="0" anchor="t" anchorCtr="0">
              <a:spAutoFit/>
            </a:bodyPr>
            <a:lstStyle/>
            <a:p>
              <a:pPr algn="l"/>
              <a:r>
                <a:rPr lang="en-US" sz="3150" b="1" dirty="0">
                  <a:solidFill>
                    <a:schemeClr val="accent3"/>
                  </a:solidFill>
                  <a:latin typeface="+mj-lt"/>
                  <a:ea typeface="+mj-ea"/>
                  <a:cs typeface="+mj-cs"/>
                </a:rPr>
                <a:t>25</a:t>
              </a:r>
            </a:p>
          </p:txBody>
        </p:sp>
        <p:sp>
          <p:nvSpPr>
            <p:cNvPr id="14" name="TextBox 14"/>
            <p:cNvSpPr txBox="1"/>
            <p:nvPr/>
          </p:nvSpPr>
          <p:spPr>
            <a:xfrm>
              <a:off x="3574542" y="2711768"/>
              <a:ext cx="183108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覆盖主流程与错误路径</a:t>
              </a:r>
            </a:p>
          </p:txBody>
        </p:sp>
      </p:grpSp>
      <p:grpSp>
        <p:nvGrpSpPr>
          <p:cNvPr id="20" name="Group 20"/>
          <p:cNvGrpSpPr/>
          <p:nvPr/>
        </p:nvGrpSpPr>
        <p:grpSpPr>
          <a:xfrm>
            <a:off x="6057900" y="1695450"/>
            <a:ext cx="2381250" cy="1428750"/>
            <a:chOff x="6057900" y="1695450"/>
            <a:chExt cx="2381250" cy="1428750"/>
          </a:xfrm>
        </p:grpSpPr>
        <p:sp>
          <p:nvSpPr>
            <p:cNvPr id="16" name="Rectangle 16"/>
            <p:cNvSpPr/>
            <p:nvPr/>
          </p:nvSpPr>
          <p:spPr>
            <a:xfrm>
              <a:off x="6057900" y="1695450"/>
              <a:ext cx="2381250" cy="1428750"/>
            </a:xfrm>
            <a:prstGeom prst="roundRect">
              <a:avLst>
                <a:gd name="adj" fmla="val 4000"/>
              </a:avLst>
            </a:prstGeom>
            <a:solidFill>
              <a:schemeClr val="lt2"/>
            </a:solidFill>
            <a:ln w="14288">
              <a:solidFill>
                <a:schemeClr val="accent6"/>
              </a:solidFill>
            </a:ln>
          </p:spPr>
        </p:sp>
        <p:sp>
          <p:nvSpPr>
            <p:cNvPr id="17" name="TextBox 17"/>
            <p:cNvSpPr txBox="1"/>
            <p:nvPr/>
          </p:nvSpPr>
          <p:spPr>
            <a:xfrm>
              <a:off x="6260592" y="1873568"/>
              <a:ext cx="921029"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HTTP 路由</a:t>
              </a:r>
            </a:p>
          </p:txBody>
        </p:sp>
        <p:sp>
          <p:nvSpPr>
            <p:cNvPr id="18" name="TextBox 18"/>
            <p:cNvSpPr txBox="1"/>
            <p:nvPr/>
          </p:nvSpPr>
          <p:spPr>
            <a:xfrm>
              <a:off x="6251448" y="2174558"/>
              <a:ext cx="549509" cy="616077"/>
            </a:xfrm>
            <a:prstGeom prst="rect">
              <a:avLst/>
            </a:prstGeom>
            <a:noFill/>
            <a:ln>
              <a:noFill/>
            </a:ln>
          </p:spPr>
          <p:txBody>
            <a:bodyPr wrap="none" lIns="0" tIns="0" rIns="0" bIns="0" anchor="t" anchorCtr="0">
              <a:spAutoFit/>
            </a:bodyPr>
            <a:lstStyle/>
            <a:p>
              <a:pPr algn="l"/>
              <a:r>
                <a:rPr lang="en-US" sz="3150" b="1" dirty="0">
                  <a:solidFill>
                    <a:schemeClr val="accent2"/>
                  </a:solidFill>
                  <a:latin typeface="+mj-lt"/>
                  <a:ea typeface="+mj-ea"/>
                  <a:cs typeface="+mj-cs"/>
                </a:rPr>
                <a:t>28</a:t>
              </a:r>
            </a:p>
          </p:txBody>
        </p:sp>
        <p:sp>
          <p:nvSpPr>
            <p:cNvPr id="19" name="TextBox 19"/>
            <p:cNvSpPr txBox="1"/>
            <p:nvPr/>
          </p:nvSpPr>
          <p:spPr>
            <a:xfrm>
              <a:off x="6260592" y="2711768"/>
              <a:ext cx="149230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四角色与 VC 接口</a:t>
              </a:r>
            </a:p>
          </p:txBody>
        </p:sp>
      </p:grpSp>
      <p:grpSp>
        <p:nvGrpSpPr>
          <p:cNvPr id="25" name="Group 25"/>
          <p:cNvGrpSpPr/>
          <p:nvPr/>
        </p:nvGrpSpPr>
        <p:grpSpPr>
          <a:xfrm>
            <a:off x="8743950" y="1695450"/>
            <a:ext cx="2762250" cy="1428750"/>
            <a:chOff x="8743950" y="1695450"/>
            <a:chExt cx="2762250" cy="1428750"/>
          </a:xfrm>
        </p:grpSpPr>
        <p:sp>
          <p:nvSpPr>
            <p:cNvPr id="21" name="Rectangle 21"/>
            <p:cNvSpPr/>
            <p:nvPr/>
          </p:nvSpPr>
          <p:spPr>
            <a:xfrm>
              <a:off x="8743950" y="1695450"/>
              <a:ext cx="2762250" cy="1428750"/>
            </a:xfrm>
            <a:prstGeom prst="roundRect">
              <a:avLst>
                <a:gd name="adj" fmla="val 4000"/>
              </a:avLst>
            </a:prstGeom>
            <a:solidFill>
              <a:schemeClr val="lt2"/>
            </a:solidFill>
            <a:ln w="14288">
              <a:solidFill>
                <a:schemeClr val="accent6"/>
              </a:solidFill>
            </a:ln>
          </p:spPr>
        </p:sp>
        <p:sp>
          <p:nvSpPr>
            <p:cNvPr id="22" name="TextBox 22"/>
            <p:cNvSpPr txBox="1"/>
            <p:nvPr/>
          </p:nvSpPr>
          <p:spPr>
            <a:xfrm>
              <a:off x="8946642" y="1873568"/>
              <a:ext cx="777011"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基准工具</a:t>
              </a:r>
            </a:p>
          </p:txBody>
        </p:sp>
        <p:sp>
          <p:nvSpPr>
            <p:cNvPr id="23" name="TextBox 23"/>
            <p:cNvSpPr txBox="1"/>
            <p:nvPr/>
          </p:nvSpPr>
          <p:spPr>
            <a:xfrm>
              <a:off x="8937498" y="2174558"/>
              <a:ext cx="290756" cy="616077"/>
            </a:xfrm>
            <a:prstGeom prst="rect">
              <a:avLst/>
            </a:prstGeom>
            <a:noFill/>
            <a:ln>
              <a:noFill/>
            </a:ln>
          </p:spPr>
          <p:txBody>
            <a:bodyPr wrap="none" lIns="0" tIns="0" rIns="0" bIns="0" anchor="t" anchorCtr="0">
              <a:spAutoFit/>
            </a:bodyPr>
            <a:lstStyle/>
            <a:p>
              <a:pPr algn="l"/>
              <a:r>
                <a:rPr lang="en-US" sz="3150" b="1" dirty="0">
                  <a:solidFill>
                    <a:srgbClr val="D3A84B"/>
                  </a:solidFill>
                  <a:latin typeface="+mj-lt"/>
                  <a:ea typeface="+mj-ea"/>
                  <a:cs typeface="+mj-cs"/>
                </a:rPr>
                <a:t>7</a:t>
              </a:r>
            </a:p>
          </p:txBody>
        </p:sp>
        <p:sp>
          <p:nvSpPr>
            <p:cNvPr id="24" name="TextBox 24"/>
            <p:cNvSpPr txBox="1"/>
            <p:nvPr/>
          </p:nvSpPr>
          <p:spPr>
            <a:xfrm>
              <a:off x="8946642" y="2711768"/>
              <a:ext cx="146761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mn-lt"/>
                  <a:ea typeface="+mn-ea"/>
                  <a:cs typeface="+mn-cs"/>
                </a:rPr>
                <a:t>负载、恢复与审计</a:t>
              </a:r>
            </a:p>
          </p:txBody>
        </p:sp>
      </p:grpSp>
      <p:grpSp>
        <p:nvGrpSpPr>
          <p:cNvPr id="37" name="Group 37"/>
          <p:cNvGrpSpPr/>
          <p:nvPr/>
        </p:nvGrpSpPr>
        <p:grpSpPr>
          <a:xfrm>
            <a:off x="685800" y="3476625"/>
            <a:ext cx="10820400" cy="2095500"/>
            <a:chOff x="685800" y="3476625"/>
            <a:chExt cx="10820400" cy="2095500"/>
          </a:xfrm>
        </p:grpSpPr>
        <p:sp>
          <p:nvSpPr>
            <p:cNvPr id="26" name="Rectangle 26"/>
            <p:cNvSpPr/>
            <p:nvPr/>
          </p:nvSpPr>
          <p:spPr>
            <a:xfrm>
              <a:off x="685800" y="3476625"/>
              <a:ext cx="10820400" cy="2095500"/>
            </a:xfrm>
            <a:prstGeom prst="roundRect">
              <a:avLst>
                <a:gd name="adj" fmla="val 2727"/>
              </a:avLst>
            </a:prstGeom>
            <a:solidFill>
              <a:schemeClr val="lt2"/>
            </a:solidFill>
            <a:ln w="14288">
              <a:solidFill>
                <a:schemeClr val="accent6"/>
              </a:solidFill>
            </a:ln>
          </p:spPr>
        </p:sp>
        <p:sp>
          <p:nvSpPr>
            <p:cNvPr id="27" name="TextBox 27"/>
            <p:cNvSpPr txBox="1"/>
            <p:nvPr/>
          </p:nvSpPr>
          <p:spPr>
            <a:xfrm>
              <a:off x="941070" y="3643312"/>
              <a:ext cx="3181655"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贡献分配（总计 10）</a:t>
              </a:r>
            </a:p>
          </p:txBody>
        </p:sp>
        <p:sp>
          <p:nvSpPr>
            <p:cNvPr id="28" name="TextBox 28"/>
            <p:cNvSpPr txBox="1"/>
            <p:nvPr/>
          </p:nvSpPr>
          <p:spPr>
            <a:xfrm>
              <a:off x="944118" y="4193858"/>
              <a:ext cx="1451123"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魏子安 · 组长</a:t>
              </a:r>
            </a:p>
          </p:txBody>
        </p:sp>
        <p:sp>
          <p:nvSpPr>
            <p:cNvPr id="29" name="Rectangle 29"/>
            <p:cNvSpPr/>
            <p:nvPr/>
          </p:nvSpPr>
          <p:spPr>
            <a:xfrm>
              <a:off x="2781300" y="4162425"/>
              <a:ext cx="4953000" cy="266700"/>
            </a:xfrm>
            <a:prstGeom prst="rect">
              <a:avLst/>
            </a:prstGeom>
            <a:solidFill>
              <a:schemeClr val="accent1"/>
            </a:solidFill>
            <a:ln>
              <a:noFill/>
            </a:ln>
          </p:spPr>
        </p:sp>
        <p:sp>
          <p:nvSpPr>
            <p:cNvPr id="30" name="TextBox 30"/>
            <p:cNvSpPr txBox="1"/>
            <p:nvPr/>
          </p:nvSpPr>
          <p:spPr>
            <a:xfrm>
              <a:off x="7932420" y="4129088"/>
              <a:ext cx="20768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4</a:t>
              </a:r>
            </a:p>
          </p:txBody>
        </p:sp>
        <p:sp>
          <p:nvSpPr>
            <p:cNvPr id="31" name="TextBox 31"/>
            <p:cNvSpPr txBox="1"/>
            <p:nvPr/>
          </p:nvSpPr>
          <p:spPr>
            <a:xfrm>
              <a:off x="944118" y="4641532"/>
              <a:ext cx="2173034"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强璞 · PR #2（VC）</a:t>
              </a:r>
            </a:p>
          </p:txBody>
        </p:sp>
        <p:sp>
          <p:nvSpPr>
            <p:cNvPr id="32" name="Rectangle 32"/>
            <p:cNvSpPr/>
            <p:nvPr/>
          </p:nvSpPr>
          <p:spPr>
            <a:xfrm>
              <a:off x="2781300" y="4610100"/>
              <a:ext cx="3714750" cy="266700"/>
            </a:xfrm>
            <a:prstGeom prst="rect">
              <a:avLst/>
            </a:prstGeom>
            <a:solidFill>
              <a:schemeClr val="accent3"/>
            </a:solidFill>
            <a:ln>
              <a:noFill/>
            </a:ln>
          </p:spPr>
        </p:sp>
        <p:sp>
          <p:nvSpPr>
            <p:cNvPr id="33" name="TextBox 33"/>
            <p:cNvSpPr txBox="1"/>
            <p:nvPr/>
          </p:nvSpPr>
          <p:spPr>
            <a:xfrm>
              <a:off x="6694170" y="4576762"/>
              <a:ext cx="207683"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mj-lt"/>
                  <a:ea typeface="+mj-ea"/>
                  <a:cs typeface="+mj-cs"/>
                </a:rPr>
                <a:t>3</a:t>
              </a:r>
            </a:p>
          </p:txBody>
        </p:sp>
        <p:sp>
          <p:nvSpPr>
            <p:cNvPr id="34" name="TextBox 34"/>
            <p:cNvSpPr txBox="1"/>
            <p:nvPr/>
          </p:nvSpPr>
          <p:spPr>
            <a:xfrm>
              <a:off x="944118" y="5089208"/>
              <a:ext cx="2394821" cy="322707"/>
            </a:xfrm>
            <a:prstGeom prst="rect">
              <a:avLst/>
            </a:prstGeom>
            <a:noFill/>
            <a:ln>
              <a:noFill/>
            </a:ln>
          </p:spPr>
          <p:txBody>
            <a:bodyPr wrap="none" lIns="0" tIns="0" rIns="0" bIns="0" anchor="t" anchorCtr="0">
              <a:spAutoFit/>
            </a:bodyPr>
            <a:lstStyle/>
            <a:p>
              <a:pPr algn="l"/>
              <a:r>
                <a:rPr lang="zh-CN" sz="1650" b="1" dirty="0">
                  <a:solidFill>
                    <a:schemeClr val="dk1"/>
                  </a:solidFill>
                  <a:latin typeface="+mn-lt"/>
                  <a:ea typeface="+mn-ea"/>
                  <a:cs typeface="+mn-cs"/>
                </a:rPr>
                <a:t>阳震 · PR #1（基准）</a:t>
              </a:r>
            </a:p>
          </p:txBody>
        </p:sp>
        <p:sp>
          <p:nvSpPr>
            <p:cNvPr id="35" name="Rectangle 35"/>
            <p:cNvSpPr/>
            <p:nvPr/>
          </p:nvSpPr>
          <p:spPr>
            <a:xfrm>
              <a:off x="2781300" y="5057775"/>
              <a:ext cx="3714750" cy="266700"/>
            </a:xfrm>
            <a:prstGeom prst="rect">
              <a:avLst/>
            </a:prstGeom>
            <a:solidFill>
              <a:schemeClr val="accent2"/>
            </a:solidFill>
            <a:ln>
              <a:noFill/>
            </a:ln>
          </p:spPr>
        </p:sp>
        <p:sp>
          <p:nvSpPr>
            <p:cNvPr id="36" name="TextBox 36"/>
            <p:cNvSpPr txBox="1"/>
            <p:nvPr/>
          </p:nvSpPr>
          <p:spPr>
            <a:xfrm>
              <a:off x="6694170" y="5024438"/>
              <a:ext cx="207683"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mj-lt"/>
                  <a:ea typeface="+mj-ea"/>
                  <a:cs typeface="+mj-cs"/>
                </a:rPr>
                <a:t>3</a:t>
              </a:r>
            </a:p>
          </p:txBody>
        </p:sp>
      </p:grpSp>
      <p:grpSp>
        <p:nvGrpSpPr>
          <p:cNvPr id="40" name="Group 40"/>
          <p:cNvGrpSpPr/>
          <p:nvPr/>
        </p:nvGrpSpPr>
        <p:grpSpPr>
          <a:xfrm>
            <a:off x="678942" y="6407468"/>
            <a:ext cx="10643616" cy="264033"/>
            <a:chOff x="678942" y="6407468"/>
            <a:chExt cx="10643616" cy="264033"/>
          </a:xfrm>
        </p:grpSpPr>
        <p:sp>
          <p:nvSpPr>
            <p:cNvPr id="38" name="TextBox 38"/>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39" name="TextBox 39"/>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24</a:t>
              </a:r>
            </a:p>
          </p:txBody>
        </p:sp>
      </p:grpSp>
    </p:spTree>
  </p:cSld>
  <p:clrMapOvr>
    <a:masterClrMapping/>
  </p:clrMapOvr>
  <p:transition xmlns:p14="http://schemas.microsoft.com/office/powerpoint/2010/main" p14:dur="400">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2161024"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LIMITS &amp; ROADMAP · 25</a:t>
              </a:r>
            </a:p>
          </p:txBody>
        </p:sp>
        <p:sp>
          <p:nvSpPr>
            <p:cNvPr id="3" name="TextBox 3"/>
            <p:cNvSpPr txBox="1"/>
            <p:nvPr/>
          </p:nvSpPr>
          <p:spPr>
            <a:xfrm>
              <a:off x="666750" y="738188"/>
              <a:ext cx="6758940"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优势、限制与下一阶段路线</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10" name="Group 10"/>
          <p:cNvGrpSpPr/>
          <p:nvPr/>
        </p:nvGrpSpPr>
        <p:grpSpPr>
          <a:xfrm>
            <a:off x="685800" y="1695450"/>
            <a:ext cx="3333750" cy="3429000"/>
            <a:chOff x="685800" y="1695450"/>
            <a:chExt cx="3333750" cy="3429000"/>
          </a:xfrm>
        </p:grpSpPr>
        <p:sp>
          <p:nvSpPr>
            <p:cNvPr id="6" name="Rectangle 6"/>
            <p:cNvSpPr/>
            <p:nvPr/>
          </p:nvSpPr>
          <p:spPr>
            <a:xfrm>
              <a:off x="685800" y="1695450"/>
              <a:ext cx="3333750" cy="3429000"/>
            </a:xfrm>
            <a:prstGeom prst="roundRect">
              <a:avLst>
                <a:gd name="adj" fmla="val 1714"/>
              </a:avLst>
            </a:prstGeom>
            <a:solidFill>
              <a:schemeClr val="lt2"/>
            </a:solidFill>
            <a:ln w="14288">
              <a:solidFill>
                <a:schemeClr val="accent6"/>
              </a:solidFill>
            </a:ln>
          </p:spPr>
        </p:sp>
        <p:sp>
          <p:nvSpPr>
            <p:cNvPr id="7" name="Rectangle 7"/>
            <p:cNvSpPr/>
            <p:nvPr/>
          </p:nvSpPr>
          <p:spPr>
            <a:xfrm>
              <a:off x="685800" y="1695450"/>
              <a:ext cx="76200" cy="3429000"/>
            </a:xfrm>
            <a:prstGeom prst="roundRect">
              <a:avLst>
                <a:gd name="adj" fmla="val 50000"/>
              </a:avLst>
            </a:prstGeom>
            <a:solidFill>
              <a:schemeClr val="accent3"/>
            </a:solidFill>
            <a:ln>
              <a:noFill/>
            </a:ln>
          </p:spPr>
        </p:sp>
        <p:sp>
          <p:nvSpPr>
            <p:cNvPr id="8" name="TextBox 8"/>
            <p:cNvSpPr txBox="1"/>
            <p:nvPr/>
          </p:nvSpPr>
          <p:spPr>
            <a:xfrm>
              <a:off x="94107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3"/>
                  </a:solidFill>
                  <a:latin typeface="+mj-lt"/>
                  <a:ea typeface="+mj-ea"/>
                  <a:cs typeface="+mj-cs"/>
                </a:rPr>
                <a:t>已经做到</a:t>
              </a:r>
            </a:p>
          </p:txBody>
        </p:sp>
        <p:sp>
          <p:nvSpPr>
            <p:cNvPr id="9" name="TextBox 9"/>
            <p:cNvSpPr txBox="1"/>
            <p:nvPr/>
          </p:nvSpPr>
          <p:spPr>
            <a:xfrm>
              <a:off x="944118" y="2317432"/>
              <a:ext cx="2321814" cy="12371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单项目贯穿课程与竞赛链上状态、私有明细闭环修订历史完整保留VC、基准、恢复可复现</a:t>
              </a:r>
            </a:p>
          </p:txBody>
        </p:sp>
      </p:grpSp>
      <p:grpSp>
        <p:nvGrpSpPr>
          <p:cNvPr id="15" name="Group 15"/>
          <p:cNvGrpSpPr/>
          <p:nvPr/>
        </p:nvGrpSpPr>
        <p:grpSpPr>
          <a:xfrm>
            <a:off x="4429125" y="1695450"/>
            <a:ext cx="3333750" cy="3429000"/>
            <a:chOff x="4429125" y="1695450"/>
            <a:chExt cx="3333750" cy="3429000"/>
          </a:xfrm>
        </p:grpSpPr>
        <p:sp>
          <p:nvSpPr>
            <p:cNvPr id="11" name="Rectangle 11"/>
            <p:cNvSpPr/>
            <p:nvPr/>
          </p:nvSpPr>
          <p:spPr>
            <a:xfrm>
              <a:off x="4429125" y="1695450"/>
              <a:ext cx="3333750" cy="3429000"/>
            </a:xfrm>
            <a:prstGeom prst="roundRect">
              <a:avLst>
                <a:gd name="adj" fmla="val 1714"/>
              </a:avLst>
            </a:prstGeom>
            <a:solidFill>
              <a:schemeClr val="lt2"/>
            </a:solidFill>
            <a:ln w="14288">
              <a:solidFill>
                <a:schemeClr val="accent6"/>
              </a:solidFill>
            </a:ln>
          </p:spPr>
        </p:sp>
        <p:sp>
          <p:nvSpPr>
            <p:cNvPr id="12" name="Rectangle 12"/>
            <p:cNvSpPr/>
            <p:nvPr/>
          </p:nvSpPr>
          <p:spPr>
            <a:xfrm>
              <a:off x="4429125" y="1695450"/>
              <a:ext cx="76200" cy="3429000"/>
            </a:xfrm>
            <a:prstGeom prst="roundRect">
              <a:avLst>
                <a:gd name="adj" fmla="val 50000"/>
              </a:avLst>
            </a:prstGeom>
            <a:solidFill>
              <a:schemeClr val="accent2"/>
            </a:solidFill>
            <a:ln>
              <a:noFill/>
            </a:ln>
          </p:spPr>
        </p:sp>
        <p:sp>
          <p:nvSpPr>
            <p:cNvPr id="13" name="TextBox 13"/>
            <p:cNvSpPr txBox="1"/>
            <p:nvPr/>
          </p:nvSpPr>
          <p:spPr>
            <a:xfrm>
              <a:off x="4684395"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2"/>
                  </a:solidFill>
                  <a:latin typeface="+mj-lt"/>
                  <a:ea typeface="+mj-ea"/>
                  <a:cs typeface="+mj-cs"/>
                </a:rPr>
                <a:t>当前限制</a:t>
              </a:r>
            </a:p>
          </p:txBody>
        </p:sp>
        <p:sp>
          <p:nvSpPr>
            <p:cNvPr id="14" name="TextBox 14"/>
            <p:cNvSpPr txBox="1"/>
            <p:nvPr/>
          </p:nvSpPr>
          <p:spPr>
            <a:xfrm>
              <a:off x="4687443" y="231743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选择性披露仍为字段裁剪单 Orderer 不是高可用学术身份是演示级映射</a:t>
              </a:r>
            </a:p>
          </p:txBody>
        </p:sp>
      </p:grpSp>
      <p:grpSp>
        <p:nvGrpSpPr>
          <p:cNvPr id="20" name="Group 20"/>
          <p:cNvGrpSpPr/>
          <p:nvPr/>
        </p:nvGrpSpPr>
        <p:grpSpPr>
          <a:xfrm>
            <a:off x="8172450" y="1695450"/>
            <a:ext cx="3333750" cy="3429000"/>
            <a:chOff x="8172450" y="1695450"/>
            <a:chExt cx="3333750" cy="3429000"/>
          </a:xfrm>
        </p:grpSpPr>
        <p:sp>
          <p:nvSpPr>
            <p:cNvPr id="16" name="Rectangle 16"/>
            <p:cNvSpPr/>
            <p:nvPr/>
          </p:nvSpPr>
          <p:spPr>
            <a:xfrm>
              <a:off x="8172450" y="1695450"/>
              <a:ext cx="3333750" cy="3429000"/>
            </a:xfrm>
            <a:prstGeom prst="roundRect">
              <a:avLst>
                <a:gd name="adj" fmla="val 1714"/>
              </a:avLst>
            </a:prstGeom>
            <a:solidFill>
              <a:schemeClr val="lt2"/>
            </a:solidFill>
            <a:ln w="14288">
              <a:solidFill>
                <a:schemeClr val="accent6"/>
              </a:solidFill>
            </a:ln>
          </p:spPr>
        </p:sp>
        <p:sp>
          <p:nvSpPr>
            <p:cNvPr id="17" name="Rectangle 17"/>
            <p:cNvSpPr/>
            <p:nvPr/>
          </p:nvSpPr>
          <p:spPr>
            <a:xfrm>
              <a:off x="8172450" y="1695450"/>
              <a:ext cx="76200" cy="3429000"/>
            </a:xfrm>
            <a:prstGeom prst="roundRect">
              <a:avLst>
                <a:gd name="adj" fmla="val 50000"/>
              </a:avLst>
            </a:prstGeom>
            <a:solidFill>
              <a:schemeClr val="accent1"/>
            </a:solidFill>
            <a:ln>
              <a:noFill/>
            </a:ln>
          </p:spPr>
        </p:sp>
        <p:sp>
          <p:nvSpPr>
            <p:cNvPr id="18" name="TextBox 18"/>
            <p:cNvSpPr txBox="1"/>
            <p:nvPr/>
          </p:nvSpPr>
          <p:spPr>
            <a:xfrm>
              <a:off x="8427720" y="1852612"/>
              <a:ext cx="1367028"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j-lt"/>
                  <a:ea typeface="+mj-ea"/>
                  <a:cs typeface="+mj-cs"/>
                </a:rPr>
                <a:t>下一阶段</a:t>
              </a:r>
            </a:p>
          </p:txBody>
        </p:sp>
        <p:sp>
          <p:nvSpPr>
            <p:cNvPr id="19" name="TextBox 19"/>
            <p:cNvSpPr txBox="1"/>
            <p:nvPr/>
          </p:nvSpPr>
          <p:spPr>
            <a:xfrm>
              <a:off x="8430768" y="2317432"/>
              <a:ext cx="2321814" cy="932307"/>
            </a:xfrm>
            <a:prstGeom prst="rect">
              <a:avLst/>
            </a:prstGeom>
            <a:noFill/>
            <a:ln>
              <a:noFill/>
            </a:ln>
          </p:spPr>
          <p:txBody>
            <a:bodyPr wrap="square" lIns="0" tIns="0" rIns="0" bIns="0" anchor="t" anchorCtr="0"/>
            <a:lstStyle/>
            <a:p>
              <a:pPr algn="l">
                <a:lnSpc>
                  <a:spcPts val="2400"/>
                </a:lnSpc>
              </a:pPr>
              <a:r>
                <a:rPr lang="zh-CN" sz="1650" dirty="0">
                  <a:solidFill>
                    <a:schemeClr val="dk1"/>
                  </a:solidFill>
                  <a:latin typeface="+mn-lt"/>
                  <a:ea typeface="+mn-ea"/>
                  <a:cs typeface="+mn-cs"/>
                </a:rPr>
                <a:t>BBS+ / 零知识披露3 Orderer Raft 集群真实校园身份与撤销列表</a:t>
              </a:r>
            </a:p>
          </p:txBody>
        </p:sp>
      </p:grpSp>
      <p:grpSp>
        <p:nvGrpSpPr>
          <p:cNvPr id="23" name="Group 23"/>
          <p:cNvGrpSpPr/>
          <p:nvPr/>
        </p:nvGrpSpPr>
        <p:grpSpPr>
          <a:xfrm>
            <a:off x="1428750" y="5314950"/>
            <a:ext cx="9334500" cy="625793"/>
            <a:chOff x="1428750" y="5314950"/>
            <a:chExt cx="9334500" cy="625793"/>
          </a:xfrm>
        </p:grpSpPr>
        <p:sp>
          <p:nvSpPr>
            <p:cNvPr id="21" name="Rectangle 21"/>
            <p:cNvSpPr/>
            <p:nvPr/>
          </p:nvSpPr>
          <p:spPr>
            <a:xfrm>
              <a:off x="1428750" y="5314950"/>
              <a:ext cx="9334500" cy="590550"/>
            </a:xfrm>
            <a:prstGeom prst="roundRect">
              <a:avLst>
                <a:gd name="adj" fmla="val 12903"/>
              </a:avLst>
            </a:prstGeom>
            <a:solidFill>
              <a:schemeClr val="accent1"/>
            </a:solidFill>
            <a:ln>
              <a:noFill/>
            </a:ln>
          </p:spPr>
        </p:sp>
        <p:sp>
          <p:nvSpPr>
            <p:cNvPr id="22" name="TextBox 22"/>
            <p:cNvSpPr txBox="1"/>
            <p:nvPr/>
          </p:nvSpPr>
          <p:spPr>
            <a:xfrm>
              <a:off x="1684020" y="5500688"/>
              <a:ext cx="4391406" cy="440055"/>
            </a:xfrm>
            <a:prstGeom prst="rect">
              <a:avLst/>
            </a:prstGeom>
            <a:noFill/>
            <a:ln>
              <a:noFill/>
            </a:ln>
          </p:spPr>
          <p:txBody>
            <a:bodyPr wrap="none" lIns="0" tIns="0" rIns="0" bIns="0" anchor="t" anchorCtr="0">
              <a:spAutoFit/>
            </a:bodyPr>
            <a:lstStyle/>
            <a:p>
              <a:pPr algn="l"/>
              <a:r>
                <a:rPr lang="zh-CN" sz="2250" b="1" dirty="0">
                  <a:solidFill>
                    <a:srgbClr val="FFFFFF"/>
                  </a:solidFill>
                  <a:latin typeface="+mj-lt"/>
                  <a:ea typeface="+mj-ea"/>
                  <a:cs typeface="+mj-cs"/>
                </a:rPr>
                <a:t>缺点可定位，下一步可验证。</a:t>
              </a:r>
            </a:p>
          </p:txBody>
        </p:sp>
      </p:grpSp>
      <p:grpSp>
        <p:nvGrpSpPr>
          <p:cNvPr id="26" name="Group 26"/>
          <p:cNvGrpSpPr/>
          <p:nvPr/>
        </p:nvGrpSpPr>
        <p:grpSpPr>
          <a:xfrm>
            <a:off x="678942" y="6407468"/>
            <a:ext cx="10643616" cy="264033"/>
            <a:chOff x="678942" y="6407468"/>
            <a:chExt cx="10643616" cy="264033"/>
          </a:xfrm>
        </p:grpSpPr>
        <p:sp>
          <p:nvSpPr>
            <p:cNvPr id="24" name="TextBox 24"/>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25" name="TextBox 25"/>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25</a:t>
              </a:r>
            </a:p>
          </p:txBody>
        </p:sp>
      </p:grpSp>
    </p:spTree>
  </p:cSld>
  <p:clrMapOvr>
    <a:masterClrMapping/>
  </p:clrMapOvr>
  <p:transition xmlns:p14="http://schemas.microsoft.com/office/powerpoint/2010/main" p14:dur="400">
    <p:fade/>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Group 5"/>
          <p:cNvGrpSpPr/>
          <p:nvPr/>
        </p:nvGrpSpPr>
        <p:grpSpPr>
          <a:xfrm>
            <a:off x="666750" y="463868"/>
            <a:ext cx="10839450" cy="1007745"/>
            <a:chOff x="666750" y="463868"/>
            <a:chExt cx="10839450" cy="1007745"/>
          </a:xfrm>
        </p:grpSpPr>
        <p:sp>
          <p:nvSpPr>
            <p:cNvPr id="2" name="TextBox 2"/>
            <p:cNvSpPr txBox="1"/>
            <p:nvPr/>
          </p:nvSpPr>
          <p:spPr>
            <a:xfrm>
              <a:off x="678942" y="463868"/>
              <a:ext cx="160655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CONCLUSION · 26</a:t>
              </a:r>
            </a:p>
          </p:txBody>
        </p:sp>
        <p:sp>
          <p:nvSpPr>
            <p:cNvPr id="3" name="TextBox 3"/>
            <p:cNvSpPr txBox="1"/>
            <p:nvPr/>
          </p:nvSpPr>
          <p:spPr>
            <a:xfrm>
              <a:off x="666750" y="738188"/>
              <a:ext cx="10791444" cy="733425"/>
            </a:xfrm>
            <a:prstGeom prst="rect">
              <a:avLst/>
            </a:prstGeom>
            <a:noFill/>
            <a:ln>
              <a:noFill/>
            </a:ln>
          </p:spPr>
          <p:txBody>
            <a:bodyPr wrap="none" lIns="0" tIns="0" rIns="0" bIns="0" anchor="t" anchorCtr="0">
              <a:spAutoFit/>
            </a:bodyPr>
            <a:lstStyle/>
            <a:p>
              <a:pPr algn="l"/>
              <a:r>
                <a:rPr lang="zh-CN" sz="3750" b="1" dirty="0">
                  <a:solidFill>
                    <a:schemeClr val="accent1"/>
                  </a:solidFill>
                  <a:latin typeface="+mj-lt"/>
                  <a:ea typeface="+mj-ea"/>
                  <a:cs typeface="+mj-cs"/>
                </a:rPr>
                <a:t>结论：从“能查成绩”走到“可信地解释成绩”</a:t>
              </a:r>
            </a:p>
          </p:txBody>
        </p:sp>
        <p:sp>
          <p:nvSpPr>
            <p:cNvPr id="4" name="Line 4"/>
            <p:cNvSpPr/>
            <p:nvPr/>
          </p:nvSpPr>
          <p:spPr>
            <a:xfrm>
              <a:off x="685800" y="1371600"/>
              <a:ext cx="10820400" cy="9525"/>
            </a:xfrm>
            <a:custGeom>
              <a:avLst/>
              <a:gdLst/>
              <a:ahLst/>
              <a:cxnLst/>
              <a:rect l="l" t="t" r="r" b="b"/>
              <a:pathLst>
                <a:path w="10820400" h="9525">
                  <a:moveTo>
                    <a:pt x="0" y="0"/>
                  </a:moveTo>
                  <a:lnTo>
                    <a:pt x="10820400" y="0"/>
                  </a:lnTo>
                </a:path>
              </a:pathLst>
            </a:custGeom>
            <a:noFill/>
            <a:ln w="14288">
              <a:solidFill>
                <a:schemeClr val="accent6"/>
              </a:solidFill>
            </a:ln>
          </p:spPr>
        </p:sp>
      </p:grpSp>
      <p:grpSp>
        <p:nvGrpSpPr>
          <p:cNvPr id="8" name="Group 8"/>
          <p:cNvGrpSpPr/>
          <p:nvPr/>
        </p:nvGrpSpPr>
        <p:grpSpPr>
          <a:xfrm>
            <a:off x="685800" y="1695450"/>
            <a:ext cx="10820400" cy="3000375"/>
            <a:chOff x="685800" y="1695450"/>
            <a:chExt cx="10820400" cy="3000375"/>
          </a:xfrm>
        </p:grpSpPr>
        <p:sp>
          <p:nvSpPr>
            <p:cNvPr id="6" name="Rectangle 6"/>
            <p:cNvSpPr/>
            <p:nvPr/>
          </p:nvSpPr>
          <p:spPr>
            <a:xfrm>
              <a:off x="685800" y="1695450"/>
              <a:ext cx="10820400" cy="3000375"/>
            </a:xfrm>
            <a:prstGeom prst="roundRect">
              <a:avLst>
                <a:gd name="adj" fmla="val 2540"/>
              </a:avLst>
            </a:prstGeom>
            <a:solidFill>
              <a:schemeClr val="lt2"/>
            </a:solidFill>
            <a:ln w="9525">
              <a:solidFill>
                <a:schemeClr val="accent6"/>
              </a:solidFill>
            </a:ln>
          </p:spPr>
        </p:sp>
        <p:pic>
          <p:nvPicPr>
            <p:cNvPr id="7" name="Image 7"/>
            <p:cNvPicPr>
              <a:picLocks noChangeAspect="1"/>
            </p:cNvPicPr>
            <p:nvPr/>
          </p:nvPicPr>
          <p:blipFill>
            <a:blip r:embed="rId2"/>
            <a:srcRect l="0" t="26051" r="0" b="26051"/>
            <a:stretch>
              <a:fillRect/>
            </a:stretch>
          </p:blipFill>
          <p:spPr>
            <a:xfrm>
              <a:off x="742950" y="1752600"/>
              <a:ext cx="10706100" cy="2886075"/>
            </a:xfrm>
            <a:prstGeom prst="rect">
              <a:avLst/>
            </a:prstGeom>
          </p:spPr>
        </p:pic>
      </p:grpSp>
      <p:grpSp>
        <p:nvGrpSpPr>
          <p:cNvPr id="11" name="Group 11"/>
          <p:cNvGrpSpPr/>
          <p:nvPr/>
        </p:nvGrpSpPr>
        <p:grpSpPr>
          <a:xfrm>
            <a:off x="1790700" y="4905375"/>
            <a:ext cx="8610600" cy="987742"/>
            <a:chOff x="1790700" y="4905375"/>
            <a:chExt cx="8610600" cy="987742"/>
          </a:xfrm>
        </p:grpSpPr>
        <p:sp>
          <p:nvSpPr>
            <p:cNvPr id="9" name="Rectangle 9"/>
            <p:cNvSpPr/>
            <p:nvPr/>
          </p:nvSpPr>
          <p:spPr>
            <a:xfrm>
              <a:off x="1790700" y="4905375"/>
              <a:ext cx="8610600" cy="904875"/>
            </a:xfrm>
            <a:prstGeom prst="roundRect">
              <a:avLst>
                <a:gd name="adj" fmla="val 8421"/>
              </a:avLst>
            </a:prstGeom>
            <a:solidFill>
              <a:schemeClr val="accent1"/>
            </a:solidFill>
            <a:ln>
              <a:noFill/>
            </a:ln>
          </p:spPr>
        </p:sp>
        <p:sp>
          <p:nvSpPr>
            <p:cNvPr id="10" name="TextBox 10"/>
            <p:cNvSpPr txBox="1"/>
            <p:nvPr/>
          </p:nvSpPr>
          <p:spPr>
            <a:xfrm>
              <a:off x="2045970" y="5091112"/>
              <a:ext cx="6023610" cy="802005"/>
            </a:xfrm>
            <a:prstGeom prst="rect">
              <a:avLst/>
            </a:prstGeom>
            <a:noFill/>
            <a:ln>
              <a:noFill/>
            </a:ln>
          </p:spPr>
          <p:txBody>
            <a:bodyPr wrap="square" lIns="0" tIns="0" rIns="0" bIns="0" anchor="t" anchorCtr="0"/>
            <a:lstStyle/>
            <a:p>
              <a:pPr algn="l">
                <a:lnSpc>
                  <a:spcPts val="2850"/>
                </a:lnSpc>
              </a:pPr>
              <a:r>
                <a:rPr lang="zh-CN" sz="2250" b="1" dirty="0">
                  <a:solidFill>
                    <a:srgbClr val="FFFFFF"/>
                  </a:solidFill>
                  <a:latin typeface="+mj-lt"/>
                  <a:ea typeface="+mj-ea"/>
                  <a:cs typeface="+mj-cs"/>
                </a:rPr>
                <a:t>同一项目完成了存证、隐私、修订、互操作、性能与恢复的连续证据链。</a:t>
              </a:r>
            </a:p>
          </p:txBody>
        </p:sp>
      </p:grpSp>
      <p:grpSp>
        <p:nvGrpSpPr>
          <p:cNvPr id="13" name="Group 13"/>
          <p:cNvGrpSpPr/>
          <p:nvPr/>
        </p:nvGrpSpPr>
        <p:grpSpPr>
          <a:xfrm>
            <a:off x="5020595" y="5975032"/>
            <a:ext cx="2150811" cy="322707"/>
            <a:chOff x="5020595" y="5975032"/>
            <a:chExt cx="2150811" cy="322707"/>
          </a:xfrm>
        </p:grpSpPr>
        <p:sp>
          <p:nvSpPr>
            <p:cNvPr id="12" name="TextBox 12"/>
            <p:cNvSpPr txBox="1"/>
            <p:nvPr/>
          </p:nvSpPr>
          <p:spPr>
            <a:xfrm>
              <a:off x="5020595" y="5975032"/>
              <a:ext cx="2150811" cy="322707"/>
            </a:xfrm>
            <a:prstGeom prst="rect">
              <a:avLst/>
            </a:prstGeom>
            <a:noFill/>
            <a:ln>
              <a:noFill/>
            </a:ln>
          </p:spPr>
          <p:txBody>
            <a:bodyPr wrap="none" lIns="0" tIns="0" rIns="0" bIns="0" anchor="t" anchorCtr="0">
              <a:spAutoFit/>
            </a:bodyPr>
            <a:lstStyle/>
            <a:p>
              <a:pPr algn="ctr"/>
              <a:r>
                <a:rPr lang="zh-CN" sz="1650" b="1" dirty="0">
                  <a:solidFill>
                    <a:schemeClr val="accent3"/>
                  </a:solidFill>
                  <a:latin typeface="+mn-lt"/>
                  <a:ea typeface="+mn-ea"/>
                  <a:cs typeface="+mn-cs"/>
                </a:rPr>
                <a:t>谢谢老师 · 欢迎提问</a:t>
              </a:r>
            </a:p>
          </p:txBody>
        </p:sp>
      </p:grpSp>
      <p:grpSp>
        <p:nvGrpSpPr>
          <p:cNvPr id="16" name="Group 16"/>
          <p:cNvGrpSpPr/>
          <p:nvPr/>
        </p:nvGrpSpPr>
        <p:grpSpPr>
          <a:xfrm>
            <a:off x="678942" y="6407468"/>
            <a:ext cx="10643616" cy="264033"/>
            <a:chOff x="678942" y="6407468"/>
            <a:chExt cx="10643616" cy="264033"/>
          </a:xfrm>
        </p:grpSpPr>
        <p:sp>
          <p:nvSpPr>
            <p:cNvPr id="14" name="TextBox 14"/>
            <p:cNvSpPr txBox="1"/>
            <p:nvPr/>
          </p:nvSpPr>
          <p:spPr>
            <a:xfrm>
              <a:off x="678942" y="6407468"/>
              <a:ext cx="266035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ChainGrade · 区块链课程大作业</a:t>
              </a:r>
            </a:p>
          </p:txBody>
        </p:sp>
        <p:sp>
          <p:nvSpPr>
            <p:cNvPr id="15" name="TextBox 15"/>
            <p:cNvSpPr txBox="1"/>
            <p:nvPr/>
          </p:nvSpPr>
          <p:spPr>
            <a:xfrm>
              <a:off x="11097616" y="6407468"/>
              <a:ext cx="224942" cy="264033"/>
            </a:xfrm>
            <a:prstGeom prst="rect">
              <a:avLst/>
            </a:prstGeom>
            <a:noFill/>
            <a:ln>
              <a:noFill/>
            </a:ln>
          </p:spPr>
          <p:txBody>
            <a:bodyPr wrap="none" lIns="0" tIns="0" rIns="0" bIns="0" anchor="t" anchorCtr="0">
              <a:spAutoFit/>
            </a:bodyPr>
            <a:lstStyle/>
            <a:p>
              <a:pPr algn="r"/>
              <a:r>
                <a:rPr lang="en-US" sz="1350" dirty="0">
                  <a:solidFill>
                    <a:schemeClr val="accent1"/>
                  </a:solidFill>
                  <a:latin typeface="+mj-lt"/>
                  <a:ea typeface="+mj-ea"/>
                  <a:cs typeface="+mj-cs"/>
                </a:rPr>
                <a:t>26</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chaingrade-course-defense-v3">
  <a:themeElements>
    <a:clrScheme name="chaingrade-course-defense-v3">
      <a:dk1>
        <a:srgbClr val="17202A"/>
      </a:dk1>
      <a:lt1>
        <a:srgbClr val="F6F5F0"/>
      </a:lt1>
      <a:dk2>
        <a:srgbClr val="1F497D"/>
      </a:dk2>
      <a:lt2>
        <a:srgbClr val="FFFFFF"/>
      </a:lt2>
      <a:accent1>
        <a:srgbClr val="07448C"/>
      </a:accent1>
      <a:accent2>
        <a:srgbClr val="D86A55"/>
      </a:accent2>
      <a:accent3>
        <a:srgbClr val="2B7A78"/>
      </a:accent3>
      <a:accent4>
        <a:srgbClr val="07448C"/>
      </a:accent4>
      <a:accent5>
        <a:srgbClr val="66717C"/>
      </a:accent5>
      <a:accent6>
        <a:srgbClr val="A9BAC8"/>
      </a:accent6>
      <a:hlink>
        <a:srgbClr val="D86A55"/>
      </a:hlink>
      <a:folHlink>
        <a:srgbClr val="2B7A78"/>
      </a:folHlink>
    </a:clrScheme>
    <a:fontScheme name="chaingrade-course-defense-v3">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ingrade-course-defense-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haingrade-course-defense-v3">
  <a:themeElements>
    <a:clrScheme name="chaingrade-course-defense-v3">
      <a:dk1>
        <a:srgbClr val="17202A"/>
      </a:dk1>
      <a:lt1>
        <a:srgbClr val="F6F5F0"/>
      </a:lt1>
      <a:dk2>
        <a:srgbClr val="1F497D"/>
      </a:dk2>
      <a:lt2>
        <a:srgbClr val="FFFFFF"/>
      </a:lt2>
      <a:accent1>
        <a:srgbClr val="07448C"/>
      </a:accent1>
      <a:accent2>
        <a:srgbClr val="D86A55"/>
      </a:accent2>
      <a:accent3>
        <a:srgbClr val="2B7A78"/>
      </a:accent3>
      <a:accent4>
        <a:srgbClr val="07448C"/>
      </a:accent4>
      <a:accent5>
        <a:srgbClr val="66717C"/>
      </a:accent5>
      <a:accent6>
        <a:srgbClr val="A9BAC8"/>
      </a:accent6>
      <a:hlink>
        <a:srgbClr val="D86A55"/>
      </a:hlink>
      <a:folHlink>
        <a:srgbClr val="2B7A78"/>
      </a:folHlink>
    </a:clrScheme>
    <a:fontScheme name="chaingrade-course-defense-v3">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ingrade-course-defense-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26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2026-09-08T07:46:12Z</dcterms:created>
  <dcterms:modified xsi:type="dcterms:W3CDTF">2026-09-08T07:46:12Z</dcterms:modified>
  <cp:category/>
  <cp:contentStatus/>
</cp:coreProperties>
</file>