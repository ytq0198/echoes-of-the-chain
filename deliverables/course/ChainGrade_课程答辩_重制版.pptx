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  <Relationship Id="rId32" Type="http://schemas.openxmlformats.org/officeDocument/2006/relationships/notesMaster" Target="notesMasters/notesMaster1.xml"/>
</Relationships>
</file>

<file path=ppt/notesMasters/_rels/notes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2.xml"/>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en-US"/>
    </a:lvl1pPr>
  </p:notesStyle>
</p:notesMaster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_rels/notesSlide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.xml"/>
</Relationships>
</file>

<file path=ppt/notesSlides/_rels/notesSlide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.xml"/>
</Relationships>
</file>

<file path=ppt/notesSlides/_rels/notesSlide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.xml"/>
</Relationships>
</file>

<file path=ppt/notesSlides/_rels/notesSlide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6.xml"/>
</Relationships>
</file>

<file path=ppt/notesSlides/_rels/notesSlide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7.xml"/>
</Relationships>
</file>

<file path=ppt/notesSlides/_rels/notesSlide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8.xml"/>
</Relationships>
</file>

<file path=ppt/notesSlides/_rels/notesSlide9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9.xml"/>
</Relationships>
</file>

<file path=ppt/notesSlides/_rels/notesSlide10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0.xml"/>
</Relationships>
</file>

<file path=ppt/notesSlides/_rels/notesSlide1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1.xml"/>
</Relationships>
</file>

<file path=ppt/notesSlides/_rels/notesSlide1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2.xml"/>
</Relationships>
</file>

<file path=ppt/notesSlides/_rels/notesSlide1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3.xml"/>
</Relationships>
</file>

<file path=ppt/notesSlides/_rels/notesSlide1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4.xml"/>
</Relationships>
</file>

<file path=ppt/notesSlides/_rels/notesSlide1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5.xml"/>
</Relationships>
</file>

<file path=ppt/notesSlides/_rels/notesSlide1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6.xml"/>
</Relationships>
</file>

<file path=ppt/notesSlides/_rels/notesSlide1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7.xml"/>
</Relationships>
</file>

<file path=ppt/notesSlides/_rels/notesSlide1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8.xml"/>
</Relationships>
</file>

<file path=ppt/notesSlides/_rels/notesSlide19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9.xml"/>
</Relationships>
</file>

<file path=ppt/notesSlides/_rels/notesSlide20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0.xml"/>
</Relationships>
</file>

<file path=ppt/notesSlides/_rels/notesSlide2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1.xml"/>
</Relationships>
</file>

<file path=ppt/notesSlides/_rels/notesSlide2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2.xml"/>
</Relationships>
</file>

<file path=ppt/notesSlides/_rels/notesSlide2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3.xml"/>
</Relationships>
</file>

<file path=ppt/notesSlides/_rels/notesSlide2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4.xml"/>
</Relationships>
</file>

<file path=ppt/notesSlides/_rels/notesSlide2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5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今天汇报的是 ChainGrade。我们没有把目标停在“把成绩写到链上”，而是希望一条成绩能够解释它从签发、复核到查询、纠错和验证的全过程。接下来会按问题、设计、证据和边界四部分展开。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整套汇报分为四章。第一章定义问题和原则；第二章讲系统设计；第三章用实验与原始证据验收；最后一章总结贡献、局限和后续路线。七阶段迭代只保留为能力演进背景，不再占据主体。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第一部分先回答两个问题：为什么普通成绩系统不够，为什么简单上链也不够。只有把问题边界说清楚，后面的技术选择才有依据。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课程大作业与竞赛提交始终是同一个项目。课程要求我们完成存证查询闭环；竞赛延展则要求进一步考虑隐私、互操作、性能与韧性。二者共享同一代码库、同一数据模型和同一套证据。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项目围绕三个矛盾展开。单点管理方便但可信不足；成绩需要验证，但 0 到 100 的低熵数据即使哈希也可能被枚举；区块链强调不可篡改，但现实成绩一定存在纠错需求。后续设计分别回应这三个矛盾。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四条原则约束所有实现。可验证要求身份与状态有证据；最小披露限制明文范围；可修订要求不覆盖历史；可复现要求测试、配置和原始数据能够回查。我们用这些原则判断一项功能是否真正完成。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第二部分不按七次迭代逐页回放，而是按技术问题展开：架构、数据、身份、状态、修订、批量、交互和 VC。这样可以更直接地解释设计因果。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系统分为三层。角色工作台承载真实任务；应用服务处理身份、业务接口与 VC；Fabric 网络负责链码约束、背书和账本。公共状态与私有明细从架构层就被分开，可信边界不是靠前端隐藏实现的。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七阶段仍然有价值，因为它解释能力如何增长：从存证查询开始，逐步加入身份分权、隐私、修订申诉、角色交互、标准 VC，最后完成性能与韧性验证。但后续页面按技术矛盾而不是时间顺序组织。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成绩通常只有 0 到 100 或少量等级，裸哈希并不能防止枚举。因此私有明细先按 canonical JSON 固定序列化，再加入随机盐计算 detailHash。公共账本保存承诺与状态，真实成绩和 salt 留在 Fabric 私有集合。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权限不是菜单是否显示，而是证书属性和链码入口共同执行。角色属性使用 app.role；学生证书包含 subject.hash。私有查询时，链码比较证书 subject.hash 与凭证主体哈希，避免知道凭证 ID 就能读取他人成绩。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这里有两个相互独立的状态机。成绩有待复核、有效、拒绝、撤销和被替代五种状态；申诉有打开、接受解决和拒绝解决三种状态。最重要的规则是，申诉被接受不会直接改分，教师仍需创建新版本并经过独立复核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修订通过版本链实现。旧版本不删除，只从 ACTIVE 变为 SUPERSEDED；新版本记录 previousCredentialId，并先进入待复核，批准后才成为 ACTIVE。这样既保留不可篡改历史，也明确当前有效版本。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批量签发分两层。前端预检可以逐行指出格式错误，帮助用户修正；真正上链时，CreateCredentialBatch 在一次 Fabric 交易内验证和写入整批。冲突实验返回 409，随后新 ID 仍为 404，证明没有部分提交。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这页展示真实运行界面。教师能够创建与批量导入，复核者独立审批，学生查看本人私有成绩并申诉，验证方执行公开验真。截图已经排除了带 DevTools 高亮的版本，确保页面本身就是可复现的产品证据。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VC 的签名只能证明文件没有被修改，不能证明它现在仍然有效。验证器依次检查 Schema、签发者信任、签名、状态与有效期、链上锚定。篡改、撤销、被替代和错误锚定都会失败。当前有限披露是字段级授权，不夸大为 BBS+ 或零知识证明。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第三部分进入证据。我们不再用测试数量直接代表质量，而是对每个关键主张说明机制和可观察结果，并将结果追溯到原始 benchmark、账本审计和端到端报告。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真实 benchmark 配置是七类负载、四档并发、每组重复三轮，共 84 个组合。并发档位是 1、5、10、20，不是旧 PPT 中的七档。manifest、逐轮结果和 ledger audit 都被保存，因此数字能够复查。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四个关键主张都有直接证据。不同属性证书证明职责分离；409 后新 ID 仍为 404 证明批量原子性；两 Peer 高度和哈希一致证明账本一致；VC 的五层验证与负向用例证明它不是只验签名。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性能结果说明读路径在 C20 下仍保持约 750 req/s，P95 约 38 ms。批量 50 的吞吐达到 482.549 entries/s，但 P95 接近 2.5 秒，说明批量写入的尾延迟仍是下一步优化重点。84 个合法请求单元失败为零。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故障实验回答两个问题：多久恢复，以及恢复后是否一致。Peer、CCaaS 和 Orderer 的恢复时间分别是 14.030、16.870 和 22.482 秒。双 Peer 小规模验收与完整账本审计是两个证据层级。单 Orderer 故障期间无法形成新区块，因此结论是可恢复，不是高可用。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最后一部分收束项目价值，同时如实说明边界。我们把贡献限定在工程设计与证据闭环，不把已有密码学技术包装成原创算法。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项目亮点可以概括为三点：完整的可信生命周期、适合低熵成绩数据的隐私承诺模型，以及链上状态和可携带 VC 的联合验证。团队贡献按组长四、两位组员各三分分配，总计十分。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当前有限披露仍是 bearer capability 与字段级授权，单 Orderer 也不具备高可用，校园身份仍是演示级映射。下一步分别用 BBS+ 或零知识、三节点 Raft 和真实统一身份系统推进，而且每一步都对应明确的验收条件。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dirty="0"/>
              <a:t>总结来说，ChainGrade 的重点不是保存一条成绩，而是可信解释六个问题：谁签发、谁复核、谁能看、如何纠错、如何验证，以及故障后是否仍然一致。这个项目已经完成课程闭环，也保留了继续参加竞赛的演进空间。谢谢老师，欢迎提问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chaingrade-course-defense-v4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chaingrade-course-defense-v4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1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1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2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3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4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5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6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8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image" Target="../media/image_619680c215a0cac2.jpg"/>
  <Relationship Id="rId4" Type="http://schemas.openxmlformats.org/officeDocument/2006/relationships/notesSlide" Target="../notesSlides/notesSlide9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10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11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12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13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14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image" Target="../media/image_76297a5ad1394d2c.jpg"/>
  <Relationship Id="rId4" Type="http://schemas.openxmlformats.org/officeDocument/2006/relationships/image" Target="../media/image_6dd98aa3bd1acdbb.jpg"/>
  <Relationship Id="rId5" Type="http://schemas.openxmlformats.org/officeDocument/2006/relationships/image" Target="../media/image_3b3645c3bdc44a43.jpg"/>
  <Relationship Id="rId6" Type="http://schemas.openxmlformats.org/officeDocument/2006/relationships/notesSlide" Target="../notesSlides/notesSlide15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image" Target="../media/image_9c401a961a16033c.jpg"/>
  <Relationship Id="rId4" Type="http://schemas.openxmlformats.org/officeDocument/2006/relationships/notesSlide" Target="../notesSlides/notesSlide16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1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18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19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20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21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22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23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24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00a9e12a9c005c.jpg"/>
  <Relationship Id="rId3" Type="http://schemas.openxmlformats.org/officeDocument/2006/relationships/notesSlide" Target="../notesSlides/notesSlide25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780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chemeClr val="lt1">
              <a:alpha val="90000"/>
            </a:schemeClr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97992" y="844868"/>
            <a:ext cx="3431263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dirty="0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BLOCKCHAIN COURSE PROJECT · 2026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66750" y="1698308"/>
            <a:ext cx="5066969" cy="1190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6150" b="1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ChainGrade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10946" y="2620328"/>
            <a:ext cx="4215232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b="1" dirty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可信成绩全生命周期系统</a:t>
            </a:r>
          </a:p>
        </p:txBody>
      </p:sp>
      <p:sp>
        <p:nvSpPr>
          <p:cNvPr id="7" name="Line 7"/>
          <p:cNvSpPr/>
          <p:nvPr/>
        </p:nvSpPr>
        <p:spPr>
          <a:xfrm>
            <a:off x="723900" y="3276600"/>
            <a:ext cx="4895850" cy="9525"/>
          </a:xfrm>
          <a:custGeom>
            <a:avLst/>
            <a:gdLst/>
            <a:ahLst/>
            <a:cxnLst/>
            <a:rect l="l" t="t" r="r" b="b"/>
            <a:pathLst>
              <a:path w="4895850" h="9525">
                <a:moveTo>
                  <a:pt x="0" y="0"/>
                </a:moveTo>
                <a:lnTo>
                  <a:pt x="4895850" y="0"/>
                </a:lnTo>
              </a:path>
            </a:pathLst>
          </a:custGeom>
          <a:noFill/>
          <a:ln w="47625">
            <a:solidFill>
              <a:schemeClr val="accent2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714375" y="3626644"/>
            <a:ext cx="3081386" cy="3667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8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不是把成绩“存进区块链”，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14375" y="4007644"/>
            <a:ext cx="5586933" cy="3667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8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而是让成绩的产生、访问、纠错与验证都可解释。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16661" y="5523071"/>
            <a:ext cx="1954756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浙江大学 · 计算机专业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16661" y="5827871"/>
            <a:ext cx="1792270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魏子安 · 强璞 · 阳震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140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3" name="TextBox 3"/>
            <p:cNvSpPr txBox="1"/>
            <p:nvPr/>
          </p:nvSpPr>
          <p:spPr>
            <a:xfrm>
              <a:off x="679323" y="376714"/>
              <a:ext cx="8827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OVERVIEW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643890"/>
              <a:ext cx="1019251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目录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733104" y="811054"/>
              <a:ext cx="2781097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四个章节完成一条完整论证链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25" name="Group 25"/>
          <p:cNvGrpSpPr/>
          <p:nvPr/>
        </p:nvGrpSpPr>
        <p:grpSpPr>
          <a:xfrm>
            <a:off x="1047750" y="1632109"/>
            <a:ext cx="4107180" cy="3987641"/>
            <a:chOff x="1047750" y="1632109"/>
            <a:chExt cx="4107180" cy="3987641"/>
          </a:xfrm>
        </p:grpSpPr>
        <p:sp>
          <p:nvSpPr>
            <p:cNvPr id="8" name="Freeform 8"/>
            <p:cNvSpPr/>
            <p:nvPr/>
          </p:nvSpPr>
          <p:spPr>
            <a:xfrm>
              <a:off x="1257300" y="1847850"/>
              <a:ext cx="9525" cy="3771900"/>
            </a:xfrm>
            <a:custGeom>
              <a:avLst/>
              <a:gdLst/>
              <a:ahLst/>
              <a:cxnLst/>
              <a:rect l="l" t="t" r="r" b="b"/>
              <a:pathLst>
                <a:path w="9525" h="3771900">
                  <a:moveTo>
                    <a:pt x="0" y="0"/>
                  </a:moveTo>
                  <a:lnTo>
                    <a:pt x="0" y="3771900"/>
                  </a:lnTo>
                </a:path>
              </a:pathLst>
            </a:custGeom>
            <a:solidFill>
              <a:srgbClr val="000000"/>
            </a:solidFill>
            <a:ln w="28575">
              <a:solidFill>
                <a:schemeClr val="accent6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1047750" y="1676400"/>
              <a:ext cx="419100" cy="419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151312" y="1814989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703451" y="1632109"/>
              <a:ext cx="2301210" cy="425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问题与设计原则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706880" y="2019300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为什么做，以及必须守住哪些边界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1047750" y="2667000"/>
              <a:ext cx="419100" cy="419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151312" y="2805589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703451" y="2622709"/>
              <a:ext cx="2952384" cy="425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系统设计与能力演进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706880" y="300990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身份、隐私、修订与互操作如何实现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1047750" y="3657600"/>
              <a:ext cx="419100" cy="4191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151312" y="3796189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703451" y="3613309"/>
              <a:ext cx="2952384" cy="425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实验验证与工程证据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06880" y="4000500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主张如何被功能、性能与故障实验支持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1047750" y="4648200"/>
              <a:ext cx="419100" cy="419100"/>
            </a:xfrm>
            <a:prstGeom prst="ellipse">
              <a:avLst/>
            </a:prstGeom>
            <a:solidFill>
              <a:srgbClr val="D3A84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151312" y="4786789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703451" y="4603909"/>
              <a:ext cx="2952384" cy="425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局限、贡献与下一步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706880" y="4991100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已经解决什么，还需要如何演进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26" name="TextBox 26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02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420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>
              <a:alpha val="42000"/>
            </a:scheme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286375" cy="6858000"/>
          </a:xfrm>
          <a:prstGeom prst="rect">
            <a:avLst/>
          </a:prstGeom>
          <a:solidFill>
            <a:schemeClr val="lt1">
              <a:alpha val="93000"/>
            </a:schemeClr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666750" y="1170622"/>
            <a:ext cx="1516685" cy="18192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450" dirty="0">
                <a:solidFill>
                  <a:schemeClr val="accent3">
                    <a:alphaMod val="90000"/>
                  </a:schemeClr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67512" y="2716530"/>
            <a:ext cx="3800246" cy="7040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600" b="1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问题与设计原则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3448050"/>
            <a:ext cx="3790950" cy="9525"/>
          </a:xfrm>
          <a:custGeom>
            <a:avLst/>
            <a:gdLst/>
            <a:ahLst/>
            <a:cxnLst/>
            <a:rect l="l" t="t" r="r" b="b"/>
            <a:pathLst>
              <a:path w="3790950" h="9525">
                <a:moveTo>
                  <a:pt x="0" y="0"/>
                </a:moveTo>
                <a:lnTo>
                  <a:pt x="3790950" y="0"/>
                </a:lnTo>
              </a:path>
            </a:pathLst>
          </a:custGeom>
          <a:noFill/>
          <a:ln w="47625">
            <a:solidFill>
              <a:schemeClr val="accent2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677037" y="3757136"/>
            <a:ext cx="2564536" cy="3373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72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从真实矛盾出发定义系统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9704" y="6156960"/>
            <a:ext cx="17112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ChainGrade · 课程答辩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299449" y="6358414"/>
            <a:ext cx="213228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28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140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3" name="TextBox 3"/>
            <p:cNvSpPr txBox="1"/>
            <p:nvPr/>
          </p:nvSpPr>
          <p:spPr>
            <a:xfrm>
              <a:off x="679323" y="376714"/>
              <a:ext cx="13246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01 · 问题与原则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643890"/>
              <a:ext cx="200497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项目定位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669606" y="811054"/>
              <a:ext cx="384459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一个项目，同时满足课程闭环与竞赛延展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14" name="Group 14"/>
          <p:cNvGrpSpPr/>
          <p:nvPr/>
        </p:nvGrpSpPr>
        <p:grpSpPr>
          <a:xfrm>
            <a:off x="685800" y="1600200"/>
            <a:ext cx="4857750" cy="2857500"/>
            <a:chOff x="685800" y="1600200"/>
            <a:chExt cx="4857750" cy="2857500"/>
          </a:xfrm>
        </p:grpSpPr>
        <p:sp>
          <p:nvSpPr>
            <p:cNvPr id="8" name="Rectangle 8"/>
            <p:cNvSpPr/>
            <p:nvPr/>
          </p:nvSpPr>
          <p:spPr>
            <a:xfrm>
              <a:off x="685800" y="1600200"/>
              <a:ext cx="4857750" cy="2857500"/>
            </a:xfrm>
            <a:prstGeom prst="roundRect">
              <a:avLst>
                <a:gd name="adj" fmla="val 2667"/>
              </a:avLst>
            </a:prstGeom>
            <a:solidFill>
              <a:srgbClr val="FFFFFF"/>
            </a:solidFill>
            <a:ln w="13335">
              <a:solidFill>
                <a:schemeClr val="accent1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685800" y="1600200"/>
              <a:ext cx="76200" cy="28575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23163" y="1743551"/>
              <a:ext cx="1529029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课程大作业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25449" y="2154079"/>
              <a:ext cx="23556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完成成绩存证与查询应用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25449" y="2430304"/>
              <a:ext cx="19302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体现区块链的必要性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25449" y="2706529"/>
              <a:ext cx="2568397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交付可运行系统与实验报告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648450" y="1600200"/>
            <a:ext cx="4857750" cy="2857500"/>
            <a:chOff x="6648450" y="1600200"/>
            <a:chExt cx="4857750" cy="2857500"/>
          </a:xfrm>
        </p:grpSpPr>
        <p:sp>
          <p:nvSpPr>
            <p:cNvPr id="15" name="Rectangle 15"/>
            <p:cNvSpPr/>
            <p:nvPr/>
          </p:nvSpPr>
          <p:spPr>
            <a:xfrm>
              <a:off x="6648450" y="1600200"/>
              <a:ext cx="4857750" cy="2857500"/>
            </a:xfrm>
            <a:prstGeom prst="roundRect">
              <a:avLst>
                <a:gd name="adj" fmla="val 2667"/>
              </a:avLst>
            </a:prstGeom>
            <a:solidFill>
              <a:srgbClr val="FFFFFF"/>
            </a:solidFill>
            <a:ln w="13335">
              <a:solidFill>
                <a:schemeClr val="accent3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6648450" y="1600200"/>
              <a:ext cx="76200" cy="28575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885813" y="1743551"/>
              <a:ext cx="122733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竞赛延展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888099" y="2154079"/>
              <a:ext cx="21429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面向真实教育数据问题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888099" y="2430304"/>
              <a:ext cx="23556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深化隐私、互操作与韧性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888099" y="2706529"/>
              <a:ext cx="21429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强调可推广的工程价值</a:t>
              </a:r>
            </a:p>
          </p:txBody>
        </p:sp>
      </p:grpSp>
      <p:sp>
        <p:nvSpPr>
          <p:cNvPr id="22" name="Freeform 22"/>
          <p:cNvSpPr/>
          <p:nvPr/>
        </p:nvSpPr>
        <p:spPr>
          <a:xfrm>
            <a:off x="5638800" y="3028950"/>
            <a:ext cx="800100" cy="9525"/>
          </a:xfrm>
          <a:custGeom>
            <a:avLst/>
            <a:gdLst/>
            <a:ahLst/>
            <a:cxnLst/>
            <a:rect l="l" t="t" r="r" b="b"/>
            <a:pathLst>
              <a:path w="800100" h="9525">
                <a:moveTo>
                  <a:pt x="0" y="0"/>
                </a:moveTo>
                <a:lnTo>
                  <a:pt x="800100" y="0"/>
                </a:lnTo>
              </a:path>
            </a:pathLst>
          </a:custGeom>
          <a:solidFill>
            <a:srgbClr val="000000"/>
          </a:solidFill>
          <a:ln w="28575">
            <a:solidFill>
              <a:schemeClr val="accent2"/>
            </a:solidFill>
          </a:ln>
        </p:spPr>
      </p:sp>
      <p:sp>
        <p:nvSpPr>
          <p:cNvPr id="23" name="Freeform 23"/>
          <p:cNvSpPr/>
          <p:nvPr/>
        </p:nvSpPr>
        <p:spPr>
          <a:xfrm>
            <a:off x="6381750" y="29622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0"/>
                </a:moveTo>
                <a:lnTo>
                  <a:pt x="171450" y="66675"/>
                </a:lnTo>
                <a:lnTo>
                  <a:pt x="0" y="1333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grpSp>
        <p:nvGrpSpPr>
          <p:cNvPr id="27" name="Group 27"/>
          <p:cNvGrpSpPr/>
          <p:nvPr/>
        </p:nvGrpSpPr>
        <p:grpSpPr>
          <a:xfrm>
            <a:off x="2152650" y="4781550"/>
            <a:ext cx="7886700" cy="904875"/>
            <a:chOff x="2152650" y="4781550"/>
            <a:chExt cx="7886700" cy="904875"/>
          </a:xfrm>
        </p:grpSpPr>
        <p:sp>
          <p:nvSpPr>
            <p:cNvPr id="24" name="Rectangle 24"/>
            <p:cNvSpPr/>
            <p:nvPr/>
          </p:nvSpPr>
          <p:spPr>
            <a:xfrm>
              <a:off x="2152650" y="4781550"/>
              <a:ext cx="7886700" cy="904875"/>
            </a:xfrm>
            <a:prstGeom prst="roundRect">
              <a:avLst>
                <a:gd name="adj" fmla="val 10526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2409063" y="4963001"/>
              <a:ext cx="5843211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同一代码库 · 同一数据模型 · 同一证据口径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409063" y="5286851"/>
              <a:ext cx="4545940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课程完成闭环，竞赛继续加深能力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28" name="TextBox 28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04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140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3" name="TextBox 3"/>
            <p:cNvSpPr txBox="1"/>
            <p:nvPr/>
          </p:nvSpPr>
          <p:spPr>
            <a:xfrm>
              <a:off x="679323" y="376714"/>
              <a:ext cx="13246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01 · 问题与原则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643890"/>
              <a:ext cx="200497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问题定义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711834" y="811054"/>
              <a:ext cx="2802367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为什么“成绩上链”仍然不足？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15" name="Group 15"/>
          <p:cNvGrpSpPr/>
          <p:nvPr/>
        </p:nvGrpSpPr>
        <p:grpSpPr>
          <a:xfrm>
            <a:off x="685800" y="1600200"/>
            <a:ext cx="3333750" cy="3390900"/>
            <a:chOff x="685800" y="1600200"/>
            <a:chExt cx="3333750" cy="3390900"/>
          </a:xfrm>
        </p:grpSpPr>
        <p:sp>
          <p:nvSpPr>
            <p:cNvPr id="8" name="Rectangle 8"/>
            <p:cNvSpPr/>
            <p:nvPr/>
          </p:nvSpPr>
          <p:spPr>
            <a:xfrm>
              <a:off x="685800" y="1600200"/>
              <a:ext cx="3333750" cy="3390900"/>
            </a:xfrm>
            <a:prstGeom prst="roundRect">
              <a:avLst>
                <a:gd name="adj" fmla="val 2286"/>
              </a:avLst>
            </a:prstGeom>
            <a:solidFill>
              <a:srgbClr val="FFFFFF"/>
            </a:solidFill>
            <a:ln w="13335">
              <a:solidFill>
                <a:schemeClr val="accent1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685800" y="1600200"/>
              <a:ext cx="76200" cy="33909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23163" y="1743551"/>
              <a:ext cx="122733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可信矛盾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25449" y="2154079"/>
              <a:ext cx="15048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单点管理很方便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25449" y="2430304"/>
              <a:ext cx="23556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但管理员可独立改写结果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25449" y="2706529"/>
              <a:ext cx="23556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需要身份分权、独立复核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25449" y="2982754"/>
              <a:ext cx="21429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以及链上历史共同约束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4429125" y="1600200"/>
            <a:ext cx="3333750" cy="3390900"/>
            <a:chOff x="4429125" y="1600200"/>
            <a:chExt cx="3333750" cy="3390900"/>
          </a:xfrm>
        </p:grpSpPr>
        <p:sp>
          <p:nvSpPr>
            <p:cNvPr id="16" name="Rectangle 16"/>
            <p:cNvSpPr/>
            <p:nvPr/>
          </p:nvSpPr>
          <p:spPr>
            <a:xfrm>
              <a:off x="4429125" y="1600200"/>
              <a:ext cx="3333750" cy="3390900"/>
            </a:xfrm>
            <a:prstGeom prst="roundRect">
              <a:avLst>
                <a:gd name="adj" fmla="val 2286"/>
              </a:avLst>
            </a:prstGeom>
            <a:solidFill>
              <a:srgbClr val="FFFFFF"/>
            </a:solidFill>
            <a:ln w="13335">
              <a:solidFill>
                <a:schemeClr val="accent3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4429125" y="1600200"/>
              <a:ext cx="76200" cy="33909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66488" y="1743551"/>
              <a:ext cx="122733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隐私矛盾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68774" y="2154079"/>
              <a:ext cx="15048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成绩需要被验证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68774" y="2430304"/>
              <a:ext cx="2217443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但 0–100 属于低熵数据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668774" y="2706529"/>
              <a:ext cx="19302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裸哈希仍可能被枚举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668774" y="2982754"/>
              <a:ext cx="21429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需要随机盐与私有集合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8172450" y="1600200"/>
            <a:ext cx="3333750" cy="3390900"/>
            <a:chOff x="8172450" y="1600200"/>
            <a:chExt cx="3333750" cy="3390900"/>
          </a:xfrm>
        </p:grpSpPr>
        <p:sp>
          <p:nvSpPr>
            <p:cNvPr id="24" name="Rectangle 24"/>
            <p:cNvSpPr/>
            <p:nvPr/>
          </p:nvSpPr>
          <p:spPr>
            <a:xfrm>
              <a:off x="8172450" y="1600200"/>
              <a:ext cx="3333750" cy="3390900"/>
            </a:xfrm>
            <a:prstGeom prst="roundRect">
              <a:avLst>
                <a:gd name="adj" fmla="val 2286"/>
              </a:avLst>
            </a:prstGeom>
            <a:solidFill>
              <a:srgbClr val="FFFFFF"/>
            </a:solidFill>
            <a:ln w="13335">
              <a:solidFill>
                <a:schemeClr val="accent2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8172450" y="1600200"/>
              <a:ext cx="76200" cy="33909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409813" y="1743551"/>
              <a:ext cx="122733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纠错矛盾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412099" y="2154079"/>
              <a:ext cx="19302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区块链强调不可篡改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412099" y="2430304"/>
              <a:ext cx="23556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现实成绩却必须允许修正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412099" y="2706529"/>
              <a:ext cx="15048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不能覆盖旧记录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412099" y="2982754"/>
              <a:ext cx="15048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需要版本化修订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657350" y="5257800"/>
            <a:ext cx="8877300" cy="609600"/>
            <a:chOff x="1657350" y="5257800"/>
            <a:chExt cx="8877300" cy="609600"/>
          </a:xfrm>
        </p:grpSpPr>
        <p:sp>
          <p:nvSpPr>
            <p:cNvPr id="32" name="Rectangle 32"/>
            <p:cNvSpPr/>
            <p:nvPr/>
          </p:nvSpPr>
          <p:spPr>
            <a:xfrm>
              <a:off x="1657350" y="5257800"/>
              <a:ext cx="8877300" cy="609600"/>
            </a:xfrm>
            <a:prstGeom prst="roundRect">
              <a:avLst>
                <a:gd name="adj" fmla="val 15625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913763" y="5439251"/>
              <a:ext cx="5752704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项目价值：让可信、隐私与纠错同时成立。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35" name="TextBox 35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140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3" name="TextBox 3"/>
            <p:cNvSpPr txBox="1"/>
            <p:nvPr/>
          </p:nvSpPr>
          <p:spPr>
            <a:xfrm>
              <a:off x="679323" y="376714"/>
              <a:ext cx="13246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01 · 问题与原则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643890"/>
              <a:ext cx="200497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设计原则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307705" y="811054"/>
              <a:ext cx="320649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每一项能力都必须能被验证与解释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14" name="Group 14"/>
          <p:cNvGrpSpPr/>
          <p:nvPr/>
        </p:nvGrpSpPr>
        <p:grpSpPr>
          <a:xfrm>
            <a:off x="685800" y="1619250"/>
            <a:ext cx="2476500" cy="3067050"/>
            <a:chOff x="685800" y="1619250"/>
            <a:chExt cx="2476500" cy="3067050"/>
          </a:xfrm>
        </p:grpSpPr>
        <p:sp>
          <p:nvSpPr>
            <p:cNvPr id="8" name="Rectangle 8"/>
            <p:cNvSpPr/>
            <p:nvPr/>
          </p:nvSpPr>
          <p:spPr>
            <a:xfrm>
              <a:off x="685800" y="1619250"/>
              <a:ext cx="2476500" cy="3067050"/>
            </a:xfrm>
            <a:prstGeom prst="roundRect">
              <a:avLst>
                <a:gd name="adj" fmla="val 3077"/>
              </a:avLst>
            </a:prstGeom>
            <a:solidFill>
              <a:srgbClr val="FFFFFF"/>
            </a:solidFill>
            <a:ln w="13335">
              <a:solidFill>
                <a:schemeClr val="accent1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685800" y="1619250"/>
              <a:ext cx="76200" cy="306705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23163" y="1762601"/>
              <a:ext cx="925647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可验证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25449" y="2173129"/>
              <a:ext cx="17175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签发与复核有身份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25449" y="2449354"/>
              <a:ext cx="17175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关键状态进入账本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25449" y="2725579"/>
              <a:ext cx="17175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查询能够给出证据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3467100" y="1619250"/>
            <a:ext cx="2476500" cy="3067050"/>
            <a:chOff x="3467100" y="1619250"/>
            <a:chExt cx="2476500" cy="3067050"/>
          </a:xfrm>
        </p:grpSpPr>
        <p:sp>
          <p:nvSpPr>
            <p:cNvPr id="15" name="Rectangle 15"/>
            <p:cNvSpPr/>
            <p:nvPr/>
          </p:nvSpPr>
          <p:spPr>
            <a:xfrm>
              <a:off x="3467100" y="1619250"/>
              <a:ext cx="2476500" cy="3067050"/>
            </a:xfrm>
            <a:prstGeom prst="roundRect">
              <a:avLst>
                <a:gd name="adj" fmla="val 3077"/>
              </a:avLst>
            </a:prstGeom>
            <a:solidFill>
              <a:srgbClr val="FFFFFF"/>
            </a:solidFill>
            <a:ln w="13335">
              <a:solidFill>
                <a:schemeClr val="accent3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3467100" y="1619250"/>
              <a:ext cx="76200" cy="306705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3704463" y="1762601"/>
              <a:ext cx="122733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最小披露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706749" y="2173129"/>
              <a:ext cx="17175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公共账本只存承诺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706749" y="2449354"/>
              <a:ext cx="13532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明细进入 PDC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06749" y="2725579"/>
              <a:ext cx="17175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学生访问绑定主体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6248400" y="1619250"/>
            <a:ext cx="2476500" cy="3067050"/>
            <a:chOff x="6248400" y="1619250"/>
            <a:chExt cx="2476500" cy="3067050"/>
          </a:xfrm>
        </p:grpSpPr>
        <p:sp>
          <p:nvSpPr>
            <p:cNvPr id="22" name="Rectangle 22"/>
            <p:cNvSpPr/>
            <p:nvPr/>
          </p:nvSpPr>
          <p:spPr>
            <a:xfrm>
              <a:off x="6248400" y="1619250"/>
              <a:ext cx="2476500" cy="3067050"/>
            </a:xfrm>
            <a:prstGeom prst="roundRect">
              <a:avLst>
                <a:gd name="adj" fmla="val 3077"/>
              </a:avLst>
            </a:prstGeom>
            <a:solidFill>
              <a:srgbClr val="FFFFFF"/>
            </a:solidFill>
            <a:ln w="13335">
              <a:solidFill>
                <a:schemeClr val="accent2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48400" y="1619250"/>
              <a:ext cx="76200" cy="306705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85763" y="1762601"/>
              <a:ext cx="925647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可修订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88049" y="2173129"/>
              <a:ext cx="12922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旧版本不删除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88049" y="2449354"/>
              <a:ext cx="15048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新版本重新复核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88049" y="2725579"/>
              <a:ext cx="15048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申诉不直接改分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029700" y="1619250"/>
            <a:ext cx="2476500" cy="3067050"/>
            <a:chOff x="9029700" y="1619250"/>
            <a:chExt cx="2476500" cy="3067050"/>
          </a:xfrm>
        </p:grpSpPr>
        <p:sp>
          <p:nvSpPr>
            <p:cNvPr id="29" name="Rectangle 29"/>
            <p:cNvSpPr/>
            <p:nvPr/>
          </p:nvSpPr>
          <p:spPr>
            <a:xfrm>
              <a:off x="9029700" y="1619250"/>
              <a:ext cx="2476500" cy="3067050"/>
            </a:xfrm>
            <a:prstGeom prst="roundRect">
              <a:avLst>
                <a:gd name="adj" fmla="val 3077"/>
              </a:avLst>
            </a:prstGeom>
            <a:solidFill>
              <a:srgbClr val="FFFFFF"/>
            </a:solidFill>
            <a:ln w="13335">
              <a:solidFill>
                <a:srgbClr val="D3A84B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9029700" y="1619250"/>
              <a:ext cx="76200" cy="3067050"/>
            </a:xfrm>
            <a:prstGeom prst="roundRect">
              <a:avLst>
                <a:gd name="adj" fmla="val 50000"/>
              </a:avLst>
            </a:prstGeom>
            <a:solidFill>
              <a:srgbClr val="D3A84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267063" y="1762601"/>
              <a:ext cx="925647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D3A84B"/>
                  </a:solidFill>
                  <a:latin typeface="+mj-lt"/>
                  <a:ea typeface="+mj-ea"/>
                  <a:cs typeface="+mj-cs"/>
                </a:rPr>
                <a:t>可复现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269349" y="2173129"/>
              <a:ext cx="12922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保存基准配置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269349" y="2449354"/>
              <a:ext cx="129220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保留原始结果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269349" y="2725579"/>
              <a:ext cx="17175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执行故障恢复审计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943100" y="5048250"/>
            <a:ext cx="8305800" cy="647700"/>
            <a:chOff x="1943100" y="5048250"/>
            <a:chExt cx="8305800" cy="647700"/>
          </a:xfrm>
        </p:grpSpPr>
        <p:sp>
          <p:nvSpPr>
            <p:cNvPr id="36" name="Rectangle 36"/>
            <p:cNvSpPr/>
            <p:nvPr/>
          </p:nvSpPr>
          <p:spPr>
            <a:xfrm>
              <a:off x="1943100" y="5048250"/>
              <a:ext cx="8305800" cy="647700"/>
            </a:xfrm>
            <a:prstGeom prst="roundRect">
              <a:avLst>
                <a:gd name="adj" fmla="val 1470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2199513" y="5229701"/>
              <a:ext cx="6054395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原则不是口号：后续每页都给出机制与证据。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39" name="TextBox 39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06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420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>
              <a:alpha val="42000"/>
            </a:scheme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286375" cy="6858000"/>
          </a:xfrm>
          <a:prstGeom prst="rect">
            <a:avLst/>
          </a:prstGeom>
          <a:solidFill>
            <a:schemeClr val="lt1">
              <a:alpha val="93000"/>
            </a:schemeClr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666750" y="1170622"/>
            <a:ext cx="1516685" cy="18192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450" dirty="0">
                <a:solidFill>
                  <a:schemeClr val="accent3">
                    <a:alphaMod val="90000"/>
                  </a:schemeClr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67512" y="2716530"/>
            <a:ext cx="4875581" cy="7040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600" b="1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系统设计与能力演进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3448050"/>
            <a:ext cx="3790950" cy="9525"/>
          </a:xfrm>
          <a:custGeom>
            <a:avLst/>
            <a:gdLst/>
            <a:ahLst/>
            <a:cxnLst/>
            <a:rect l="l" t="t" r="r" b="b"/>
            <a:pathLst>
              <a:path w="3790950" h="9525">
                <a:moveTo>
                  <a:pt x="0" y="0"/>
                </a:moveTo>
                <a:lnTo>
                  <a:pt x="3790950" y="0"/>
                </a:lnTo>
              </a:path>
            </a:pathLst>
          </a:custGeom>
          <a:noFill/>
          <a:ln w="47625">
            <a:solidFill>
              <a:schemeClr val="accent2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677037" y="3757136"/>
            <a:ext cx="2564536" cy="3373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72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从数据边界到跨系统验证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9704" y="6156960"/>
            <a:ext cx="17112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ChainGrade · 课程答辩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299449" y="6358414"/>
            <a:ext cx="213228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28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140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3" name="TextBox 3"/>
            <p:cNvSpPr txBox="1"/>
            <p:nvPr/>
          </p:nvSpPr>
          <p:spPr>
            <a:xfrm>
              <a:off x="679323" y="376714"/>
              <a:ext cx="11437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02 · 系统设计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643890"/>
              <a:ext cx="200497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系统架构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669606" y="811054"/>
              <a:ext cx="384459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可信性来自身份、链码规则与多组织账本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38" name="Group 38"/>
          <p:cNvGrpSpPr/>
          <p:nvPr/>
        </p:nvGrpSpPr>
        <p:grpSpPr>
          <a:xfrm>
            <a:off x="685800" y="1524000"/>
            <a:ext cx="10820400" cy="4476750"/>
            <a:chOff x="685800" y="1524000"/>
            <a:chExt cx="10820400" cy="4476750"/>
          </a:xfrm>
        </p:grpSpPr>
        <p:sp>
          <p:nvSpPr>
            <p:cNvPr id="8" name="Rectangle 8"/>
            <p:cNvSpPr/>
            <p:nvPr/>
          </p:nvSpPr>
          <p:spPr>
            <a:xfrm>
              <a:off x="685800" y="1524000"/>
              <a:ext cx="10820400" cy="4476750"/>
            </a:xfrm>
            <a:prstGeom prst="roundRect">
              <a:avLst>
                <a:gd name="adj" fmla="val 1702"/>
              </a:avLst>
            </a:prstGeom>
            <a:solidFill>
              <a:srgbClr val="FFFFFF"/>
            </a:solidFill>
            <a:ln w="13335">
              <a:solidFill>
                <a:schemeClr val="accent6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914400" y="1857375"/>
              <a:ext cx="2000250" cy="3619500"/>
            </a:xfrm>
            <a:prstGeom prst="roundRect">
              <a:avLst>
                <a:gd name="adj" fmla="val 4762"/>
              </a:avLst>
            </a:prstGeom>
            <a:solidFill>
              <a:srgbClr val="E6EFEC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150010" y="2000726"/>
              <a:ext cx="1529029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020" b="1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角色工作台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1123950" y="2476500"/>
              <a:ext cx="1581150" cy="4191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accent3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395932" y="2589371"/>
              <a:ext cx="10371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教师 issuer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1123950" y="3105150"/>
              <a:ext cx="1581150" cy="4191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accent3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271678" y="3218021"/>
              <a:ext cx="128569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复核 reviewer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1123950" y="3733800"/>
              <a:ext cx="1581150" cy="4191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accent3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319468" y="3846671"/>
              <a:ext cx="119011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学生 student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1123950" y="4362450"/>
              <a:ext cx="1581150" cy="4191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chemeClr val="accent3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314689" y="4475321"/>
              <a:ext cx="119967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验证 verifier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3105150" y="3667125"/>
              <a:ext cx="800100" cy="9525"/>
            </a:xfrm>
            <a:custGeom>
              <a:avLst/>
              <a:gdLst/>
              <a:ahLst/>
              <a:cxnLst/>
              <a:rect l="l" t="t" r="r" b="b"/>
              <a:pathLst>
                <a:path w="800100" h="9525">
                  <a:moveTo>
                    <a:pt x="0" y="0"/>
                  </a:moveTo>
                  <a:lnTo>
                    <a:pt x="800100" y="0"/>
                  </a:lnTo>
                </a:path>
              </a:pathLst>
            </a:custGeom>
            <a:solidFill>
              <a:srgbClr val="000000"/>
            </a:solidFill>
            <a:ln w="38100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3905250" y="2143125"/>
              <a:ext cx="2190750" cy="3009900"/>
            </a:xfrm>
            <a:prstGeom prst="roundRect">
              <a:avLst>
                <a:gd name="adj" fmla="val 4348"/>
              </a:avLst>
            </a:prstGeom>
            <a:solidFill>
              <a:srgbClr val="F6E5DF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386956" y="2305526"/>
              <a:ext cx="122733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02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应用服务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202430" y="2867025"/>
              <a:ext cx="118681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61925" indent="-161925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身份与权限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202430" y="3314700"/>
              <a:ext cx="163868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61925" indent="-161925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成绩 / 申诉 API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202430" y="3762375"/>
              <a:ext cx="15426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61925" indent="-161925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VC 签发与验证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202430" y="4210050"/>
              <a:ext cx="118681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61925" indent="-161925">
                <a:buClr>
                  <a:schemeClr val="dk1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审计与指标</a:t>
              </a:r>
            </a:p>
          </p:txBody>
        </p:sp>
        <p:sp>
          <p:nvSpPr>
            <p:cNvPr id="26" name="Freeform 26"/>
            <p:cNvSpPr/>
            <p:nvPr/>
          </p:nvSpPr>
          <p:spPr>
            <a:xfrm>
              <a:off x="6286500" y="3667125"/>
              <a:ext cx="800100" cy="9525"/>
            </a:xfrm>
            <a:custGeom>
              <a:avLst/>
              <a:gdLst/>
              <a:ahLst/>
              <a:cxnLst/>
              <a:rect l="l" t="t" r="r" b="b"/>
              <a:pathLst>
                <a:path w="800100" h="9525">
                  <a:moveTo>
                    <a:pt x="0" y="0"/>
                  </a:moveTo>
                  <a:lnTo>
                    <a:pt x="800100" y="0"/>
                  </a:lnTo>
                </a:path>
              </a:pathLst>
            </a:custGeom>
            <a:solidFill>
              <a:srgbClr val="000000"/>
            </a:solidFill>
            <a:ln w="38100">
              <a:solidFill>
                <a:schemeClr val="accent6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7086600" y="1790700"/>
              <a:ext cx="4095750" cy="3714750"/>
            </a:xfrm>
            <a:prstGeom prst="roundRect">
              <a:avLst>
                <a:gd name="adj" fmla="val 2564"/>
              </a:avLst>
            </a:prstGeom>
            <a:solidFill>
              <a:srgbClr val="EEF3F8"/>
            </a:solidFill>
            <a:ln w="9525">
              <a:solidFill>
                <a:schemeClr val="accent1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652734" y="1964055"/>
              <a:ext cx="2963483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1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Hyperledger Fabric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372350" y="2514600"/>
              <a:ext cx="1695450" cy="10668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1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765405" y="2763679"/>
              <a:ext cx="90934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公共状态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498497" y="3091339"/>
              <a:ext cx="14431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状态 / 版本 / 承诺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277350" y="2514600"/>
              <a:ext cx="1600200" cy="10668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3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622780" y="2763679"/>
              <a:ext cx="90934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私有明细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360179" y="3091339"/>
              <a:ext cx="143454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成绩 / 科目 / salt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372350" y="3905250"/>
              <a:ext cx="3505200" cy="1123950"/>
            </a:xfrm>
            <a:prstGeom prst="roundRect">
              <a:avLst>
                <a:gd name="adj" fmla="val 5932"/>
              </a:avLst>
            </a:prstGeom>
            <a:solidFill>
              <a:srgbClr val="FFFFFF"/>
            </a:solidFill>
            <a:ln w="9525">
              <a:solidFill>
                <a:srgbClr val="D3A84B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677705" y="4135279"/>
              <a:ext cx="289449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8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2 Org + 1 Orderer + CCaaS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131978" y="4481989"/>
              <a:ext cx="19859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背书 · 链码 · 账本 · 事件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39" name="TextBox 39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08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140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3" name="TextBox 3"/>
            <p:cNvSpPr txBox="1"/>
            <p:nvPr/>
          </p:nvSpPr>
          <p:spPr>
            <a:xfrm>
              <a:off x="679323" y="376714"/>
              <a:ext cx="11437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02 · 系统设计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643890"/>
              <a:ext cx="200497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能力演进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031507" y="811054"/>
              <a:ext cx="448269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七阶段保留为一条路径，而不是整套答辩主框架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10" name="Group 10"/>
          <p:cNvGrpSpPr/>
          <p:nvPr/>
        </p:nvGrpSpPr>
        <p:grpSpPr>
          <a:xfrm>
            <a:off x="685800" y="1600200"/>
            <a:ext cx="10820400" cy="3143250"/>
            <a:chOff x="685800" y="1600200"/>
            <a:chExt cx="10820400" cy="3143250"/>
          </a:xfrm>
        </p:grpSpPr>
        <p:sp>
          <p:nvSpPr>
            <p:cNvPr id="8" name="Rectangle 8"/>
            <p:cNvSpPr/>
            <p:nvPr/>
          </p:nvSpPr>
          <p:spPr>
            <a:xfrm>
              <a:off x="685800" y="1600200"/>
              <a:ext cx="10820400" cy="3143250"/>
            </a:xfrm>
            <a:prstGeom prst="roundRect">
              <a:avLst>
                <a:gd name="adj" fmla="val 2424"/>
              </a:avLst>
            </a:prstGeom>
            <a:solidFill>
              <a:srgbClr val="FFFFFF"/>
            </a:solidFill>
            <a:ln w="13335">
              <a:solidFill>
                <a:schemeClr val="accent6"/>
              </a:solidFill>
            </a:ln>
          </p:spPr>
        </p:sp>
        <p:pic>
          <p:nvPicPr>
            <p:cNvPr id="9" name="Image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05031" y="1657350"/>
              <a:ext cx="5381939" cy="3028950"/>
            </a:xfrm>
            <a:prstGeom prst="rect">
              <a:avLst/>
            </a:prstGeom>
          </p:spPr>
        </p:pic>
      </p:grpSp>
      <p:grpSp>
        <p:nvGrpSpPr>
          <p:cNvPr id="26" name="Group 26"/>
          <p:cNvGrpSpPr/>
          <p:nvPr/>
        </p:nvGrpSpPr>
        <p:grpSpPr>
          <a:xfrm>
            <a:off x="506844" y="5029200"/>
            <a:ext cx="10663961" cy="1007745"/>
            <a:chOff x="506844" y="5029200"/>
            <a:chExt cx="10663961" cy="1007745"/>
          </a:xfrm>
        </p:grpSpPr>
        <p:sp>
          <p:nvSpPr>
            <p:cNvPr id="11" name="Ellipse 11"/>
            <p:cNvSpPr/>
            <p:nvPr/>
          </p:nvSpPr>
          <p:spPr>
            <a:xfrm>
              <a:off x="762000" y="5029200"/>
              <a:ext cx="266700" cy="26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06844" y="5378768"/>
              <a:ext cx="7770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存证查询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2409825" y="5029200"/>
              <a:ext cx="266700" cy="26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2154669" y="5378768"/>
              <a:ext cx="7770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身份分权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4057650" y="5029200"/>
              <a:ext cx="266700" cy="26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3802494" y="5378768"/>
              <a:ext cx="7770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隐私保护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705475" y="5029200"/>
              <a:ext cx="266700" cy="26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450319" y="5378768"/>
              <a:ext cx="7770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修订申诉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353300" y="5029200"/>
              <a:ext cx="266700" cy="26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098144" y="5378768"/>
              <a:ext cx="7770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角色交互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9001125" y="5029200"/>
              <a:ext cx="266700" cy="26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784854" y="5378768"/>
              <a:ext cx="69924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标准 VC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648950" y="5029200"/>
              <a:ext cx="266700" cy="266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0393794" y="5378768"/>
              <a:ext cx="7770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性能韧性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371975" y="5743575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每次扩展都回应上一版暴露出的缺口。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27" name="TextBox 27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09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140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3" name="TextBox 3"/>
            <p:cNvSpPr txBox="1"/>
            <p:nvPr/>
          </p:nvSpPr>
          <p:spPr>
            <a:xfrm>
              <a:off x="679323" y="376714"/>
              <a:ext cx="11437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02 · 系统设计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643890"/>
              <a:ext cx="200497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数据模型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456907" y="811054"/>
              <a:ext cx="405729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公共账本保存承诺，成绩明细进入私有集合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17" name="Group 17"/>
          <p:cNvGrpSpPr/>
          <p:nvPr/>
        </p:nvGrpSpPr>
        <p:grpSpPr>
          <a:xfrm>
            <a:off x="685800" y="1600200"/>
            <a:ext cx="3562350" cy="3295650"/>
            <a:chOff x="685800" y="1600200"/>
            <a:chExt cx="3562350" cy="3295650"/>
          </a:xfrm>
        </p:grpSpPr>
        <p:sp>
          <p:nvSpPr>
            <p:cNvPr id="8" name="Rectangle 8"/>
            <p:cNvSpPr/>
            <p:nvPr/>
          </p:nvSpPr>
          <p:spPr>
            <a:xfrm>
              <a:off x="685800" y="1600200"/>
              <a:ext cx="3562350" cy="3295650"/>
            </a:xfrm>
            <a:prstGeom prst="roundRect">
              <a:avLst>
                <a:gd name="adj" fmla="val 2312"/>
              </a:avLst>
            </a:prstGeom>
            <a:solidFill>
              <a:srgbClr val="FFFFFF"/>
            </a:solidFill>
            <a:ln w="13335">
              <a:solidFill>
                <a:schemeClr val="accent1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685800" y="1600200"/>
              <a:ext cx="76200" cy="329565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23163" y="1743551"/>
              <a:ext cx="122733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公共状态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25449" y="2154079"/>
              <a:ext cx="2213697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credentialId / status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25449" y="2430304"/>
              <a:ext cx="2798563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version / previousCredenti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25449" y="2706529"/>
              <a:ext cx="38270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alId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25449" y="2982754"/>
              <a:ext cx="278821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detailHash / audit metadat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25449" y="3258979"/>
              <a:ext cx="132987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25449" y="3535204"/>
              <a:ext cx="21429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可被所有通道成员验证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7943850" y="1600200"/>
            <a:ext cx="3562350" cy="3295650"/>
            <a:chOff x="7943850" y="1600200"/>
            <a:chExt cx="3562350" cy="3295650"/>
          </a:xfrm>
        </p:grpSpPr>
        <p:sp>
          <p:nvSpPr>
            <p:cNvPr id="18" name="Rectangle 18"/>
            <p:cNvSpPr/>
            <p:nvPr/>
          </p:nvSpPr>
          <p:spPr>
            <a:xfrm>
              <a:off x="7943850" y="1600200"/>
              <a:ext cx="3562350" cy="3295650"/>
            </a:xfrm>
            <a:prstGeom prst="roundRect">
              <a:avLst>
                <a:gd name="adj" fmla="val 2312"/>
              </a:avLst>
            </a:prstGeom>
            <a:solidFill>
              <a:srgbClr val="FFFFFF"/>
            </a:solidFill>
            <a:ln w="13335">
              <a:solidFill>
                <a:schemeClr val="accent3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943850" y="1600200"/>
              <a:ext cx="76200" cy="329565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181213" y="1743551"/>
              <a:ext cx="1932590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020" b="1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Private Data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183499" y="2154079"/>
              <a:ext cx="255776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subject / course / grade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183499" y="2430304"/>
              <a:ext cx="2196173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salt / 申诉理由 / 授权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183499" y="2706529"/>
              <a:ext cx="15048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仅授权组织可见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83499" y="2982754"/>
              <a:ext cx="19302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明文不进入公共账本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4514850" y="1809750"/>
            <a:ext cx="3162300" cy="2724150"/>
            <a:chOff x="4514850" y="1809750"/>
            <a:chExt cx="3162300" cy="2724150"/>
          </a:xfrm>
        </p:grpSpPr>
        <p:sp>
          <p:nvSpPr>
            <p:cNvPr id="26" name="Rectangle 26"/>
            <p:cNvSpPr/>
            <p:nvPr/>
          </p:nvSpPr>
          <p:spPr>
            <a:xfrm>
              <a:off x="4514850" y="1809750"/>
              <a:ext cx="3162300" cy="2724150"/>
            </a:xfrm>
            <a:prstGeom prst="roundRect">
              <a:avLst>
                <a:gd name="adj" fmla="val 2797"/>
              </a:avLst>
            </a:prstGeom>
            <a:solidFill>
              <a:srgbClr val="FFFFFF"/>
            </a:solidFill>
            <a:ln w="13335">
              <a:solidFill>
                <a:schemeClr val="accent2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503621" y="1980248"/>
              <a:ext cx="118475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95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隐私承诺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4876800" y="2457450"/>
              <a:ext cx="2438400" cy="457200"/>
            </a:xfrm>
            <a:prstGeom prst="roundRect">
              <a:avLst>
                <a:gd name="adj" fmla="val 14583"/>
              </a:avLst>
            </a:prstGeom>
            <a:solidFill>
              <a:srgbClr val="F6E5DF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096016" y="2598896"/>
              <a:ext cx="199996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canonical JSON + salt</a:t>
              </a:r>
            </a:p>
          </p:txBody>
        </p:sp>
        <p:sp>
          <p:nvSpPr>
            <p:cNvPr id="30" name="Freeform 30"/>
            <p:cNvSpPr/>
            <p:nvPr/>
          </p:nvSpPr>
          <p:spPr>
            <a:xfrm>
              <a:off x="6096000" y="3009900"/>
              <a:ext cx="9525" cy="323850"/>
            </a:xfrm>
            <a:custGeom>
              <a:avLst/>
              <a:gdLst/>
              <a:ahLst/>
              <a:cxnLst/>
              <a:rect l="l" t="t" r="r" b="b"/>
              <a:pathLst>
                <a:path w="9525" h="323850">
                  <a:moveTo>
                    <a:pt x="0" y="0"/>
                  </a:moveTo>
                  <a:lnTo>
                    <a:pt x="0" y="323850"/>
                  </a:lnTo>
                </a:path>
              </a:pathLst>
            </a:custGeom>
            <a:solidFill>
              <a:srgbClr val="000000"/>
            </a:solidFill>
            <a:ln w="28575">
              <a:solidFill>
                <a:schemeClr val="accent2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6019800" y="3257550"/>
              <a:ext cx="152400" cy="133350"/>
            </a:xfrm>
            <a:custGeom>
              <a:avLst/>
              <a:gdLst/>
              <a:ahLst/>
              <a:cxnLst/>
              <a:rect l="l" t="t" r="r" b="b"/>
              <a:pathLst>
                <a:path w="152400" h="133350">
                  <a:moveTo>
                    <a:pt x="0" y="0"/>
                  </a:moveTo>
                  <a:lnTo>
                    <a:pt x="76200" y="133350"/>
                  </a:lnTo>
                  <a:lnTo>
                    <a:pt x="152400" y="0"/>
                  </a:lnTo>
                </a:path>
              </a:pathLst>
            </a:custGeom>
            <a:solidFill>
              <a:schemeClr val="accent2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876800" y="3429000"/>
              <a:ext cx="2438400" cy="457200"/>
            </a:xfrm>
            <a:prstGeom prst="roundRect">
              <a:avLst>
                <a:gd name="adj" fmla="val 14583"/>
              </a:avLst>
            </a:prstGeom>
            <a:solidFill>
              <a:srgbClr val="EEF3F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116312" y="3570446"/>
              <a:ext cx="195937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</a:rPr>
                <a:t>SHA-256 → detailHash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197800" y="4100989"/>
              <a:ext cx="179640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随机盐阻断 0–100 枚举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676400" y="5219700"/>
            <a:ext cx="8839200" cy="609600"/>
            <a:chOff x="1676400" y="5219700"/>
            <a:chExt cx="8839200" cy="609600"/>
          </a:xfrm>
        </p:grpSpPr>
        <p:sp>
          <p:nvSpPr>
            <p:cNvPr id="36" name="Rectangle 36"/>
            <p:cNvSpPr/>
            <p:nvPr/>
          </p:nvSpPr>
          <p:spPr>
            <a:xfrm>
              <a:off x="1676400" y="5219700"/>
              <a:ext cx="8839200" cy="609600"/>
            </a:xfrm>
            <a:prstGeom prst="roundRect">
              <a:avLst>
                <a:gd name="adj" fmla="val 15625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1932813" y="5401151"/>
              <a:ext cx="7562850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裸哈希不是隐私：成绩取值空间太小，必须加入随机盐。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39" name="TextBox 39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140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3" name="TextBox 3"/>
            <p:cNvSpPr txBox="1"/>
            <p:nvPr/>
          </p:nvSpPr>
          <p:spPr>
            <a:xfrm>
              <a:off x="679323" y="376714"/>
              <a:ext cx="11437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02 · 系统设计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643890"/>
              <a:ext cx="200497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身份权限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095005" y="811054"/>
              <a:ext cx="341919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权限由证书属性和链码入口共同执行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16" name="Group 16"/>
          <p:cNvGrpSpPr/>
          <p:nvPr/>
        </p:nvGrpSpPr>
        <p:grpSpPr>
          <a:xfrm>
            <a:off x="685800" y="1600200"/>
            <a:ext cx="3790950" cy="3714750"/>
            <a:chOff x="685800" y="1600200"/>
            <a:chExt cx="3790950" cy="3714750"/>
          </a:xfrm>
        </p:grpSpPr>
        <p:sp>
          <p:nvSpPr>
            <p:cNvPr id="8" name="Rectangle 8"/>
            <p:cNvSpPr/>
            <p:nvPr/>
          </p:nvSpPr>
          <p:spPr>
            <a:xfrm>
              <a:off x="685800" y="1600200"/>
              <a:ext cx="3790950" cy="3714750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13335">
              <a:solidFill>
                <a:schemeClr val="accent1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685800" y="1600200"/>
              <a:ext cx="76200" cy="371475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23163" y="1743551"/>
              <a:ext cx="122733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四类身份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25449" y="2154079"/>
              <a:ext cx="2366333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issuer：创建待复核凭证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25449" y="2430304"/>
              <a:ext cx="264284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reviewer：独立批准或拒绝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25449" y="2706529"/>
              <a:ext cx="274919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student：读取本人私有明细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25449" y="2982754"/>
              <a:ext cx="190902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verifier：公开验真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25449" y="3258979"/>
              <a:ext cx="320649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同一身份不能同时承担签发与复核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819650" y="1600200"/>
            <a:ext cx="6686550" cy="2286000"/>
            <a:chOff x="4819650" y="1600200"/>
            <a:chExt cx="6686550" cy="2286000"/>
          </a:xfrm>
        </p:grpSpPr>
        <p:sp>
          <p:nvSpPr>
            <p:cNvPr id="17" name="Rectangle 17"/>
            <p:cNvSpPr/>
            <p:nvPr/>
          </p:nvSpPr>
          <p:spPr>
            <a:xfrm>
              <a:off x="4819650" y="1600200"/>
              <a:ext cx="6686550" cy="2286000"/>
            </a:xfrm>
            <a:prstGeom prst="roundRect">
              <a:avLst>
                <a:gd name="adj" fmla="val 3333"/>
              </a:avLst>
            </a:prstGeom>
            <a:solidFill>
              <a:srgbClr val="10283F"/>
            </a:solidFill>
            <a:ln>
              <a:noFill/>
            </a:ln>
          </p:spPr>
        </p:sp>
        <p:sp>
          <p:nvSpPr>
            <p:cNvPr id="18" name="Ellipse 18"/>
            <p:cNvSpPr/>
            <p:nvPr/>
          </p:nvSpPr>
          <p:spPr>
            <a:xfrm>
              <a:off x="4981575" y="1743075"/>
              <a:ext cx="95250" cy="9525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5153025" y="1743075"/>
              <a:ext cx="95250" cy="95250"/>
            </a:xfrm>
            <a:prstGeom prst="ellipse">
              <a:avLst/>
            </a:prstGeom>
            <a:solidFill>
              <a:srgbClr val="D3A84B"/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5324475" y="1743075"/>
              <a:ext cx="95250" cy="9525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022723" y="2005489"/>
              <a:ext cx="307152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6DD3CE"/>
                  </a:solidFill>
                  <a:latin typeface="Consolas"/>
                  <a:ea typeface="Consolas"/>
                  <a:cs typeface="Consolas"/>
                </a:rPr>
                <a:t>const role = attr(ctx, "app.role");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022723" y="2253139"/>
              <a:ext cx="37349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6DD3CE"/>
                  </a:solidFill>
                  <a:latin typeface="Consolas"/>
                  <a:ea typeface="Consolas"/>
                  <a:cs typeface="Consolas"/>
                </a:rPr>
                <a:t>const subject = attr(ctx, "subject.hash");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022723" y="2500789"/>
              <a:ext cx="25441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6DD3CE"/>
                  </a:solidFill>
                  <a:latin typeface="Consolas"/>
                  <a:ea typeface="Consolas"/>
                  <a:cs typeface="Consolas"/>
                </a:rPr>
                <a:t>assertRole(role, "student");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022723" y="2996089"/>
              <a:ext cx="33276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6DD3CE"/>
                  </a:solidFill>
                  <a:latin typeface="Consolas"/>
                  <a:ea typeface="Consolas"/>
                  <a:cs typeface="Consolas"/>
                </a:rPr>
                <a:t>if (subject !== credential.subjectHash)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022723" y="3243739"/>
              <a:ext cx="354401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DCE7EF"/>
                  </a:solidFill>
                  <a:latin typeface="Consolas"/>
                  <a:ea typeface="Consolas"/>
                  <a:cs typeface="Consolas"/>
                </a:rPr>
                <a:t>throw new Error("SUBJECT_MISMATCH");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4819650" y="4114800"/>
            <a:ext cx="6686550" cy="1200150"/>
            <a:chOff x="4819650" y="4114800"/>
            <a:chExt cx="6686550" cy="1200150"/>
          </a:xfrm>
        </p:grpSpPr>
        <p:sp>
          <p:nvSpPr>
            <p:cNvPr id="27" name="Rectangle 27"/>
            <p:cNvSpPr/>
            <p:nvPr/>
          </p:nvSpPr>
          <p:spPr>
            <a:xfrm>
              <a:off x="4819650" y="4114800"/>
              <a:ext cx="6686550" cy="1200150"/>
            </a:xfrm>
            <a:prstGeom prst="roundRect">
              <a:avLst>
                <a:gd name="adj" fmla="val 6349"/>
              </a:avLst>
            </a:prstGeom>
            <a:solidFill>
              <a:srgbClr val="FFFFFF"/>
            </a:solidFill>
            <a:ln w="13335">
              <a:solidFill>
                <a:schemeClr val="accent3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4819650" y="4114800"/>
              <a:ext cx="76200" cy="120015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057013" y="4258151"/>
              <a:ext cx="122733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关键边界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059299" y="4668679"/>
              <a:ext cx="466449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不是 enrollmentId / subjectId；PPT、代码示意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059299" y="4944904"/>
              <a:ext cx="435507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与报告统一使用 app.role 和 subject.hash。</a:t>
              </a:r>
            </a:p>
          </p:txBody>
        </p:sp>
      </p:grpSp>
      <p:sp>
        <p:nvSpPr>
          <p:cNvPr id="33" name="Rectangle 33"/>
          <p:cNvSpPr/>
          <p:nvPr/>
        </p:nvSpPr>
        <p:spPr>
          <a:xfrm>
            <a:off x="685800" y="5600700"/>
            <a:ext cx="1257300" cy="2857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946114" y="5663089"/>
            <a:ext cx="736671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8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职责分离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2087499" y="5640229"/>
            <a:ext cx="5700489" cy="308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issuer 提交，reviewer 使用另一张 Fabric 属性证书复核。</a:t>
            </a:r>
          </a:p>
        </p:txBody>
      </p:sp>
      <p:grpSp>
        <p:nvGrpSpPr>
          <p:cNvPr id="38" name="Group 38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36" name="TextBox 36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140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3" name="TextBox 3"/>
            <p:cNvSpPr txBox="1"/>
            <p:nvPr/>
          </p:nvSpPr>
          <p:spPr>
            <a:xfrm>
              <a:off x="679323" y="376714"/>
              <a:ext cx="11437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02 · 系统设计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643890"/>
              <a:ext cx="1512113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状态机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520405" y="811054"/>
              <a:ext cx="299379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申诉被接受，不会直接修改成绩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21" name="Group 21"/>
          <p:cNvGrpSpPr/>
          <p:nvPr/>
        </p:nvGrpSpPr>
        <p:grpSpPr>
          <a:xfrm>
            <a:off x="685800" y="1562100"/>
            <a:ext cx="10820400" cy="1809750"/>
            <a:chOff x="685800" y="1562100"/>
            <a:chExt cx="10820400" cy="1809750"/>
          </a:xfrm>
        </p:grpSpPr>
        <p:sp>
          <p:nvSpPr>
            <p:cNvPr id="8" name="Rectangle 8"/>
            <p:cNvSpPr/>
            <p:nvPr/>
          </p:nvSpPr>
          <p:spPr>
            <a:xfrm>
              <a:off x="685800" y="1562100"/>
              <a:ext cx="10820400" cy="1809750"/>
            </a:xfrm>
            <a:prstGeom prst="roundRect">
              <a:avLst>
                <a:gd name="adj" fmla="val 4211"/>
              </a:avLst>
            </a:prstGeom>
            <a:solidFill>
              <a:srgbClr val="FFFFFF"/>
            </a:solidFill>
            <a:ln w="13335">
              <a:solidFill>
                <a:schemeClr val="accent1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04875" y="1721644"/>
              <a:ext cx="1142177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成绩状态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52500" y="2266950"/>
              <a:ext cx="1752600" cy="457200"/>
            </a:xfrm>
            <a:prstGeom prst="roundRect">
              <a:avLst>
                <a:gd name="adj" fmla="val 50000"/>
              </a:avLst>
            </a:prstGeom>
            <a:solidFill>
              <a:srgbClr val="D3A84B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159581" y="2432685"/>
              <a:ext cx="1338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PENDING_REVIEW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028950" y="2266950"/>
              <a:ext cx="1752600" cy="4572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625840" y="2432685"/>
              <a:ext cx="5588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ACTIVE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105400" y="2266950"/>
              <a:ext cx="1752600" cy="4572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581315" y="2432685"/>
              <a:ext cx="80077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REJECTED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181850" y="2266950"/>
              <a:ext cx="1752600" cy="4572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689129" y="2432685"/>
              <a:ext cx="73804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REVOKED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9258300" y="2266950"/>
              <a:ext cx="1752600" cy="4572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35642" y="2432685"/>
              <a:ext cx="99791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SUPERSEDED</a:t>
              </a:r>
            </a:p>
          </p:txBody>
        </p:sp>
        <p:sp>
          <p:nvSpPr>
            <p:cNvPr id="20" name="Freeform 20"/>
            <p:cNvSpPr/>
            <p:nvPr/>
          </p:nvSpPr>
          <p:spPr>
            <a:xfrm>
              <a:off x="1828800" y="2952750"/>
              <a:ext cx="8267700" cy="9525"/>
            </a:xfrm>
            <a:custGeom>
              <a:avLst/>
              <a:gdLst/>
              <a:ahLst/>
              <a:cxnLst/>
              <a:rect l="l" t="t" r="r" b="b"/>
              <a:pathLst>
                <a:path w="8267700" h="9525">
                  <a:moveTo>
                    <a:pt x="0" y="0"/>
                  </a:moveTo>
                  <a:lnTo>
                    <a:pt x="8267700" y="0"/>
                  </a:lnTo>
                </a:path>
              </a:pathLst>
            </a:custGeom>
            <a:solidFill>
              <a:srgbClr val="000000"/>
            </a:solidFill>
            <a:ln w="19050">
              <a:solidFill>
                <a:schemeClr val="accent6"/>
              </a:solidFill>
              <a:custDash>
                <a:ds d="400000" sp="400000"/>
              </a:custDash>
            </a:ln>
          </p:spPr>
        </p:sp>
      </p:grpSp>
      <p:grpSp>
        <p:nvGrpSpPr>
          <p:cNvPr id="31" name="Group 31"/>
          <p:cNvGrpSpPr/>
          <p:nvPr/>
        </p:nvGrpSpPr>
        <p:grpSpPr>
          <a:xfrm>
            <a:off x="685800" y="3638550"/>
            <a:ext cx="6191250" cy="2095500"/>
            <a:chOff x="685800" y="3638550"/>
            <a:chExt cx="6191250" cy="2095500"/>
          </a:xfrm>
        </p:grpSpPr>
        <p:sp>
          <p:nvSpPr>
            <p:cNvPr id="22" name="Rectangle 22"/>
            <p:cNvSpPr/>
            <p:nvPr/>
          </p:nvSpPr>
          <p:spPr>
            <a:xfrm>
              <a:off x="685800" y="3638550"/>
              <a:ext cx="6191250" cy="2095500"/>
            </a:xfrm>
            <a:prstGeom prst="roundRect">
              <a:avLst>
                <a:gd name="adj" fmla="val 3636"/>
              </a:avLst>
            </a:prstGeom>
            <a:solidFill>
              <a:srgbClr val="FFFFFF"/>
            </a:solidFill>
            <a:ln w="13335">
              <a:solidFill>
                <a:schemeClr val="accent2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04875" y="3807619"/>
              <a:ext cx="1142177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申诉状态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933450" y="4362450"/>
              <a:ext cx="1657350" cy="457200"/>
            </a:xfrm>
            <a:prstGeom prst="roundRect">
              <a:avLst>
                <a:gd name="adj" fmla="val 50000"/>
              </a:avLst>
            </a:prstGeom>
            <a:solidFill>
              <a:srgbClr val="D3A84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568607" y="4544378"/>
              <a:ext cx="38703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OPEN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2857500" y="4362450"/>
              <a:ext cx="1657350" cy="4572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2932027" y="4544378"/>
              <a:ext cx="150829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RESOLVED_ACCEPTED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4781550" y="4362450"/>
              <a:ext cx="1657350" cy="4572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856077" y="4544378"/>
              <a:ext cx="150829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RESOLVED_REJECTED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26211" y="5151596"/>
              <a:ext cx="32642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申诉状态记录裁决，不改写凭证对象。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7181850" y="3638550"/>
            <a:ext cx="4324350" cy="2095500"/>
            <a:chOff x="7181850" y="3638550"/>
            <a:chExt cx="4324350" cy="2095500"/>
          </a:xfrm>
        </p:grpSpPr>
        <p:sp>
          <p:nvSpPr>
            <p:cNvPr id="32" name="Rectangle 32"/>
            <p:cNvSpPr/>
            <p:nvPr/>
          </p:nvSpPr>
          <p:spPr>
            <a:xfrm>
              <a:off x="7181850" y="3638550"/>
              <a:ext cx="4324350" cy="2095500"/>
            </a:xfrm>
            <a:prstGeom prst="roundRect">
              <a:avLst>
                <a:gd name="adj" fmla="val 4545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438263" y="3820001"/>
              <a:ext cx="2781047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接受申诉 ≠ 直接改分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438263" y="4143851"/>
              <a:ext cx="2132411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教师创建新版本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438263" y="4467701"/>
              <a:ext cx="3324091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独立 reviewer 再次复核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37" name="TextBox 37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140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3" name="TextBox 3"/>
            <p:cNvSpPr txBox="1"/>
            <p:nvPr/>
          </p:nvSpPr>
          <p:spPr>
            <a:xfrm>
              <a:off x="679323" y="376714"/>
              <a:ext cx="11437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02 · 系统设计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643890"/>
              <a:ext cx="200497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修订机制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6818808" y="811054"/>
              <a:ext cx="4695393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不覆盖原对象，用版本链协调不可篡改与现实纠错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24" name="Group 24"/>
          <p:cNvGrpSpPr/>
          <p:nvPr/>
        </p:nvGrpSpPr>
        <p:grpSpPr>
          <a:xfrm>
            <a:off x="685800" y="1666875"/>
            <a:ext cx="10820400" cy="3124200"/>
            <a:chOff x="685800" y="1666875"/>
            <a:chExt cx="10820400" cy="3124200"/>
          </a:xfrm>
        </p:grpSpPr>
        <p:sp>
          <p:nvSpPr>
            <p:cNvPr id="8" name="Rectangle 8"/>
            <p:cNvSpPr/>
            <p:nvPr/>
          </p:nvSpPr>
          <p:spPr>
            <a:xfrm>
              <a:off x="685800" y="1666875"/>
              <a:ext cx="10820400" cy="3124200"/>
            </a:xfrm>
            <a:prstGeom prst="roundRect">
              <a:avLst>
                <a:gd name="adj" fmla="val 2439"/>
              </a:avLst>
            </a:prstGeom>
            <a:solidFill>
              <a:srgbClr val="FFFFFF"/>
            </a:solidFill>
            <a:ln w="13335">
              <a:solidFill>
                <a:schemeClr val="accent6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066800" y="2247900"/>
              <a:ext cx="3028950" cy="1752600"/>
            </a:xfrm>
            <a:prstGeom prst="roundRect">
              <a:avLst>
                <a:gd name="adj" fmla="val 5435"/>
              </a:avLst>
            </a:prstGeom>
            <a:solidFill>
              <a:srgbClr val="EEF3F8"/>
            </a:solidFill>
            <a:ln w="9525">
              <a:solidFill>
                <a:schemeClr val="accent1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284732" y="2383155"/>
              <a:ext cx="166794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旧版本 · v1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88542" y="2864168"/>
              <a:ext cx="154939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cred:2026:web01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1295400" y="3257550"/>
              <a:ext cx="1562100" cy="28575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544254" y="3319939"/>
              <a:ext cx="106439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SUPERSEDED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288542" y="3673792"/>
              <a:ext cx="23165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保留原始 detailHash 与历史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4286250" y="3124200"/>
              <a:ext cx="3295650" cy="9525"/>
            </a:xfrm>
            <a:custGeom>
              <a:avLst/>
              <a:gdLst/>
              <a:ahLst/>
              <a:cxnLst/>
              <a:rect l="l" t="t" r="r" b="b"/>
              <a:pathLst>
                <a:path w="3295650" h="9525">
                  <a:moveTo>
                    <a:pt x="0" y="0"/>
                  </a:moveTo>
                  <a:lnTo>
                    <a:pt x="3295650" y="0"/>
                  </a:lnTo>
                </a:path>
              </a:pathLst>
            </a:custGeom>
            <a:solidFill>
              <a:srgbClr val="000000"/>
            </a:solidFill>
            <a:ln w="28575">
              <a:solidFill>
                <a:schemeClr val="accent2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7524750" y="3057525"/>
              <a:ext cx="171450" cy="133350"/>
            </a:xfrm>
            <a:custGeom>
              <a:avLst/>
              <a:gdLst/>
              <a:ahLst/>
              <a:cxnLst/>
              <a:rect l="l" t="t" r="r" b="b"/>
              <a:pathLst>
                <a:path w="171450" h="133350">
                  <a:moveTo>
                    <a:pt x="0" y="0"/>
                  </a:moveTo>
                  <a:lnTo>
                    <a:pt x="171450" y="66675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034372" y="2692718"/>
              <a:ext cx="19327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previousCredentialId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905750" y="2247900"/>
              <a:ext cx="3028950" cy="1752600"/>
            </a:xfrm>
            <a:prstGeom prst="roundRect">
              <a:avLst>
                <a:gd name="adj" fmla="val 5435"/>
              </a:avLst>
            </a:prstGeom>
            <a:solidFill>
              <a:srgbClr val="E6EFEC"/>
            </a:solidFill>
            <a:ln w="9525">
              <a:solidFill>
                <a:schemeClr val="accent3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123682" y="2383155"/>
              <a:ext cx="166794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新版本 · v2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127492" y="2864168"/>
              <a:ext cx="18492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cred:2026:web01-v2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134350" y="3257550"/>
              <a:ext cx="1066800" cy="28575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369738" y="3319939"/>
              <a:ext cx="59602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ACTIVE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127492" y="3673792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重新签发并经过独立复核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676400" y="5105400"/>
            <a:ext cx="8839200" cy="666750"/>
            <a:chOff x="1676400" y="5105400"/>
            <a:chExt cx="8839200" cy="666750"/>
          </a:xfrm>
        </p:grpSpPr>
        <p:sp>
          <p:nvSpPr>
            <p:cNvPr id="25" name="Rectangle 25"/>
            <p:cNvSpPr/>
            <p:nvPr/>
          </p:nvSpPr>
          <p:spPr>
            <a:xfrm>
              <a:off x="1676400" y="5105400"/>
              <a:ext cx="8839200" cy="6667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932813" y="5286851"/>
              <a:ext cx="729132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历史不被删除；“当前有效版本”由链上状态明确指出。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28" name="TextBox 28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140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3" name="TextBox 3"/>
            <p:cNvSpPr txBox="1"/>
            <p:nvPr/>
          </p:nvSpPr>
          <p:spPr>
            <a:xfrm>
              <a:off x="679323" y="376714"/>
              <a:ext cx="11437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02 · 系统设计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643890"/>
              <a:ext cx="249783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批量原子性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669606" y="811054"/>
              <a:ext cx="384459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前端逐行预检，链上整批成功或整批失败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32" name="Group 32"/>
          <p:cNvGrpSpPr/>
          <p:nvPr/>
        </p:nvGrpSpPr>
        <p:grpSpPr>
          <a:xfrm>
            <a:off x="605028" y="1600200"/>
            <a:ext cx="7319772" cy="3048000"/>
            <a:chOff x="605028" y="1600200"/>
            <a:chExt cx="7319772" cy="3048000"/>
          </a:xfrm>
        </p:grpSpPr>
        <p:sp>
          <p:nvSpPr>
            <p:cNvPr id="8" name="Rectangle 8"/>
            <p:cNvSpPr/>
            <p:nvPr/>
          </p:nvSpPr>
          <p:spPr>
            <a:xfrm>
              <a:off x="685800" y="1600200"/>
              <a:ext cx="7239000" cy="3048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13335">
              <a:solidFill>
                <a:schemeClr val="accent6"/>
              </a:solidFill>
            </a:ln>
          </p:spPr>
        </p:sp>
        <p:sp>
          <p:nvSpPr>
            <p:cNvPr id="9" name="Ellipse 9"/>
            <p:cNvSpPr/>
            <p:nvPr/>
          </p:nvSpPr>
          <p:spPr>
            <a:xfrm>
              <a:off x="990600" y="2114550"/>
              <a:ext cx="533400" cy="533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191373" y="22955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2471" y="2766536"/>
              <a:ext cx="124965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CSV 解析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05028" y="3156585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逐行提示格式错误</a:t>
              </a:r>
            </a:p>
          </p:txBody>
        </p:sp>
        <p:sp>
          <p:nvSpPr>
            <p:cNvPr id="13" name="Freeform 13"/>
            <p:cNvSpPr/>
            <p:nvPr/>
          </p:nvSpPr>
          <p:spPr>
            <a:xfrm>
              <a:off x="1562100" y="2381250"/>
              <a:ext cx="533400" cy="9525"/>
            </a:xfrm>
            <a:custGeom>
              <a:avLst/>
              <a:gdLst/>
              <a:ahLst/>
              <a:cxnLst/>
              <a:rect l="l" t="t" r="r" b="b"/>
              <a:pathLst>
                <a:path w="533400" h="9525">
                  <a:moveTo>
                    <a:pt x="0" y="0"/>
                  </a:moveTo>
                  <a:lnTo>
                    <a:pt x="533400" y="0"/>
                  </a:lnTo>
                </a:path>
              </a:pathLst>
            </a:custGeom>
            <a:solidFill>
              <a:srgbClr val="000000"/>
            </a:solidFill>
            <a:ln w="28575">
              <a:solidFill>
                <a:schemeClr val="accent6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2038350" y="2314575"/>
              <a:ext cx="171450" cy="133350"/>
            </a:xfrm>
            <a:custGeom>
              <a:avLst/>
              <a:gdLst/>
              <a:ahLst/>
              <a:cxnLst/>
              <a:rect l="l" t="t" r="r" b="b"/>
              <a:pathLst>
                <a:path w="171450" h="133350">
                  <a:moveTo>
                    <a:pt x="0" y="0"/>
                  </a:moveTo>
                  <a:lnTo>
                    <a:pt x="171450" y="66675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</p:sp>
        <p:sp>
          <p:nvSpPr>
            <p:cNvPr id="15" name="Ellipse 15"/>
            <p:cNvSpPr/>
            <p:nvPr/>
          </p:nvSpPr>
          <p:spPr>
            <a:xfrm>
              <a:off x="2743200" y="2114550"/>
              <a:ext cx="533400" cy="533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2943973" y="22955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487366" y="2766536"/>
              <a:ext cx="104506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整批提交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104056" y="3156585"/>
              <a:ext cx="18116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CreateCredentialBatch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3314700" y="2381250"/>
              <a:ext cx="533400" cy="9525"/>
            </a:xfrm>
            <a:custGeom>
              <a:avLst/>
              <a:gdLst/>
              <a:ahLst/>
              <a:cxnLst/>
              <a:rect l="l" t="t" r="r" b="b"/>
              <a:pathLst>
                <a:path w="533400" h="9525">
                  <a:moveTo>
                    <a:pt x="0" y="0"/>
                  </a:moveTo>
                  <a:lnTo>
                    <a:pt x="533400" y="0"/>
                  </a:lnTo>
                </a:path>
              </a:pathLst>
            </a:custGeom>
            <a:solidFill>
              <a:srgbClr val="000000"/>
            </a:solidFill>
            <a:ln w="28575">
              <a:solidFill>
                <a:schemeClr val="accent6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3790950" y="2314575"/>
              <a:ext cx="171450" cy="133350"/>
            </a:xfrm>
            <a:custGeom>
              <a:avLst/>
              <a:gdLst/>
              <a:ahLst/>
              <a:cxnLst/>
              <a:rect l="l" t="t" r="r" b="b"/>
              <a:pathLst>
                <a:path w="171450" h="133350">
                  <a:moveTo>
                    <a:pt x="0" y="0"/>
                  </a:moveTo>
                  <a:lnTo>
                    <a:pt x="171450" y="66675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4495800" y="2114550"/>
              <a:ext cx="533400" cy="533400"/>
            </a:xfrm>
            <a:prstGeom prst="ellipse">
              <a:avLst/>
            </a:prstGeom>
            <a:solidFill>
              <a:srgbClr val="D3A84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696573" y="22955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239966" y="2766536"/>
              <a:ext cx="104506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单笔交易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035247" y="3156585"/>
              <a:ext cx="14545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验证全部 ID 与字段</a:t>
              </a:r>
            </a:p>
          </p:txBody>
        </p:sp>
        <p:sp>
          <p:nvSpPr>
            <p:cNvPr id="25" name="Freeform 25"/>
            <p:cNvSpPr/>
            <p:nvPr/>
          </p:nvSpPr>
          <p:spPr>
            <a:xfrm>
              <a:off x="5067300" y="2381250"/>
              <a:ext cx="533400" cy="9525"/>
            </a:xfrm>
            <a:custGeom>
              <a:avLst/>
              <a:gdLst/>
              <a:ahLst/>
              <a:cxnLst/>
              <a:rect l="l" t="t" r="r" b="b"/>
              <a:pathLst>
                <a:path w="533400" h="9525">
                  <a:moveTo>
                    <a:pt x="0" y="0"/>
                  </a:moveTo>
                  <a:lnTo>
                    <a:pt x="533400" y="0"/>
                  </a:lnTo>
                </a:path>
              </a:pathLst>
            </a:custGeom>
            <a:solidFill>
              <a:srgbClr val="000000"/>
            </a:solidFill>
            <a:ln w="28575">
              <a:solidFill>
                <a:schemeClr val="accent6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5543550" y="2314575"/>
              <a:ext cx="171450" cy="133350"/>
            </a:xfrm>
            <a:custGeom>
              <a:avLst/>
              <a:gdLst/>
              <a:ahLst/>
              <a:cxnLst/>
              <a:rect l="l" t="t" r="r" b="b"/>
              <a:pathLst>
                <a:path w="171450" h="133350">
                  <a:moveTo>
                    <a:pt x="0" y="0"/>
                  </a:moveTo>
                  <a:lnTo>
                    <a:pt x="171450" y="66675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</p:sp>
        <p:sp>
          <p:nvSpPr>
            <p:cNvPr id="27" name="Ellipse 27"/>
            <p:cNvSpPr/>
            <p:nvPr/>
          </p:nvSpPr>
          <p:spPr>
            <a:xfrm>
              <a:off x="6248400" y="2114550"/>
              <a:ext cx="533400" cy="5334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49173" y="229552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992566" y="2766536"/>
              <a:ext cx="104506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原子写入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782056" y="3156585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全部成功或全部回滚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212270" y="4113371"/>
              <a:ext cx="418606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一次 Fabric transaction 内完成整批验证和写入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8267700" y="1600200"/>
            <a:ext cx="3238500" cy="3048000"/>
            <a:chOff x="8267700" y="1600200"/>
            <a:chExt cx="3238500" cy="3048000"/>
          </a:xfrm>
        </p:grpSpPr>
        <p:sp>
          <p:nvSpPr>
            <p:cNvPr id="33" name="Rectangle 33"/>
            <p:cNvSpPr/>
            <p:nvPr/>
          </p:nvSpPr>
          <p:spPr>
            <a:xfrm>
              <a:off x="8267700" y="1600200"/>
              <a:ext cx="3238500" cy="3048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13335">
              <a:solidFill>
                <a:schemeClr val="accent2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8267700" y="1600200"/>
              <a:ext cx="76200" cy="3048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505063" y="1743551"/>
              <a:ext cx="122733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冲突实验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507349" y="2154079"/>
              <a:ext cx="207236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批次含一个已存在 ID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507349" y="2430304"/>
              <a:ext cx="191504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提交返回 HTTP 409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507349" y="2706529"/>
              <a:ext cx="169030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同批新 ID 再查询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507349" y="2982754"/>
              <a:ext cx="191504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结果仍为 HTTP 404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507349" y="3258979"/>
              <a:ext cx="195156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因此没有“成功一半”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581150" y="5048250"/>
            <a:ext cx="9029700" cy="704850"/>
            <a:chOff x="1581150" y="5048250"/>
            <a:chExt cx="9029700" cy="704850"/>
          </a:xfrm>
        </p:grpSpPr>
        <p:sp>
          <p:nvSpPr>
            <p:cNvPr id="42" name="Rectangle 42"/>
            <p:cNvSpPr/>
            <p:nvPr/>
          </p:nvSpPr>
          <p:spPr>
            <a:xfrm>
              <a:off x="1581150" y="5048250"/>
              <a:ext cx="9029700" cy="704850"/>
            </a:xfrm>
            <a:prstGeom prst="roundRect">
              <a:avLst>
                <a:gd name="adj" fmla="val 13514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837563" y="5229701"/>
              <a:ext cx="695946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rgbClr val="FFFFFF"/>
                  </a:solidFill>
                  <a:latin typeface="+mj-lt"/>
                  <a:ea typeface="+mj-ea"/>
                  <a:cs typeface="+mj-cs"/>
                </a:rPr>
                <a:t>交互可以逐行解释错误，账本提交必须保持原子性。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45" name="TextBox 45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140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3" name="TextBox 3"/>
            <p:cNvSpPr txBox="1"/>
            <p:nvPr/>
          </p:nvSpPr>
          <p:spPr>
            <a:xfrm>
              <a:off x="679323" y="376714"/>
              <a:ext cx="11437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02 · 系统设计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643890"/>
              <a:ext cx="200497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角色交互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456907" y="811054"/>
              <a:ext cx="405729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真实界面证明系统能够按角色完成任务闭环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10" name="Group 10"/>
          <p:cNvGrpSpPr/>
          <p:nvPr/>
        </p:nvGrpSpPr>
        <p:grpSpPr>
          <a:xfrm>
            <a:off x="685800" y="1543050"/>
            <a:ext cx="6191250" cy="3714750"/>
            <a:chOff x="685800" y="1543050"/>
            <a:chExt cx="6191250" cy="3714750"/>
          </a:xfrm>
        </p:grpSpPr>
        <p:sp>
          <p:nvSpPr>
            <p:cNvPr id="8" name="Rectangle 8"/>
            <p:cNvSpPr/>
            <p:nvPr/>
          </p:nvSpPr>
          <p:spPr>
            <a:xfrm>
              <a:off x="685800" y="1543050"/>
              <a:ext cx="6191250" cy="3714750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13335">
              <a:solidFill>
                <a:schemeClr val="accent6"/>
              </a:solidFill>
            </a:ln>
          </p:spPr>
        </p:sp>
        <p:pic>
          <p:nvPicPr>
            <p:cNvPr id="9" name="Image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81088" y="1600200"/>
              <a:ext cx="5400675" cy="3600450"/>
            </a:xfrm>
            <a:prstGeom prst="rect">
              <a:avLst/>
            </a:prstGeom>
          </p:spPr>
        </p:pic>
      </p:grpSp>
      <p:grpSp>
        <p:nvGrpSpPr>
          <p:cNvPr id="13" name="Group 13"/>
          <p:cNvGrpSpPr/>
          <p:nvPr/>
        </p:nvGrpSpPr>
        <p:grpSpPr>
          <a:xfrm>
            <a:off x="7181850" y="1543050"/>
            <a:ext cx="2000250" cy="3714750"/>
            <a:chOff x="7181850" y="1543050"/>
            <a:chExt cx="2000250" cy="3714750"/>
          </a:xfrm>
        </p:grpSpPr>
        <p:sp>
          <p:nvSpPr>
            <p:cNvPr id="11" name="Rectangle 11"/>
            <p:cNvSpPr/>
            <p:nvPr/>
          </p:nvSpPr>
          <p:spPr>
            <a:xfrm>
              <a:off x="7181850" y="1543050"/>
              <a:ext cx="2000250" cy="3714750"/>
            </a:xfrm>
            <a:prstGeom prst="roundRect">
              <a:avLst>
                <a:gd name="adj" fmla="val 3810"/>
              </a:avLst>
            </a:prstGeom>
            <a:solidFill>
              <a:srgbClr val="FFFFFF"/>
            </a:solidFill>
            <a:ln w="13335">
              <a:solidFill>
                <a:schemeClr val="accent6"/>
              </a:solidFill>
            </a:ln>
          </p:spPr>
        </p:sp>
        <p:pic>
          <p:nvPicPr>
            <p:cNvPr id="12" name="Image 1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467232" y="1600200"/>
              <a:ext cx="1429487" cy="3600450"/>
            </a:xfrm>
            <a:prstGeom prst="rect">
              <a:avLst/>
            </a:prstGeom>
          </p:spPr>
        </p:pic>
      </p:grpSp>
      <p:grpSp>
        <p:nvGrpSpPr>
          <p:cNvPr id="16" name="Group 16"/>
          <p:cNvGrpSpPr/>
          <p:nvPr/>
        </p:nvGrpSpPr>
        <p:grpSpPr>
          <a:xfrm>
            <a:off x="9505950" y="1543050"/>
            <a:ext cx="2000250" cy="3714750"/>
            <a:chOff x="9505950" y="1543050"/>
            <a:chExt cx="2000250" cy="3714750"/>
          </a:xfrm>
        </p:grpSpPr>
        <p:sp>
          <p:nvSpPr>
            <p:cNvPr id="14" name="Rectangle 14"/>
            <p:cNvSpPr/>
            <p:nvPr/>
          </p:nvSpPr>
          <p:spPr>
            <a:xfrm>
              <a:off x="9505950" y="1543050"/>
              <a:ext cx="2000250" cy="3714750"/>
            </a:xfrm>
            <a:prstGeom prst="roundRect">
              <a:avLst>
                <a:gd name="adj" fmla="val 3810"/>
              </a:avLst>
            </a:prstGeom>
            <a:solidFill>
              <a:srgbClr val="FFFFFF"/>
            </a:solidFill>
            <a:ln w="13335">
              <a:solidFill>
                <a:schemeClr val="accent6"/>
              </a:solidFill>
            </a:ln>
          </p:spPr>
        </p:sp>
        <p:pic>
          <p:nvPicPr>
            <p:cNvPr id="15" name="Image 15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756450" y="1600200"/>
              <a:ext cx="1499250" cy="3600450"/>
            </a:xfrm>
            <a:prstGeom prst="rect">
              <a:avLst/>
            </a:prstGeom>
          </p:spPr>
        </p:pic>
      </p:grpSp>
      <p:grpSp>
        <p:nvGrpSpPr>
          <p:cNvPr id="21" name="Group 21"/>
          <p:cNvGrpSpPr/>
          <p:nvPr/>
        </p:nvGrpSpPr>
        <p:grpSpPr>
          <a:xfrm>
            <a:off x="3108079" y="5483542"/>
            <a:ext cx="8087050" cy="603981"/>
            <a:chOff x="3108079" y="5483542"/>
            <a:chExt cx="8087050" cy="603981"/>
          </a:xfrm>
        </p:grpSpPr>
        <p:sp>
          <p:nvSpPr>
            <p:cNvPr id="17" name="TextBox 17"/>
            <p:cNvSpPr txBox="1"/>
            <p:nvPr/>
          </p:nvSpPr>
          <p:spPr>
            <a:xfrm>
              <a:off x="3297507" y="5483542"/>
              <a:ext cx="9678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工作台总览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302098" y="5483542"/>
              <a:ext cx="17597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教师签发 / 批量导入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817022" y="5483542"/>
              <a:ext cx="13781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学生持有 / 申诉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108079" y="5808821"/>
              <a:ext cx="59758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所有截图均来自真实系统，并已排除带 DevTools 检查覆盖层的版本。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22" name="TextBox 22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140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3" name="TextBox 3"/>
            <p:cNvSpPr txBox="1"/>
            <p:nvPr/>
          </p:nvSpPr>
          <p:spPr>
            <a:xfrm>
              <a:off x="679323" y="376714"/>
              <a:ext cx="11437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02 · 系统设计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643890"/>
              <a:ext cx="2666817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VC 互操作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456907" y="811054"/>
              <a:ext cx="405729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签名正确只是必要条件，不是最终可信结论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10" name="Group 10"/>
          <p:cNvGrpSpPr/>
          <p:nvPr/>
        </p:nvGrpSpPr>
        <p:grpSpPr>
          <a:xfrm>
            <a:off x="685800" y="1562100"/>
            <a:ext cx="4095750" cy="3848100"/>
            <a:chOff x="685800" y="1562100"/>
            <a:chExt cx="4095750" cy="3848100"/>
          </a:xfrm>
        </p:grpSpPr>
        <p:sp>
          <p:nvSpPr>
            <p:cNvPr id="8" name="Rectangle 8"/>
            <p:cNvSpPr/>
            <p:nvPr/>
          </p:nvSpPr>
          <p:spPr>
            <a:xfrm>
              <a:off x="685800" y="1562100"/>
              <a:ext cx="4095750" cy="384810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13335">
              <a:solidFill>
                <a:schemeClr val="accent6"/>
              </a:solidFill>
            </a:ln>
          </p:spPr>
        </p:sp>
        <p:pic>
          <p:nvPicPr>
            <p:cNvPr id="9" name="Image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1378" y="1619250"/>
              <a:ext cx="2604593" cy="3733800"/>
            </a:xfrm>
            <a:prstGeom prst="rect">
              <a:avLst/>
            </a:prstGeom>
          </p:spPr>
        </p:pic>
      </p:grpSp>
      <p:grpSp>
        <p:nvGrpSpPr>
          <p:cNvPr id="28" name="Group 28"/>
          <p:cNvGrpSpPr/>
          <p:nvPr/>
        </p:nvGrpSpPr>
        <p:grpSpPr>
          <a:xfrm>
            <a:off x="5124450" y="1562100"/>
            <a:ext cx="6381750" cy="2971800"/>
            <a:chOff x="5124450" y="1562100"/>
            <a:chExt cx="6381750" cy="2971800"/>
          </a:xfrm>
        </p:grpSpPr>
        <p:sp>
          <p:nvSpPr>
            <p:cNvPr id="11" name="Rectangle 11"/>
            <p:cNvSpPr/>
            <p:nvPr/>
          </p:nvSpPr>
          <p:spPr>
            <a:xfrm>
              <a:off x="5124450" y="1562100"/>
              <a:ext cx="6381750" cy="2971800"/>
            </a:xfrm>
            <a:prstGeom prst="roundRect">
              <a:avLst>
                <a:gd name="adj" fmla="val 2564"/>
              </a:avLst>
            </a:prstGeom>
            <a:solidFill>
              <a:srgbClr val="FFFFFF"/>
            </a:solidFill>
            <a:ln w="13335">
              <a:solidFill>
                <a:schemeClr val="accent6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381244" y="1704022"/>
              <a:ext cx="147599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五层验证栈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91150" y="2114550"/>
              <a:ext cx="1638300" cy="32385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924923" y="2202656"/>
              <a:ext cx="570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Schema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32142" y="21783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结构符合约定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91150" y="2562225"/>
              <a:ext cx="1638300" cy="32385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716761" y="2650331"/>
              <a:ext cx="9870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Issuer Trust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232142" y="2626042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签发者在信任列表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91150" y="3009900"/>
              <a:ext cx="1638300" cy="32385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830209" y="3098006"/>
              <a:ext cx="7601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Signature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232142" y="307371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文件内容未被篡改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91150" y="3457575"/>
              <a:ext cx="1638300" cy="32385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605310" y="3545681"/>
              <a:ext cx="12099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Status / Expiry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232142" y="3521392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未撤销、未替代、未过期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91150" y="3905250"/>
              <a:ext cx="1638300" cy="32385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653252" y="3993356"/>
              <a:ext cx="11140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</a:rPr>
                <a:t>Ledger Anchor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232142" y="396906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详情哈希与链上承诺一致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5124450" y="4762500"/>
            <a:ext cx="6381750" cy="1104900"/>
            <a:chOff x="5124450" y="4762500"/>
            <a:chExt cx="6381750" cy="1104900"/>
          </a:xfrm>
        </p:grpSpPr>
        <p:sp>
          <p:nvSpPr>
            <p:cNvPr id="29" name="Rectangle 29"/>
            <p:cNvSpPr/>
            <p:nvPr/>
          </p:nvSpPr>
          <p:spPr>
            <a:xfrm>
              <a:off x="5124450" y="4762500"/>
              <a:ext cx="6381750" cy="1104900"/>
            </a:xfrm>
            <a:prstGeom prst="roundRect">
              <a:avLst>
                <a:gd name="adj" fmla="val 6897"/>
              </a:avLst>
            </a:prstGeom>
            <a:solidFill>
              <a:srgbClr val="FFFFFF"/>
            </a:solidFill>
            <a:ln w="13335">
              <a:solidFill>
                <a:schemeClr val="accent2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5124450" y="4762500"/>
              <a:ext cx="76200" cy="11049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361813" y="4905851"/>
              <a:ext cx="122733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负向用例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365242" y="5283518"/>
              <a:ext cx="434385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篡改、REVOKED、SUPERSEDED、错误锚定均应失败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365242" y="5502592"/>
              <a:ext cx="429585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当前有限披露是字段级授权，不宣称 BBS+ / ZKP。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35" name="TextBox 35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420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>
              <a:alpha val="42000"/>
            </a:scheme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286375" cy="6858000"/>
          </a:xfrm>
          <a:prstGeom prst="rect">
            <a:avLst/>
          </a:prstGeom>
          <a:solidFill>
            <a:schemeClr val="lt1">
              <a:alpha val="93000"/>
            </a:schemeClr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666750" y="1170622"/>
            <a:ext cx="1516685" cy="18192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450" dirty="0">
                <a:solidFill>
                  <a:schemeClr val="accent3">
                    <a:alphaMod val="90000"/>
                  </a:schemeClr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67512" y="2716530"/>
            <a:ext cx="4875581" cy="7040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600" b="1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实验验证与工程证据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3448050"/>
            <a:ext cx="3790950" cy="9525"/>
          </a:xfrm>
          <a:custGeom>
            <a:avLst/>
            <a:gdLst/>
            <a:ahLst/>
            <a:cxnLst/>
            <a:rect l="l" t="t" r="r" b="b"/>
            <a:pathLst>
              <a:path w="3790950" h="9525">
                <a:moveTo>
                  <a:pt x="0" y="0"/>
                </a:moveTo>
                <a:lnTo>
                  <a:pt x="3790950" y="0"/>
                </a:lnTo>
              </a:path>
            </a:pathLst>
          </a:custGeom>
          <a:noFill/>
          <a:ln w="47625">
            <a:solidFill>
              <a:schemeClr val="accent2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677037" y="3757136"/>
            <a:ext cx="2819237" cy="3373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72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用主张—机制—证据逐项验收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9704" y="6156960"/>
            <a:ext cx="17112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ChainGrade · 课程答辩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299449" y="6358414"/>
            <a:ext cx="213228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28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140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3" name="TextBox 3"/>
            <p:cNvSpPr txBox="1"/>
            <p:nvPr/>
          </p:nvSpPr>
          <p:spPr>
            <a:xfrm>
              <a:off x="679323" y="376714"/>
              <a:ext cx="11437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03 · 实验验证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643890"/>
              <a:ext cx="200497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实验方法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499135" y="811054"/>
              <a:ext cx="301506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7 类负载 × 4 档并发 × 3 轮 = 84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685800" y="1581150"/>
            <a:ext cx="3143250" cy="1352550"/>
            <a:chOff x="685800" y="1581150"/>
            <a:chExt cx="3143250" cy="1352550"/>
          </a:xfrm>
        </p:grpSpPr>
        <p:sp>
          <p:nvSpPr>
            <p:cNvPr id="8" name="Rectangle 8"/>
            <p:cNvSpPr/>
            <p:nvPr/>
          </p:nvSpPr>
          <p:spPr>
            <a:xfrm>
              <a:off x="685800" y="1581150"/>
              <a:ext cx="3143250" cy="1352550"/>
            </a:xfrm>
            <a:prstGeom prst="roundRect">
              <a:avLst>
                <a:gd name="adj" fmla="val 5634"/>
              </a:avLst>
            </a:prstGeom>
            <a:solidFill>
              <a:srgbClr val="FFFFFF"/>
            </a:solidFill>
            <a:ln w="13335">
              <a:solidFill>
                <a:schemeClr val="accent1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69823" y="1738789"/>
              <a:ext cx="7366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负载类型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62584" y="2070735"/>
              <a:ext cx="773445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7 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69823" y="2548414"/>
              <a:ext cx="233918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public/private/write/batch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4524375" y="1581150"/>
            <a:ext cx="3143250" cy="1352550"/>
            <a:chOff x="4524375" y="1581150"/>
            <a:chExt cx="3143250" cy="1352550"/>
          </a:xfrm>
        </p:grpSpPr>
        <p:sp>
          <p:nvSpPr>
            <p:cNvPr id="13" name="Rectangle 13"/>
            <p:cNvSpPr/>
            <p:nvPr/>
          </p:nvSpPr>
          <p:spPr>
            <a:xfrm>
              <a:off x="4524375" y="1581150"/>
              <a:ext cx="3143250" cy="1352550"/>
            </a:xfrm>
            <a:prstGeom prst="roundRect">
              <a:avLst>
                <a:gd name="adj" fmla="val 5634"/>
              </a:avLst>
            </a:prstGeom>
            <a:solidFill>
              <a:srgbClr val="FFFFFF"/>
            </a:solidFill>
            <a:ln w="13335">
              <a:solidFill>
                <a:schemeClr val="accent3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4708398" y="1738789"/>
              <a:ext cx="7366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并发档位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701159" y="2070735"/>
              <a:ext cx="773445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4 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708398" y="2548414"/>
              <a:ext cx="11760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 / 5 / 10 / 20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8362950" y="1581150"/>
            <a:ext cx="3143250" cy="1352550"/>
            <a:chOff x="8362950" y="1581150"/>
            <a:chExt cx="3143250" cy="1352550"/>
          </a:xfrm>
        </p:grpSpPr>
        <p:sp>
          <p:nvSpPr>
            <p:cNvPr id="18" name="Rectangle 18"/>
            <p:cNvSpPr/>
            <p:nvPr/>
          </p:nvSpPr>
          <p:spPr>
            <a:xfrm>
              <a:off x="8362950" y="1581150"/>
              <a:ext cx="3143250" cy="1352550"/>
            </a:xfrm>
            <a:prstGeom prst="roundRect">
              <a:avLst>
                <a:gd name="adj" fmla="val 5634"/>
              </a:avLst>
            </a:prstGeom>
            <a:solidFill>
              <a:srgbClr val="FFFFFF"/>
            </a:solidFill>
            <a:ln w="13335">
              <a:solidFill>
                <a:schemeClr val="accent2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546973" y="1738789"/>
              <a:ext cx="7366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重复次数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539734" y="2070735"/>
              <a:ext cx="773445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3 轮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546973" y="254841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每个组合独立执行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685800" y="3295650"/>
            <a:ext cx="10820400" cy="2171700"/>
            <a:chOff x="685800" y="3295650"/>
            <a:chExt cx="10820400" cy="2171700"/>
          </a:xfrm>
        </p:grpSpPr>
        <p:sp>
          <p:nvSpPr>
            <p:cNvPr id="23" name="Rectangle 23"/>
            <p:cNvSpPr/>
            <p:nvPr/>
          </p:nvSpPr>
          <p:spPr>
            <a:xfrm>
              <a:off x="685800" y="3295650"/>
              <a:ext cx="10820400" cy="2171700"/>
            </a:xfrm>
            <a:prstGeom prst="roundRect">
              <a:avLst>
                <a:gd name="adj" fmla="val 3509"/>
              </a:avLst>
            </a:prstGeom>
            <a:solidFill>
              <a:srgbClr val="FFFFFF"/>
            </a:solidFill>
            <a:ln w="13335">
              <a:solidFill>
                <a:schemeClr val="accent6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23925" y="3436144"/>
              <a:ext cx="1142177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负载矩阵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914400" y="3905250"/>
              <a:ext cx="1314450" cy="400050"/>
            </a:xfrm>
            <a:prstGeom prst="roundRect">
              <a:avLst>
                <a:gd name="adj" fmla="val 16667"/>
              </a:avLst>
            </a:prstGeom>
            <a:solidFill>
              <a:srgbClr val="EEF3F8"/>
            </a:solidFill>
            <a:ln w="9525">
              <a:solidFill>
                <a:schemeClr val="accent1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144504" y="4057174"/>
              <a:ext cx="85424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public-verify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2400300" y="3905250"/>
              <a:ext cx="1314450" cy="400050"/>
            </a:xfrm>
            <a:prstGeom prst="roundRect">
              <a:avLst>
                <a:gd name="adj" fmla="val 16667"/>
              </a:avLst>
            </a:prstGeom>
            <a:solidFill>
              <a:srgbClr val="EEF3F8"/>
            </a:solidFill>
            <a:ln w="9525">
              <a:solidFill>
                <a:schemeClr val="accent1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2524862" y="4057174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student-private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886200" y="3905250"/>
              <a:ext cx="1314450" cy="400050"/>
            </a:xfrm>
            <a:prstGeom prst="roundRect">
              <a:avLst>
                <a:gd name="adj" fmla="val 16667"/>
              </a:avLst>
            </a:prstGeom>
            <a:solidFill>
              <a:srgbClr val="EEF3F8"/>
            </a:solidFill>
            <a:ln w="9525">
              <a:solidFill>
                <a:schemeClr val="accent1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122900" y="4057174"/>
              <a:ext cx="84105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issue-review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72100" y="3905250"/>
              <a:ext cx="1314450" cy="400050"/>
            </a:xfrm>
            <a:prstGeom prst="roundRect">
              <a:avLst>
                <a:gd name="adj" fmla="val 16667"/>
              </a:avLst>
            </a:prstGeom>
            <a:solidFill>
              <a:srgbClr val="E6EFEC"/>
            </a:solidFill>
            <a:ln w="9525">
              <a:solidFill>
                <a:schemeClr val="accent3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5770411" y="4057174"/>
              <a:ext cx="5178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batch-1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858000" y="3905250"/>
              <a:ext cx="1314450" cy="400050"/>
            </a:xfrm>
            <a:prstGeom prst="roundRect">
              <a:avLst>
                <a:gd name="adj" fmla="val 16667"/>
              </a:avLst>
            </a:prstGeom>
            <a:solidFill>
              <a:srgbClr val="E6EFEC"/>
            </a:solidFill>
            <a:ln w="9525">
              <a:solidFill>
                <a:schemeClr val="accent3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220031" y="4057174"/>
              <a:ext cx="5903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batch-10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343900" y="3905250"/>
              <a:ext cx="1314450" cy="400050"/>
            </a:xfrm>
            <a:prstGeom prst="roundRect">
              <a:avLst>
                <a:gd name="adj" fmla="val 16667"/>
              </a:avLst>
            </a:prstGeom>
            <a:solidFill>
              <a:srgbClr val="E6EFEC"/>
            </a:solidFill>
            <a:ln w="9525">
              <a:solidFill>
                <a:schemeClr val="accent3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705931" y="4057174"/>
              <a:ext cx="5903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batch-25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829800" y="3905250"/>
              <a:ext cx="1314450" cy="400050"/>
            </a:xfrm>
            <a:prstGeom prst="roundRect">
              <a:avLst>
                <a:gd name="adj" fmla="val 16667"/>
              </a:avLst>
            </a:prstGeom>
            <a:solidFill>
              <a:srgbClr val="E6EFEC"/>
            </a:solidFill>
            <a:ln w="9525">
              <a:solidFill>
                <a:schemeClr val="accent3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10191831" y="4057174"/>
              <a:ext cx="59038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batch-50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933450" y="4629150"/>
              <a:ext cx="10287000" cy="9525"/>
            </a:xfrm>
            <a:custGeom>
              <a:avLst/>
              <a:gdLst/>
              <a:ahLst/>
              <a:cxnLst/>
              <a:rect l="l" t="t" r="r" b="b"/>
              <a:pathLst>
                <a:path w="10287000" h="9525">
                  <a:moveTo>
                    <a:pt x="0" y="0"/>
                  </a:moveTo>
                  <a:lnTo>
                    <a:pt x="10287000" y="0"/>
                  </a:lnTo>
                </a:path>
              </a:pathLst>
            </a:custGeom>
            <a:solidFill>
              <a:srgbClr val="000000"/>
            </a:solidFill>
            <a:ln w="19050">
              <a:solidFill>
                <a:schemeClr val="accent6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926211" y="4865846"/>
              <a:ext cx="595317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保存：manifest、逐轮原始结果、P50 / P95、错误率、ledger-audit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926973" y="5167789"/>
              <a:ext cx="55962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口径来自原始 benchmark 配置，不沿用旧 PPT 的“7 个并发档位”表述。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43" name="TextBox 43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140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3" name="TextBox 3"/>
            <p:cNvSpPr txBox="1"/>
            <p:nvPr/>
          </p:nvSpPr>
          <p:spPr>
            <a:xfrm>
              <a:off x="679323" y="376714"/>
              <a:ext cx="11437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03 · 实验验证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643890"/>
              <a:ext cx="200497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功能验收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244207" y="811054"/>
              <a:ext cx="426999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最重要的不是测试数量，而是主张有直接证据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33" name="Group 33"/>
          <p:cNvGrpSpPr/>
          <p:nvPr/>
        </p:nvGrpSpPr>
        <p:grpSpPr>
          <a:xfrm>
            <a:off x="685800" y="1524000"/>
            <a:ext cx="10820400" cy="4457700"/>
            <a:chOff x="685800" y="1524000"/>
            <a:chExt cx="10820400" cy="4457700"/>
          </a:xfrm>
        </p:grpSpPr>
        <p:sp>
          <p:nvSpPr>
            <p:cNvPr id="8" name="Rectangle 8"/>
            <p:cNvSpPr/>
            <p:nvPr/>
          </p:nvSpPr>
          <p:spPr>
            <a:xfrm>
              <a:off x="685800" y="1524000"/>
              <a:ext cx="10820400" cy="4457700"/>
            </a:xfrm>
            <a:prstGeom prst="roundRect">
              <a:avLst>
                <a:gd name="adj" fmla="val 1709"/>
              </a:avLst>
            </a:prstGeom>
            <a:solidFill>
              <a:srgbClr val="FFFFFF"/>
            </a:solidFill>
            <a:ln w="13335">
              <a:solidFill>
                <a:schemeClr val="accent6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685800" y="1524000"/>
              <a:ext cx="10820400" cy="495300"/>
            </a:xfrm>
            <a:prstGeom prst="roundRect">
              <a:avLst>
                <a:gd name="adj" fmla="val 15385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45642" y="1692592"/>
              <a:ext cx="3953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主张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136392" y="1692592"/>
              <a:ext cx="3953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机制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774942" y="1692592"/>
              <a:ext cx="3953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证据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85800" y="2019300"/>
              <a:ext cx="10820400" cy="952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" name="Line 14"/>
            <p:cNvSpPr/>
            <p:nvPr/>
          </p:nvSpPr>
          <p:spPr>
            <a:xfrm>
              <a:off x="685800" y="29718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43737" y="2233136"/>
              <a:ext cx="104506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职责分离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136392" y="2273618"/>
              <a:ext cx="307598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issuer / reviewer 使用不同属性证书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774942" y="2273618"/>
              <a:ext cx="33453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真实两身份分别提交交易，最终 ACTIVE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85800" y="2971800"/>
              <a:ext cx="10820400" cy="952500"/>
            </a:xfrm>
            <a:prstGeom prst="rect">
              <a:avLst/>
            </a:prstGeom>
            <a:solidFill>
              <a:srgbClr val="F9FAF8"/>
            </a:solidFill>
            <a:ln>
              <a:noFill/>
            </a:ln>
          </p:spPr>
        </p:sp>
        <p:sp>
          <p:nvSpPr>
            <p:cNvPr id="19" name="Line 19"/>
            <p:cNvSpPr/>
            <p:nvPr/>
          </p:nvSpPr>
          <p:spPr>
            <a:xfrm>
              <a:off x="685800" y="39243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3737" y="3185636"/>
              <a:ext cx="130195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批量原子性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136392" y="3226118"/>
              <a:ext cx="28259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CreateCredentialBatch 单笔交易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74942" y="3226118"/>
              <a:ext cx="296128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冲突批次 409；新 ID 随后仍为 404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85800" y="3924300"/>
              <a:ext cx="10820400" cy="952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4" name="Line 24"/>
            <p:cNvSpPr/>
            <p:nvPr/>
          </p:nvSpPr>
          <p:spPr>
            <a:xfrm>
              <a:off x="685800" y="48768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43737" y="4138136"/>
              <a:ext cx="130195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账本一致性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136392" y="4178618"/>
              <a:ext cx="26523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Org1 / Org2 分别查询区块信息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74942" y="4178618"/>
              <a:ext cx="37920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Height=12，Current / Previous hash 均相同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85800" y="4876800"/>
              <a:ext cx="10820400" cy="952500"/>
            </a:xfrm>
            <a:prstGeom prst="rect">
              <a:avLst/>
            </a:prstGeom>
            <a:solidFill>
              <a:srgbClr val="F9FAF8"/>
            </a:solidFill>
            <a:ln>
              <a:noFill/>
            </a:ln>
          </p:spPr>
        </p:sp>
        <p:sp>
          <p:nvSpPr>
            <p:cNvPr id="29" name="Line 29"/>
            <p:cNvSpPr/>
            <p:nvPr/>
          </p:nvSpPr>
          <p:spPr>
            <a:xfrm>
              <a:off x="685800" y="58293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43737" y="5090636"/>
              <a:ext cx="139002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D3A84B"/>
                  </a:solidFill>
                  <a:latin typeface="+mj-lt"/>
                  <a:ea typeface="+mj-ea"/>
                  <a:cs typeface="+mj-cs"/>
                </a:rPr>
                <a:t>VC 可信性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136392" y="5131118"/>
              <a:ext cx="204008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五层验证 + 链上状态回查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774942" y="5131118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篡改、撤销、替代、错误锚定均失败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34" name="TextBox 34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140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3" name="TextBox 3"/>
            <p:cNvSpPr txBox="1"/>
            <p:nvPr/>
          </p:nvSpPr>
          <p:spPr>
            <a:xfrm>
              <a:off x="679323" y="376714"/>
              <a:ext cx="11437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03 · 实验验证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643890"/>
              <a:ext cx="200497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性能测试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669606" y="811054"/>
              <a:ext cx="3844595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读路径稳定，批量写入的尾延迟仍需优化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685800" y="1581150"/>
            <a:ext cx="3333750" cy="1352550"/>
            <a:chOff x="685800" y="1581150"/>
            <a:chExt cx="3333750" cy="1352550"/>
          </a:xfrm>
        </p:grpSpPr>
        <p:sp>
          <p:nvSpPr>
            <p:cNvPr id="8" name="Rectangle 8"/>
            <p:cNvSpPr/>
            <p:nvPr/>
          </p:nvSpPr>
          <p:spPr>
            <a:xfrm>
              <a:off x="685800" y="1581150"/>
              <a:ext cx="3333750" cy="1352550"/>
            </a:xfrm>
            <a:prstGeom prst="roundRect">
              <a:avLst>
                <a:gd name="adj" fmla="val 5634"/>
              </a:avLst>
            </a:prstGeom>
            <a:solidFill>
              <a:srgbClr val="FFFFFF"/>
            </a:solidFill>
            <a:ln w="13335">
              <a:solidFill>
                <a:schemeClr val="accent1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69823" y="1738789"/>
              <a:ext cx="131291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公开验证 · C20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62584" y="2070735"/>
              <a:ext cx="2809860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7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746.614 req/s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69823" y="2548414"/>
              <a:ext cx="12155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P95 38.202 ms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4429125" y="1581150"/>
            <a:ext cx="3333750" cy="1352550"/>
            <a:chOff x="4429125" y="1581150"/>
            <a:chExt cx="3333750" cy="1352550"/>
          </a:xfrm>
        </p:grpSpPr>
        <p:sp>
          <p:nvSpPr>
            <p:cNvPr id="13" name="Rectangle 13"/>
            <p:cNvSpPr/>
            <p:nvPr/>
          </p:nvSpPr>
          <p:spPr>
            <a:xfrm>
              <a:off x="4429125" y="1581150"/>
              <a:ext cx="3333750" cy="1352550"/>
            </a:xfrm>
            <a:prstGeom prst="roundRect">
              <a:avLst>
                <a:gd name="adj" fmla="val 5634"/>
              </a:avLst>
            </a:prstGeom>
            <a:solidFill>
              <a:srgbClr val="FFFFFF"/>
            </a:solidFill>
            <a:ln w="13335">
              <a:solidFill>
                <a:schemeClr val="accent3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4613148" y="1738789"/>
              <a:ext cx="169525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学生私有查询 · C20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605909" y="2070735"/>
              <a:ext cx="2809860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700" b="1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752.360 req/s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613148" y="2548414"/>
              <a:ext cx="12155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P95 38.096 ms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8172450" y="1581150"/>
            <a:ext cx="3333750" cy="1352550"/>
            <a:chOff x="8172450" y="1581150"/>
            <a:chExt cx="3333750" cy="1352550"/>
          </a:xfrm>
        </p:grpSpPr>
        <p:sp>
          <p:nvSpPr>
            <p:cNvPr id="18" name="Rectangle 18"/>
            <p:cNvSpPr/>
            <p:nvPr/>
          </p:nvSpPr>
          <p:spPr>
            <a:xfrm>
              <a:off x="8172450" y="1581150"/>
              <a:ext cx="3333750" cy="1352550"/>
            </a:xfrm>
            <a:prstGeom prst="roundRect">
              <a:avLst>
                <a:gd name="adj" fmla="val 5634"/>
              </a:avLst>
            </a:prstGeom>
            <a:solidFill>
              <a:srgbClr val="FFFFFF"/>
            </a:solidFill>
            <a:ln w="13335">
              <a:solidFill>
                <a:schemeClr val="accent2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356473" y="1738789"/>
              <a:ext cx="8633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批量 50 条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352282" y="2135505"/>
              <a:ext cx="2797043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10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482.549 entries/s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356473" y="2548414"/>
              <a:ext cx="14086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P95 2497.371 ms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685800" y="3333750"/>
            <a:ext cx="10820400" cy="2209800"/>
            <a:chOff x="685800" y="3333750"/>
            <a:chExt cx="10820400" cy="2209800"/>
          </a:xfrm>
        </p:grpSpPr>
        <p:sp>
          <p:nvSpPr>
            <p:cNvPr id="23" name="Rectangle 23"/>
            <p:cNvSpPr/>
            <p:nvPr/>
          </p:nvSpPr>
          <p:spPr>
            <a:xfrm>
              <a:off x="685800" y="3333750"/>
              <a:ext cx="10820400" cy="2209800"/>
            </a:xfrm>
            <a:prstGeom prst="roundRect">
              <a:avLst>
                <a:gd name="adj" fmla="val 3448"/>
              </a:avLst>
            </a:prstGeom>
            <a:solidFill>
              <a:srgbClr val="FFFFFF"/>
            </a:solidFill>
            <a:ln w="13335">
              <a:solidFill>
                <a:schemeClr val="accent6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26973" y="3539014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吞吐量对照（横条长度按数值缩放）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26211" y="406574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公开验证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2381250" y="4000500"/>
              <a:ext cx="6619875" cy="266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184767" y="4073842"/>
              <a:ext cx="5384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746.6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26211" y="454199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私有查询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381250" y="4476750"/>
              <a:ext cx="6667500" cy="266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232392" y="4550092"/>
              <a:ext cx="5384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752.4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26211" y="501824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批量写入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2381250" y="4953000"/>
              <a:ext cx="4276725" cy="2667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841617" y="5026342"/>
              <a:ext cx="5384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482.5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26211" y="5256371"/>
              <a:ext cx="247327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84 个合法请求单元：失败 0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36" name="TextBox 36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140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3" name="TextBox 3"/>
            <p:cNvSpPr txBox="1"/>
            <p:nvPr/>
          </p:nvSpPr>
          <p:spPr>
            <a:xfrm>
              <a:off x="679323" y="376714"/>
              <a:ext cx="11437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03 · 实验验证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643890"/>
              <a:ext cx="200497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故障恢复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8733104" y="811054"/>
              <a:ext cx="2781097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可恢复与高可用必须区分表述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685800" y="1581150"/>
            <a:ext cx="3143250" cy="1352550"/>
            <a:chOff x="685800" y="1581150"/>
            <a:chExt cx="3143250" cy="1352550"/>
          </a:xfrm>
        </p:grpSpPr>
        <p:sp>
          <p:nvSpPr>
            <p:cNvPr id="8" name="Rectangle 8"/>
            <p:cNvSpPr/>
            <p:nvPr/>
          </p:nvSpPr>
          <p:spPr>
            <a:xfrm>
              <a:off x="685800" y="1581150"/>
              <a:ext cx="3143250" cy="1352550"/>
            </a:xfrm>
            <a:prstGeom prst="roundRect">
              <a:avLst>
                <a:gd name="adj" fmla="val 5634"/>
              </a:avLst>
            </a:prstGeom>
            <a:solidFill>
              <a:srgbClr val="FFFFFF"/>
            </a:solidFill>
            <a:ln w="13335">
              <a:solidFill>
                <a:schemeClr val="accent3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69823" y="1738789"/>
              <a:ext cx="9138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Org2 Peer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62584" y="2070735"/>
              <a:ext cx="1700921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700" b="1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14.030 s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69823" y="254841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恢复到可接受请求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4524375" y="1581150"/>
            <a:ext cx="3143250" cy="1352550"/>
            <a:chOff x="4524375" y="1581150"/>
            <a:chExt cx="3143250" cy="1352550"/>
          </a:xfrm>
        </p:grpSpPr>
        <p:sp>
          <p:nvSpPr>
            <p:cNvPr id="13" name="Rectangle 13"/>
            <p:cNvSpPr/>
            <p:nvPr/>
          </p:nvSpPr>
          <p:spPr>
            <a:xfrm>
              <a:off x="4524375" y="1581150"/>
              <a:ext cx="3143250" cy="1352550"/>
            </a:xfrm>
            <a:prstGeom prst="roundRect">
              <a:avLst>
                <a:gd name="adj" fmla="val 5634"/>
              </a:avLst>
            </a:prstGeom>
            <a:solidFill>
              <a:srgbClr val="FFFFFF"/>
            </a:solidFill>
            <a:ln w="13335">
              <a:solidFill>
                <a:schemeClr val="accent1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4708398" y="1738789"/>
              <a:ext cx="5274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CCaaS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701159" y="2070735"/>
              <a:ext cx="1700921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7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16.870 s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708398" y="254841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链码服务重新连接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8362950" y="1581150"/>
            <a:ext cx="3143250" cy="1352550"/>
            <a:chOff x="8362950" y="1581150"/>
            <a:chExt cx="3143250" cy="1352550"/>
          </a:xfrm>
        </p:grpSpPr>
        <p:sp>
          <p:nvSpPr>
            <p:cNvPr id="18" name="Rectangle 18"/>
            <p:cNvSpPr/>
            <p:nvPr/>
          </p:nvSpPr>
          <p:spPr>
            <a:xfrm>
              <a:off x="8362950" y="1581150"/>
              <a:ext cx="3143250" cy="1352550"/>
            </a:xfrm>
            <a:prstGeom prst="roundRect">
              <a:avLst>
                <a:gd name="adj" fmla="val 5634"/>
              </a:avLst>
            </a:prstGeom>
            <a:solidFill>
              <a:srgbClr val="FFFFFF"/>
            </a:solidFill>
            <a:ln w="13335">
              <a:solidFill>
                <a:schemeClr val="accent2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546973" y="1738789"/>
              <a:ext cx="9887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单 Orderer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539734" y="2070735"/>
              <a:ext cx="1700921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70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22.482 s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546973" y="254841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恢复到可提交交易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685800" y="3295650"/>
            <a:ext cx="5143500" cy="2095500"/>
            <a:chOff x="685800" y="3295650"/>
            <a:chExt cx="5143500" cy="2095500"/>
          </a:xfrm>
        </p:grpSpPr>
        <p:sp>
          <p:nvSpPr>
            <p:cNvPr id="23" name="Rectangle 23"/>
            <p:cNvSpPr/>
            <p:nvPr/>
          </p:nvSpPr>
          <p:spPr>
            <a:xfrm>
              <a:off x="685800" y="3295650"/>
              <a:ext cx="5143500" cy="2095500"/>
            </a:xfrm>
            <a:prstGeom prst="roundRect">
              <a:avLst>
                <a:gd name="adj" fmla="val 3636"/>
              </a:avLst>
            </a:prstGeom>
            <a:solidFill>
              <a:srgbClr val="FFFFFF"/>
            </a:solidFill>
            <a:ln w="13335">
              <a:solidFill>
                <a:schemeClr val="accent3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85800" y="3295650"/>
              <a:ext cx="76200" cy="20955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23163" y="3439001"/>
              <a:ext cx="1830720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小规模一致性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25449" y="3849529"/>
              <a:ext cx="2658443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Org1 / Org2：Height = 12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25449" y="4125754"/>
              <a:ext cx="246002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Current block hash 相同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25449" y="4401979"/>
              <a:ext cx="252354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Previous block hash 相同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25449" y="4678204"/>
              <a:ext cx="277708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证明恢复后双 Peer 状态一致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6362700" y="3295650"/>
            <a:ext cx="5143500" cy="2095500"/>
            <a:chOff x="6362700" y="3295650"/>
            <a:chExt cx="5143500" cy="2095500"/>
          </a:xfrm>
        </p:grpSpPr>
        <p:sp>
          <p:nvSpPr>
            <p:cNvPr id="31" name="Rectangle 31"/>
            <p:cNvSpPr/>
            <p:nvPr/>
          </p:nvSpPr>
          <p:spPr>
            <a:xfrm>
              <a:off x="6362700" y="3295650"/>
              <a:ext cx="5143500" cy="2095500"/>
            </a:xfrm>
            <a:prstGeom prst="roundRect">
              <a:avLst>
                <a:gd name="adj" fmla="val 3636"/>
              </a:avLst>
            </a:prstGeom>
            <a:solidFill>
              <a:srgbClr val="FFFFFF"/>
            </a:solidFill>
            <a:ln w="13335">
              <a:solidFill>
                <a:schemeClr val="accent2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6362700" y="3295650"/>
              <a:ext cx="76200" cy="20955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600063" y="3439001"/>
              <a:ext cx="2434102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完整基准账本审计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602349" y="3849529"/>
              <a:ext cx="187712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账本高度 12 → 4315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02349" y="4125754"/>
              <a:ext cx="287681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有效交易 32527；无效交易 27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602349" y="4401979"/>
              <a:ext cx="281300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27 条均可解释，unknown = 0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602349" y="4678204"/>
              <a:ext cx="3586087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单 Orderer 故障期间不能形成新区块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3628873" y="5743575"/>
            <a:ext cx="4934255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结论是“可恢复且账本一致”，不是“无中断高可用”。</a:t>
            </a:r>
          </a:p>
        </p:txBody>
      </p:sp>
      <p:grpSp>
        <p:nvGrpSpPr>
          <p:cNvPr id="42" name="Group 42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40" name="TextBox 40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420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>
              <a:alpha val="42000"/>
            </a:scheme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286375" cy="6858000"/>
          </a:xfrm>
          <a:prstGeom prst="rect">
            <a:avLst/>
          </a:prstGeom>
          <a:solidFill>
            <a:schemeClr val="lt1">
              <a:alpha val="93000"/>
            </a:schemeClr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666750" y="1170622"/>
            <a:ext cx="1516685" cy="18192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450" dirty="0">
                <a:solidFill>
                  <a:schemeClr val="accent3">
                    <a:alphaMod val="90000"/>
                  </a:schemeClr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67512" y="2716530"/>
            <a:ext cx="4875581" cy="7040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600" b="1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局限、贡献与下一步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3448050"/>
            <a:ext cx="3790950" cy="9525"/>
          </a:xfrm>
          <a:custGeom>
            <a:avLst/>
            <a:gdLst/>
            <a:ahLst/>
            <a:cxnLst/>
            <a:rect l="l" t="t" r="r" b="b"/>
            <a:pathLst>
              <a:path w="3790950" h="9525">
                <a:moveTo>
                  <a:pt x="0" y="0"/>
                </a:moveTo>
                <a:lnTo>
                  <a:pt x="3790950" y="0"/>
                </a:lnTo>
              </a:path>
            </a:pathLst>
          </a:custGeom>
          <a:noFill/>
          <a:ln w="47625">
            <a:solidFill>
              <a:schemeClr val="accent2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677037" y="3757136"/>
            <a:ext cx="3027629" cy="3373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72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诚实说明价值边界与演进路线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9704" y="6156960"/>
            <a:ext cx="17112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ChainGrade · 课程答辩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299449" y="6358414"/>
            <a:ext cx="213228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28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140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3" name="TextBox 3"/>
            <p:cNvSpPr txBox="1"/>
            <p:nvPr/>
          </p:nvSpPr>
          <p:spPr>
            <a:xfrm>
              <a:off x="679323" y="376714"/>
              <a:ext cx="13246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04 · 收口与演进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643890"/>
              <a:ext cx="200497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项目亮点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456907" y="811054"/>
              <a:ext cx="405729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三项工程贡献，共同形成可信成绩生命周期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14" name="Group 14"/>
          <p:cNvGrpSpPr/>
          <p:nvPr/>
        </p:nvGrpSpPr>
        <p:grpSpPr>
          <a:xfrm>
            <a:off x="685800" y="1562100"/>
            <a:ext cx="3333750" cy="3009900"/>
            <a:chOff x="685800" y="1562100"/>
            <a:chExt cx="3333750" cy="3009900"/>
          </a:xfrm>
        </p:grpSpPr>
        <p:sp>
          <p:nvSpPr>
            <p:cNvPr id="8" name="Rectangle 8"/>
            <p:cNvSpPr/>
            <p:nvPr/>
          </p:nvSpPr>
          <p:spPr>
            <a:xfrm>
              <a:off x="685800" y="1562100"/>
              <a:ext cx="3333750" cy="3009900"/>
            </a:xfrm>
            <a:prstGeom prst="roundRect">
              <a:avLst>
                <a:gd name="adj" fmla="val 2532"/>
              </a:avLst>
            </a:prstGeom>
            <a:solidFill>
              <a:srgbClr val="FFFFFF"/>
            </a:solidFill>
            <a:ln w="13335">
              <a:solidFill>
                <a:schemeClr val="accent1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685800" y="1562100"/>
              <a:ext cx="76200" cy="30099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23163" y="1705451"/>
              <a:ext cx="225308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01 可信生命周期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25449" y="2115979"/>
              <a:ext cx="1962203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教师签发 → 独立复核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25449" y="2392204"/>
              <a:ext cx="1962203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学生持有 → 外部验真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25449" y="2668429"/>
              <a:ext cx="260030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修订 / 申诉仍受状态机约束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4429125" y="1562100"/>
            <a:ext cx="3333750" cy="3009900"/>
            <a:chOff x="4429125" y="1562100"/>
            <a:chExt cx="3333750" cy="3009900"/>
          </a:xfrm>
        </p:grpSpPr>
        <p:sp>
          <p:nvSpPr>
            <p:cNvPr id="15" name="Rectangle 15"/>
            <p:cNvSpPr/>
            <p:nvPr/>
          </p:nvSpPr>
          <p:spPr>
            <a:xfrm>
              <a:off x="4429125" y="1562100"/>
              <a:ext cx="3333750" cy="3009900"/>
            </a:xfrm>
            <a:prstGeom prst="roundRect">
              <a:avLst>
                <a:gd name="adj" fmla="val 2532"/>
              </a:avLst>
            </a:prstGeom>
            <a:solidFill>
              <a:srgbClr val="FFFFFF"/>
            </a:solidFill>
            <a:ln w="13335">
              <a:solidFill>
                <a:schemeClr val="accent3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429125" y="1562100"/>
              <a:ext cx="76200" cy="30099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666488" y="1705451"/>
              <a:ext cx="225308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02 隐私承诺模型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68774" y="2115979"/>
              <a:ext cx="246136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随机盐 + canonical JSON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68774" y="2392204"/>
              <a:ext cx="2201683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公共 detailHash + PDC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68774" y="2668429"/>
              <a:ext cx="19302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明文不进入公共账本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8172450" y="1562100"/>
            <a:ext cx="3333750" cy="3009900"/>
            <a:chOff x="8172450" y="1562100"/>
            <a:chExt cx="3333750" cy="3009900"/>
          </a:xfrm>
        </p:grpSpPr>
        <p:sp>
          <p:nvSpPr>
            <p:cNvPr id="22" name="Rectangle 22"/>
            <p:cNvSpPr/>
            <p:nvPr/>
          </p:nvSpPr>
          <p:spPr>
            <a:xfrm>
              <a:off x="8172450" y="1562100"/>
              <a:ext cx="3333750" cy="3009900"/>
            </a:xfrm>
            <a:prstGeom prst="roundRect">
              <a:avLst>
                <a:gd name="adj" fmla="val 2532"/>
              </a:avLst>
            </a:prstGeom>
            <a:solidFill>
              <a:srgbClr val="FFFFFF"/>
            </a:solidFill>
            <a:ln w="13335">
              <a:solidFill>
                <a:schemeClr val="accent2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8172450" y="1562100"/>
              <a:ext cx="76200" cy="30099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409813" y="1705451"/>
              <a:ext cx="2823068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03 链上状态 + VC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412099" y="2115979"/>
              <a:ext cx="21429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签名证明文件未被篡改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412099" y="2392204"/>
              <a:ext cx="2568397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状态与锚定决定当前可信性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412099" y="2668429"/>
              <a:ext cx="235569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不声称发明新密码学算法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85800" y="4895850"/>
            <a:ext cx="10820400" cy="990600"/>
            <a:chOff x="685800" y="4895850"/>
            <a:chExt cx="10820400" cy="990600"/>
          </a:xfrm>
        </p:grpSpPr>
        <p:sp>
          <p:nvSpPr>
            <p:cNvPr id="29" name="Rectangle 29"/>
            <p:cNvSpPr/>
            <p:nvPr/>
          </p:nvSpPr>
          <p:spPr>
            <a:xfrm>
              <a:off x="685800" y="4895850"/>
              <a:ext cx="10820400" cy="990600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13335">
              <a:solidFill>
                <a:schemeClr val="accent6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43356" y="5044440"/>
              <a:ext cx="109362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贡献分配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716911" y="5084921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魏子安（组长）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4095750" y="5048250"/>
              <a:ext cx="2286000" cy="2476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24625" y="5045869"/>
              <a:ext cx="173480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8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231761" y="508492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强璞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848600" y="5048250"/>
              <a:ext cx="1714500" cy="24765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705975" y="5045869"/>
              <a:ext cx="173480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80" b="1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3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716911" y="547544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阳震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3333750" y="5438775"/>
              <a:ext cx="1714500" cy="2476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191125" y="5436394"/>
              <a:ext cx="173480" cy="3667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8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3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41" name="TextBox 41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140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669036" y="376714"/>
            <a:ext cx="10845165" cy="912590"/>
            <a:chOff x="669036" y="376714"/>
            <a:chExt cx="10845165" cy="912590"/>
          </a:xfrm>
        </p:grpSpPr>
        <p:sp>
          <p:nvSpPr>
            <p:cNvPr id="3" name="TextBox 3"/>
            <p:cNvSpPr txBox="1"/>
            <p:nvPr/>
          </p:nvSpPr>
          <p:spPr>
            <a:xfrm>
              <a:off x="679323" y="376714"/>
              <a:ext cx="13246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04 · 收口与演进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69036" y="643890"/>
              <a:ext cx="200497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演进路线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031507" y="811054"/>
              <a:ext cx="448269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8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不夸大当前能力，每个缺口都有可验证的下一步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685800" y="12763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12382">
              <a:solidFill>
                <a:schemeClr val="accent6"/>
              </a:solidFill>
            </a:ln>
          </p:spPr>
        </p:sp>
      </p:grpSp>
      <p:grpSp>
        <p:nvGrpSpPr>
          <p:cNvPr id="26" name="Group 26"/>
          <p:cNvGrpSpPr/>
          <p:nvPr/>
        </p:nvGrpSpPr>
        <p:grpSpPr>
          <a:xfrm>
            <a:off x="685800" y="1562100"/>
            <a:ext cx="10820400" cy="4171950"/>
            <a:chOff x="685800" y="1562100"/>
            <a:chExt cx="10820400" cy="4171950"/>
          </a:xfrm>
        </p:grpSpPr>
        <p:sp>
          <p:nvSpPr>
            <p:cNvPr id="8" name="Rectangle 8"/>
            <p:cNvSpPr/>
            <p:nvPr/>
          </p:nvSpPr>
          <p:spPr>
            <a:xfrm>
              <a:off x="685800" y="1562100"/>
              <a:ext cx="10820400" cy="4171950"/>
            </a:xfrm>
            <a:prstGeom prst="roundRect">
              <a:avLst>
                <a:gd name="adj" fmla="val 1826"/>
              </a:avLst>
            </a:prstGeom>
            <a:solidFill>
              <a:srgbClr val="FFFFFF"/>
            </a:solidFill>
            <a:ln w="13335">
              <a:solidFill>
                <a:schemeClr val="accent6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2406" y="1767840"/>
              <a:ext cx="315019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字段级 bearer capability</a:t>
              </a:r>
            </a:p>
          </p:txBody>
        </p:sp>
        <p:sp>
          <p:nvSpPr>
            <p:cNvPr id="10" name="Freeform 10"/>
            <p:cNvSpPr/>
            <p:nvPr/>
          </p:nvSpPr>
          <p:spPr>
            <a:xfrm>
              <a:off x="3905250" y="1895475"/>
              <a:ext cx="1047750" cy="9525"/>
            </a:xfrm>
            <a:custGeom>
              <a:avLst/>
              <a:gdLst/>
              <a:ahLst/>
              <a:cxnLst/>
              <a:rect l="l" t="t" r="r" b="b"/>
              <a:pathLst>
                <a:path w="1047750" h="9525">
                  <a:moveTo>
                    <a:pt x="0" y="0"/>
                  </a:moveTo>
                  <a:lnTo>
                    <a:pt x="1047750" y="0"/>
                  </a:lnTo>
                </a:path>
              </a:pathLst>
            </a:custGeom>
            <a:solidFill>
              <a:srgbClr val="000000"/>
            </a:solidFill>
            <a:ln w="28575">
              <a:solidFill>
                <a:schemeClr val="accent2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4838700" y="1828800"/>
              <a:ext cx="171450" cy="133350"/>
            </a:xfrm>
            <a:custGeom>
              <a:avLst/>
              <a:gdLst/>
              <a:ahLst/>
              <a:cxnLst/>
              <a:rect l="l" t="t" r="r" b="b"/>
              <a:pathLst>
                <a:path w="171450" h="133350">
                  <a:moveTo>
                    <a:pt x="0" y="0"/>
                  </a:moveTo>
                  <a:lnTo>
                    <a:pt x="171450" y="66675"/>
                  </a:lnTo>
                  <a:lnTo>
                    <a:pt x="0" y="133350"/>
                  </a:lnTo>
                </a:path>
              </a:pathLst>
            </a:cu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248656" y="1767840"/>
              <a:ext cx="372339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BBS+ / 零知识选择性披露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250942" y="2140268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验证：隐藏字段仍可证明声明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933450" y="2628900"/>
              <a:ext cx="10325100" cy="9525"/>
            </a:xfrm>
            <a:custGeom>
              <a:avLst/>
              <a:gdLst/>
              <a:ahLst/>
              <a:cxnLst/>
              <a:rect l="l" t="t" r="r" b="b"/>
              <a:pathLst>
                <a:path w="10325100" h="9525">
                  <a:moveTo>
                    <a:pt x="0" y="0"/>
                  </a:moveTo>
                  <a:lnTo>
                    <a:pt x="103251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62406" y="2967990"/>
              <a:ext cx="399414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单 Orderer，可恢复但非高可用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3905250" y="3095625"/>
              <a:ext cx="1047750" cy="9525"/>
            </a:xfrm>
            <a:custGeom>
              <a:avLst/>
              <a:gdLst/>
              <a:ahLst/>
              <a:cxnLst/>
              <a:rect l="l" t="t" r="r" b="b"/>
              <a:pathLst>
                <a:path w="1047750" h="9525">
                  <a:moveTo>
                    <a:pt x="0" y="0"/>
                  </a:moveTo>
                  <a:lnTo>
                    <a:pt x="1047750" y="0"/>
                  </a:lnTo>
                </a:path>
              </a:pathLst>
            </a:custGeom>
            <a:solidFill>
              <a:srgbClr val="000000"/>
            </a:solidFill>
            <a:ln w="28575">
              <a:solidFill>
                <a:schemeClr val="accent1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4838700" y="3028950"/>
              <a:ext cx="171450" cy="133350"/>
            </a:xfrm>
            <a:custGeom>
              <a:avLst/>
              <a:gdLst/>
              <a:ahLst/>
              <a:cxnLst/>
              <a:rect l="l" t="t" r="r" b="b"/>
              <a:pathLst>
                <a:path w="171450" h="133350">
                  <a:moveTo>
                    <a:pt x="0" y="0"/>
                  </a:moveTo>
                  <a:lnTo>
                    <a:pt x="171450" y="66675"/>
                  </a:lnTo>
                  <a:lnTo>
                    <a:pt x="0" y="13335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248656" y="2967990"/>
              <a:ext cx="272757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3 Orderer Raft 集群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250942" y="334041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验证：单节点故障仍可持续出块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933450" y="3829050"/>
              <a:ext cx="10325100" cy="9525"/>
            </a:xfrm>
            <a:custGeom>
              <a:avLst/>
              <a:gdLst/>
              <a:ahLst/>
              <a:cxnLst/>
              <a:rect l="l" t="t" r="r" b="b"/>
              <a:pathLst>
                <a:path w="10325100" h="9525">
                  <a:moveTo>
                    <a:pt x="0" y="0"/>
                  </a:moveTo>
                  <a:lnTo>
                    <a:pt x="103251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2406" y="4168140"/>
              <a:ext cx="243779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演示级校园身份映射</a:t>
              </a:r>
            </a:p>
          </p:txBody>
        </p:sp>
        <p:sp>
          <p:nvSpPr>
            <p:cNvPr id="22" name="Freeform 22"/>
            <p:cNvSpPr/>
            <p:nvPr/>
          </p:nvSpPr>
          <p:spPr>
            <a:xfrm>
              <a:off x="3905250" y="4295775"/>
              <a:ext cx="1047750" cy="9525"/>
            </a:xfrm>
            <a:custGeom>
              <a:avLst/>
              <a:gdLst/>
              <a:ahLst/>
              <a:cxnLst/>
              <a:rect l="l" t="t" r="r" b="b"/>
              <a:pathLst>
                <a:path w="1047750" h="9525">
                  <a:moveTo>
                    <a:pt x="0" y="0"/>
                  </a:moveTo>
                  <a:lnTo>
                    <a:pt x="1047750" y="0"/>
                  </a:lnTo>
                </a:path>
              </a:pathLst>
            </a:custGeom>
            <a:solidFill>
              <a:srgbClr val="000000"/>
            </a:solidFill>
            <a:ln w="28575">
              <a:solidFill>
                <a:schemeClr val="accent3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4838700" y="4229100"/>
              <a:ext cx="171450" cy="133350"/>
            </a:xfrm>
            <a:custGeom>
              <a:avLst/>
              <a:gdLst/>
              <a:ahLst/>
              <a:cxnLst/>
              <a:rect l="l" t="t" r="r" b="b"/>
              <a:pathLst>
                <a:path w="171450" h="133350">
                  <a:moveTo>
                    <a:pt x="0" y="0"/>
                  </a:moveTo>
                  <a:lnTo>
                    <a:pt x="171450" y="66675"/>
                  </a:lnTo>
                  <a:lnTo>
                    <a:pt x="0" y="133350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248656" y="4168140"/>
              <a:ext cx="297545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真实统一身份与撤销列表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250942" y="454056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验证：跨系统生命周期同步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3862102" y="5857875"/>
            <a:ext cx="4467797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下一阶段不是堆功能，而是逐项提升可信边界。</a:t>
            </a:r>
          </a:p>
        </p:txBody>
      </p:sp>
      <p:grpSp>
        <p:nvGrpSpPr>
          <p:cNvPr id="30" name="Group 30"/>
          <p:cNvGrpSpPr/>
          <p:nvPr/>
        </p:nvGrpSpPr>
        <p:grpSpPr>
          <a:xfrm>
            <a:off x="679704" y="6415564"/>
            <a:ext cx="10832973" cy="249364"/>
            <a:chOff x="679704" y="6415564"/>
            <a:chExt cx="10832973" cy="249364"/>
          </a:xfrm>
        </p:grpSpPr>
        <p:sp>
          <p:nvSpPr>
            <p:cNvPr id="28" name="TextBox 28"/>
            <p:cNvSpPr txBox="1"/>
            <p:nvPr/>
          </p:nvSpPr>
          <p:spPr>
            <a:xfrm>
              <a:off x="679704" y="6423660"/>
              <a:ext cx="23647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ChainGrade · 区块链课程大作业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1299449" y="6415564"/>
              <a:ext cx="21322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128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>
            <a:alphaModFix amt="70000"/>
          </a:blip>
          <a:srcRect l="0" t="27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>
              <a:alpha val="50000"/>
            </a:scheme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800100" y="685800"/>
            <a:ext cx="10591800" cy="5334000"/>
          </a:xfrm>
          <a:prstGeom prst="roundRect">
            <a:avLst>
              <a:gd name="adj" fmla="val 2500"/>
            </a:avLst>
          </a:prstGeom>
          <a:solidFill>
            <a:schemeClr val="lt1">
              <a:alpha val="90000"/>
            </a:schemeClr>
          </a:solidFill>
          <a:ln w="9525">
            <a:solidFill>
              <a:schemeClr val="accent6">
                <a:alpha val="90000"/>
              </a:schemeClr>
            </a:solidFill>
          </a:ln>
        </p:spPr>
      </p:sp>
      <p:sp>
        <p:nvSpPr>
          <p:cNvPr id="5" name="TextBox 5"/>
          <p:cNvSpPr txBox="1"/>
          <p:nvPr/>
        </p:nvSpPr>
        <p:spPr>
          <a:xfrm>
            <a:off x="1098423" y="1062514"/>
            <a:ext cx="1143762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b="1" dirty="0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04 · 项目总结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87374" y="1418272"/>
            <a:ext cx="7248754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一条成绩，应当能够可信地解释</a:t>
            </a:r>
          </a:p>
        </p:txBody>
      </p:sp>
      <p:sp>
        <p:nvSpPr>
          <p:cNvPr id="7" name="Rectangle 7"/>
          <p:cNvSpPr/>
          <p:nvPr/>
        </p:nvSpPr>
        <p:spPr>
          <a:xfrm>
            <a:off x="1104900" y="2286000"/>
            <a:ext cx="2952750" cy="59055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2223049" y="2488882"/>
            <a:ext cx="71645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谁签发</a:t>
            </a:r>
          </a:p>
        </p:txBody>
      </p:sp>
      <p:sp>
        <p:nvSpPr>
          <p:cNvPr id="9" name="Rectangle 9"/>
          <p:cNvSpPr/>
          <p:nvPr/>
        </p:nvSpPr>
        <p:spPr>
          <a:xfrm>
            <a:off x="4438650" y="2286000"/>
            <a:ext cx="2952750" cy="59055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5556799" y="2488882"/>
            <a:ext cx="71645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谁复核</a:t>
            </a:r>
          </a:p>
        </p:txBody>
      </p:sp>
      <p:sp>
        <p:nvSpPr>
          <p:cNvPr id="11" name="Rectangle 11"/>
          <p:cNvSpPr/>
          <p:nvPr/>
        </p:nvSpPr>
        <p:spPr>
          <a:xfrm>
            <a:off x="7772400" y="2286000"/>
            <a:ext cx="2952750" cy="5905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8890549" y="2488882"/>
            <a:ext cx="71645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谁能看</a:t>
            </a:r>
          </a:p>
        </p:txBody>
      </p:sp>
      <p:sp>
        <p:nvSpPr>
          <p:cNvPr id="13" name="Rectangle 13"/>
          <p:cNvSpPr/>
          <p:nvPr/>
        </p:nvSpPr>
        <p:spPr>
          <a:xfrm>
            <a:off x="1104900" y="3181350"/>
            <a:ext cx="2952750" cy="590550"/>
          </a:xfrm>
          <a:prstGeom prst="roundRect">
            <a:avLst>
              <a:gd name="adj" fmla="val 50000"/>
            </a:avLst>
          </a:prstGeom>
          <a:solidFill>
            <a:srgbClr val="D3A84B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2106435" y="3384232"/>
            <a:ext cx="94968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如何纠错</a:t>
            </a:r>
          </a:p>
        </p:txBody>
      </p:sp>
      <p:sp>
        <p:nvSpPr>
          <p:cNvPr id="15" name="Rectangle 15"/>
          <p:cNvSpPr/>
          <p:nvPr/>
        </p:nvSpPr>
        <p:spPr>
          <a:xfrm>
            <a:off x="4438650" y="3181350"/>
            <a:ext cx="2952750" cy="59055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5440185" y="3384232"/>
            <a:ext cx="94968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如何验证</a:t>
            </a:r>
          </a:p>
        </p:txBody>
      </p:sp>
      <p:sp>
        <p:nvSpPr>
          <p:cNvPr id="17" name="Rectangle 17"/>
          <p:cNvSpPr/>
          <p:nvPr/>
        </p:nvSpPr>
        <p:spPr>
          <a:xfrm>
            <a:off x="7772400" y="3181350"/>
            <a:ext cx="2952750" cy="59055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8424091" y="3384232"/>
            <a:ext cx="1649368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故障后是否一致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256625" y="4527709"/>
            <a:ext cx="7678750" cy="42538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180" b="1" dirty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ChainGrade 把六个问题连接成可验证的生命周期。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3968115" y="5057775"/>
            <a:ext cx="425577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同一项目完成课程闭环，并保留竞赛演进空间。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020595" y="5574982"/>
            <a:ext cx="215081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谢谢老师 · 欢迎提问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chaingrade-course-defense-v4">
  <a:themeElements>
    <a:clrScheme name="chaingrade-course-defense-v4">
      <a:dk1>
        <a:srgbClr val="17202A"/>
      </a:dk1>
      <a:lt1>
        <a:srgbClr val="F6F5F0"/>
      </a:lt1>
      <a:dk2>
        <a:srgbClr val="1F497D"/>
      </a:dk2>
      <a:lt2>
        <a:srgbClr val="F6F5F0"/>
      </a:lt2>
      <a:accent1>
        <a:srgbClr val="07448C"/>
      </a:accent1>
      <a:accent2>
        <a:srgbClr val="D86A55"/>
      </a:accent2>
      <a:accent3>
        <a:srgbClr val="2B7A78"/>
      </a:accent3>
      <a:accent4>
        <a:srgbClr val="07448C"/>
      </a:accent4>
      <a:accent5>
        <a:srgbClr val="66717C"/>
      </a:accent5>
      <a:accent6>
        <a:srgbClr val="A9BAC8"/>
      </a:accent6>
      <a:hlink>
        <a:srgbClr val="D86A55"/>
      </a:hlink>
      <a:folHlink>
        <a:srgbClr val="2B7A78"/>
      </a:folHlink>
    </a:clrScheme>
    <a:fontScheme name="chaingrade-course-defense-v4">
      <a:majorFont>
        <a:latin typeface="Georgia"/>
        <a:ea typeface="SimSun"/>
        <a:cs typeface="Georgia"/>
        <a:font script="Jpan" typeface="SimSun"/>
        <a:font script="Hang" typeface="SimSun"/>
        <a:font script="Hans" typeface="SimSun"/>
        <a:font script="Hant" typeface="SimSun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Microsoft YaHei"/>
        <a:cs typeface="Segoe U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ingrade-course-defense-v4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chaingrade-course-defense-v4">
  <a:themeElements>
    <a:clrScheme name="chaingrade-course-defense-v4">
      <a:dk1>
        <a:srgbClr val="17202A"/>
      </a:dk1>
      <a:lt1>
        <a:srgbClr val="F6F5F0"/>
      </a:lt1>
      <a:dk2>
        <a:srgbClr val="1F497D"/>
      </a:dk2>
      <a:lt2>
        <a:srgbClr val="F6F5F0"/>
      </a:lt2>
      <a:accent1>
        <a:srgbClr val="07448C"/>
      </a:accent1>
      <a:accent2>
        <a:srgbClr val="D86A55"/>
      </a:accent2>
      <a:accent3>
        <a:srgbClr val="2B7A78"/>
      </a:accent3>
      <a:accent4>
        <a:srgbClr val="07448C"/>
      </a:accent4>
      <a:accent5>
        <a:srgbClr val="66717C"/>
      </a:accent5>
      <a:accent6>
        <a:srgbClr val="A9BAC8"/>
      </a:accent6>
      <a:hlink>
        <a:srgbClr val="D86A55"/>
      </a:hlink>
      <a:folHlink>
        <a:srgbClr val="2B7A78"/>
      </a:folHlink>
    </a:clrScheme>
    <a:fontScheme name="chaingrade-course-defense-v4">
      <a:majorFont>
        <a:latin typeface="Georgia"/>
        <a:ea typeface="SimSun"/>
        <a:cs typeface="Georgia"/>
        <a:font script="Jpan" typeface="SimSun"/>
        <a:font script="Hang" typeface="SimSun"/>
        <a:font script="Hans" typeface="SimSun"/>
        <a:font script="Hant" typeface="SimSun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Microsoft YaHei"/>
        <a:cs typeface="Segoe U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ingrade-course-defense-v4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25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2026-09-09T06:27:38Z</dcterms:created>
  <dcterms:modified xsi:type="dcterms:W3CDTF">2026-09-09T06:27:38Z</dcterms:modified>
  <cp:category/>
  <cp:contentStatus/>
</cp:coreProperties>
</file>