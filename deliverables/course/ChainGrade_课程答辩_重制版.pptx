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各位老师好，我们的项目是 ChainGrade。我们一开始就不把目标定义为“把成绩写到链上”，因为写入一次并不等于整个过程可信。我们真正要解决的是：身份有边界、复核有过程、隐私仍可验证。接下来我会先说明为什么简单上链不够，再讲我们的设计和真实运行证据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不可篡改只能回答“写入之后有没有被悄悄改过”，却不能自动证明写入者正确。成绩系统还同时面对三道硬伤：签发者可能越权或误写；成绩明文永久公开会伤害隐私；现实错误又必须允许纠正。如果直接覆盖旧值，历史证据就消失；如果完全不允许修订，系统又不符合教务现实。因此问题的核心不是数据存在哪里，而是变化如何被治理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我们的总设计分成三层。公共账本只保存匿名标识、SHA-256 承诺、状态和审计字段，所以任何人可以验证记录是否一致，却看不到成绩明文。课程、分数、等级、申诉理由和复核决定进入隐式私有集合。所有变化再通过状态机约束，于是系统同时做到公开可验、明文不公开、允许纠错而不覆盖历史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一条真实交易从四角色工作台开始，经 Vue 页面进入 Node API，再由 Fabric Gateway 提交给双组织网络。浏览器只持有受签名的 HttpOnly 会话和 CSRF 令牌，不能提交证书路径，更不能选择任意 MSP 身份；API 会把动作映射到服务器固定身份。成绩、申诉和决定正文走 transient 私有路径，链码在背书节点内复算哈希。这样，前端体验、应用权限和账本规则不是三套约定，而是一条连续的责任边界。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没有设置可以绕过流程的超级管理员。签发者能创建和批量导入凭证，也能提出修订，但不能自行批准；复核者独立做批准、拒绝、撤销和申诉决定。学生只能查看本人私有详情、发起申诉或授权披露，外部验证者则只能查询公开状态或消费被授权的字段。会话、API 和链码三层重复检查角色，目的是让任何单一主体都不能独立制造一条“看起来可信”的成绩。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这里展示的是凭证状态机。凭证创建后进入待复核，只有复核者批准才会成为 ACTIVE；拒绝和撤销都保留原记录。修订不是数据库 UPDATE，而是创建一个新凭证并链接旧版本，旧凭证转为已替代，所以审计者仍能验证前一段历史。学生申诉同样进入受控分支，而不是在系统外通过口头或表格处理。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申诉流程刻意保持轻量，但没有绕开隐私和审计规则。学生通过 transient 提交理由，链码复算 reasonHash；复核员再提交私有决定正文，并在公共账本留下 resolutionHash、身份和时间。右侧是真实浏览器验收中的学生申诉进度，不是设计原型。这样，纠错能够发生，但双方的原始陈述不会被公开，也不会被事后替换。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同一份凭证在三种视角下暴露不同内容。公众只能看到 detailHash、匿名学生和课程哈希、状态与交易审计；学生本人通过身份校验后，能读取课程、分数和等级。外部验证者还需要学生授权，且授权同时绑定字段白名单、用途、验证者、过期时间和一到十次使用上限。随机令牌本身不写链，链上只保存 tokenHash，因此公开查询和定向披露不会合并成一次过度公开。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前面的机制已经落实到角色工作台。左侧签发端负责创建和查看账本队列，右侧复核端处理独立待审任务；两张图都是 Fabric 模式下的真实浏览器验收。界面中的状态来自 Gateway 返回值，而不是前端模拟。角色如果越权，会在会话、API 和链码三层被拒绝，所以好看的界面没有取代底层约束。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这两张图展示同一条隐私边界在产品中的可见结果。学生本人登录后可以看到自己的课程、分数和等级；公开验真端无需登录，但只显示 ACTIVE 状态、哈希承诺和交易信息，没有成绩明文。这种差异不是报告里的安全承诺，而是浏览器到链码完整执行后的真实行为。也正因为如此，验证者能够确认凭证有效，而不需要获得整份成绩。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我们没有把“接口返回连接成功”当作区块链证据。签发者创建、复核者独立批准后，凭证进入 ACTIVE，并产生交易 ID c7f5827e 开头、becf7a7 结尾的真实交易。恢复彩排中两个 Peer 的账本高度都是十二，当前区块哈希和前序区块哈希完全一致。批量导入也遵守原子语义，只要一行校验失败，整批就是零写入。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最后看工程指标。项目实现二十五个链码方法和二十八个 HTTP 路由，一百二十项项目测试全部通过，另有七项基准工具测试通过。隔离性能矩阵包含七类负载、四档并发、每档三次，共八十四个正式单元，合法请求失败率为零；并发二十时公开验证吞吐中位数为每秒七百四十六点六一四次，P95 为三十八点二零二毫秒。单 orderer 稳定恢复需要二十二点四八二秒，因此这些数据证明可恢复性，但不证明写入高可用。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回到开头，ChainGrade 的价值不是把一个数字写进区块，而是把身份、复核、隐私、修订与申诉放进同一条可验证流程。我们已经完成真实 Fabric 双组织闭环、四角色产品、标准 VC 文件互操作和可重复可靠性基准，并用一百二十项项目测试、双 Peer 一致性、真实交易、篡改失败和故障恢复时间验证它。下一步的 BBS+、三 orderer 和真实教务接入仍是明确边界。谢谢各位老师，欢迎从为什么用链、如何保护隐私和证据是否真实三个角度提问。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haingrade-defense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haingrade-defense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c6a870653e2a600.jpg"/>
  <Relationship Id="rId3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e689d517cb7c8e0.jpg"/>
  <Relationship Id="rId3" Type="http://schemas.openxmlformats.org/officeDocument/2006/relationships/image" Target="../media/image_013ea11a15403aa1.jpg"/>
  <Relationship Id="rId4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c1d87bbca26832d.jpg"/>
  <Relationship Id="rId3" Type="http://schemas.openxmlformats.org/officeDocument/2006/relationships/image" Target="../media/image_1593b79152035efd.jpg"/>
  <Relationship Id="rId4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78942" y="514350"/>
            <a:ext cx="1183142" cy="499301"/>
            <a:chOff x="678942" y="514350"/>
            <a:chExt cx="1183142" cy="499301"/>
          </a:xfrm>
        </p:grpSpPr>
        <p:sp>
          <p:nvSpPr>
            <p:cNvPr id="2" name="Rectangle 2"/>
            <p:cNvSpPr/>
            <p:nvPr/>
          </p:nvSpPr>
          <p:spPr>
            <a:xfrm>
              <a:off x="685800" y="514350"/>
              <a:ext cx="609600" cy="76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78942" y="749618"/>
              <a:ext cx="1183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CHAIN·GRADE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429500" y="1021080"/>
            <a:ext cx="3524250" cy="1440371"/>
            <a:chOff x="7429500" y="1021080"/>
            <a:chExt cx="3524250" cy="1440371"/>
          </a:xfrm>
        </p:grpSpPr>
        <p:sp>
          <p:nvSpPr>
            <p:cNvPr id="5" name="TextBox 5"/>
            <p:cNvSpPr txBox="1"/>
            <p:nvPr/>
          </p:nvSpPr>
          <p:spPr>
            <a:xfrm>
              <a:off x="8944204" y="1021080"/>
              <a:ext cx="2009546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可信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429500" y="201930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20050" y="21974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不是一次写入，而是一段可验证流程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9798" y="2422208"/>
            <a:ext cx="3812477" cy="1693354"/>
            <a:chOff x="669798" y="2422208"/>
            <a:chExt cx="3812477" cy="1693354"/>
          </a:xfrm>
        </p:grpSpPr>
        <p:sp>
          <p:nvSpPr>
            <p:cNvPr id="9" name="TextBox 9"/>
            <p:cNvSpPr txBox="1"/>
            <p:nvPr/>
          </p:nvSpPr>
          <p:spPr>
            <a:xfrm>
              <a:off x="669798" y="2422208"/>
              <a:ext cx="3812477" cy="120662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4650"/>
                </a:lnSpc>
              </a:pPr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成绩可信，不等于把成绩写上链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3608" y="3646170"/>
              <a:ext cx="18255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ChainGrade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76656" y="4663440"/>
            <a:ext cx="4622292" cy="712661"/>
            <a:chOff x="676656" y="4663440"/>
            <a:chExt cx="4622292" cy="712661"/>
          </a:xfrm>
        </p:grpSpPr>
        <p:sp>
          <p:nvSpPr>
            <p:cNvPr id="12" name="TextBox 12"/>
            <p:cNvSpPr txBox="1"/>
            <p:nvPr/>
          </p:nvSpPr>
          <p:spPr>
            <a:xfrm>
              <a:off x="676656" y="466344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面向隐私、修订与申诉的可信成绩凭证系统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8942" y="5112068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浙江大学计算机专业本科生团队 · 课程答辩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039100" y="3520440"/>
            <a:ext cx="1662303" cy="1876044"/>
            <a:chOff x="8039100" y="3520440"/>
            <a:chExt cx="1662303" cy="1876044"/>
          </a:xfrm>
        </p:grpSpPr>
        <p:sp>
          <p:nvSpPr>
            <p:cNvPr id="15" name="Line 15"/>
            <p:cNvSpPr/>
            <p:nvPr/>
          </p:nvSpPr>
          <p:spPr>
            <a:xfrm>
              <a:off x="8115300" y="3638550"/>
              <a:ext cx="9525" cy="1524000"/>
            </a:xfrm>
            <a:custGeom>
              <a:avLst/>
              <a:gdLst/>
              <a:ahLst/>
              <a:cxnLst/>
              <a:rect l="l" t="t" r="r" b="b"/>
              <a:pathLst>
                <a:path w="9525" h="1524000">
                  <a:moveTo>
                    <a:pt x="0" y="0"/>
                  </a:moveTo>
                  <a:lnTo>
                    <a:pt x="0" y="1524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8039100" y="35623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8039100" y="432435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039100" y="508635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10956" y="3520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身份有边界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10956" y="4282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复核有过程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10956" y="5044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隐私可验证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3" name="TextBox 23"/>
            <p:cNvSpPr txBox="1"/>
            <p:nvPr/>
          </p:nvSpPr>
          <p:spPr>
            <a:xfrm>
              <a:off x="678942" y="623601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可信来自可验证流程，而不是上链口号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简单上链，仍然留下三道硬伤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73608" y="2045018"/>
            <a:ext cx="2927787" cy="2932366"/>
            <a:chOff x="673608" y="2045018"/>
            <a:chExt cx="2927787" cy="2932366"/>
          </a:xfrm>
        </p:grpSpPr>
        <p:sp>
          <p:nvSpPr>
            <p:cNvPr id="5" name="TextBox 5"/>
            <p:cNvSpPr txBox="1"/>
            <p:nvPr/>
          </p:nvSpPr>
          <p:spPr>
            <a:xfrm>
              <a:off x="678942" y="2045018"/>
              <a:ext cx="1759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不可篡改 ≠ 自动可信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85800" y="2571750"/>
              <a:ext cx="2038350" cy="742950"/>
            </a:xfrm>
            <a:prstGeom prst="roundRect">
              <a:avLst>
                <a:gd name="adj" fmla="val 1025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83919" y="2788920"/>
              <a:ext cx="104211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写上链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2724150" y="2943225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47625">
              <a:solidFill>
                <a:srgbClr val="A13B3B"/>
              </a:solidFill>
              <a:custDash>
                <a:ds d="240000" sp="18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3143250" y="2705100"/>
              <a:ext cx="190500" cy="476250"/>
            </a:xfrm>
            <a:custGeom>
              <a:avLst/>
              <a:gdLst/>
              <a:ahLst/>
              <a:cxnLst/>
              <a:rect l="l" t="t" r="r" b="b"/>
              <a:pathLst>
                <a:path w="190500" h="476250">
                  <a:moveTo>
                    <a:pt x="0" y="0"/>
                  </a:moveTo>
                  <a:lnTo>
                    <a:pt x="190500" y="476250"/>
                  </a:lnTo>
                </a:path>
              </a:pathLst>
            </a:custGeom>
            <a:noFill/>
            <a:ln w="47625">
              <a:solidFill>
                <a:srgbClr val="A13B3B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6656" y="369189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它只能回答：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608" y="4065270"/>
              <a:ext cx="292778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“写入后改过吗？”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6656" y="4625340"/>
              <a:ext cx="26837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却不能回答右边三件事。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279392" y="1767840"/>
            <a:ext cx="6769608" cy="584835"/>
            <a:chOff x="4279392" y="1767840"/>
            <a:chExt cx="6769608" cy="584835"/>
          </a:xfrm>
        </p:grpSpPr>
        <p:sp>
          <p:nvSpPr>
            <p:cNvPr id="14" name="TextBox 14"/>
            <p:cNvSpPr txBox="1"/>
            <p:nvPr/>
          </p:nvSpPr>
          <p:spPr>
            <a:xfrm>
              <a:off x="4279392" y="1816418"/>
              <a:ext cx="1015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真实性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801106" y="1767840"/>
              <a:ext cx="48524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谁写入？谁复核？越权或误写如何被发现？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4286250" y="2343150"/>
              <a:ext cx="6762750" cy="9525"/>
            </a:xfrm>
            <a:custGeom>
              <a:avLst/>
              <a:gdLst/>
              <a:ahLst/>
              <a:cxnLst/>
              <a:rect l="l" t="t" r="r" b="b"/>
              <a:pathLst>
                <a:path w="6762750" h="9525">
                  <a:moveTo>
                    <a:pt x="0" y="0"/>
                  </a:moveTo>
                  <a:lnTo>
                    <a:pt x="67627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279392" y="2910840"/>
            <a:ext cx="6883070" cy="584835"/>
            <a:chOff x="4279392" y="2910840"/>
            <a:chExt cx="6883070" cy="584835"/>
          </a:xfrm>
        </p:grpSpPr>
        <p:sp>
          <p:nvSpPr>
            <p:cNvPr id="18" name="TextBox 18"/>
            <p:cNvSpPr txBox="1"/>
            <p:nvPr/>
          </p:nvSpPr>
          <p:spPr>
            <a:xfrm>
              <a:off x="4279392" y="2959418"/>
              <a:ext cx="1015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隐私性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01106" y="29108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成绩明文一旦公开，永久可见且无法真正撤回。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286250" y="3486150"/>
              <a:ext cx="6762750" cy="9525"/>
            </a:xfrm>
            <a:custGeom>
              <a:avLst/>
              <a:gdLst/>
              <a:ahLst/>
              <a:cxnLst/>
              <a:rect l="l" t="t" r="r" b="b"/>
              <a:pathLst>
                <a:path w="6762750" h="9525">
                  <a:moveTo>
                    <a:pt x="0" y="0"/>
                  </a:moveTo>
                  <a:lnTo>
                    <a:pt x="67627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4279392" y="4053840"/>
            <a:ext cx="6883070" cy="975360"/>
            <a:chOff x="4279392" y="4053840"/>
            <a:chExt cx="6883070" cy="975360"/>
          </a:xfrm>
        </p:grpSpPr>
        <p:sp>
          <p:nvSpPr>
            <p:cNvPr id="22" name="TextBox 22"/>
            <p:cNvSpPr txBox="1"/>
            <p:nvPr/>
          </p:nvSpPr>
          <p:spPr>
            <a:xfrm>
              <a:off x="4279392" y="4102418"/>
              <a:ext cx="12063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可纠错性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01106" y="40538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直接覆盖破坏历史，永不修订又违背真实业务。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810250" y="4629150"/>
              <a:ext cx="3429000" cy="400050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72219" y="4750118"/>
              <a:ext cx="3105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问题不在“存哪里”，而在“如何治理”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7" name="TextBox 27"/>
            <p:cNvSpPr txBox="1"/>
            <p:nvPr/>
          </p:nvSpPr>
          <p:spPr>
            <a:xfrm>
              <a:off x="678942" y="623601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设计起点：不可篡改只是可信系统的一项性质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9441180" cy="847535"/>
            <a:chOff x="669798" y="495300"/>
            <a:chExt cx="9441180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944118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我们的答案：公开承诺、私有详情、受控状态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1581150"/>
            <a:ext cx="8667750" cy="1066800"/>
            <a:chOff x="1028700" y="1581150"/>
            <a:chExt cx="8667750" cy="1066800"/>
          </a:xfrm>
        </p:grpSpPr>
        <p:sp>
          <p:nvSpPr>
            <p:cNvPr id="5" name="Rectangle 5"/>
            <p:cNvSpPr/>
            <p:nvPr/>
          </p:nvSpPr>
          <p:spPr>
            <a:xfrm>
              <a:off x="1028700" y="1581150"/>
              <a:ext cx="8667750" cy="1066800"/>
            </a:xfrm>
            <a:prstGeom prst="roundRect">
              <a:avLst>
                <a:gd name="adj" fmla="val 8929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8" name="Group 8"/>
            <p:cNvGrpSpPr/>
            <p:nvPr/>
          </p:nvGrpSpPr>
          <p:grpSpPr>
            <a:xfrm>
              <a:off x="1363631" y="1921669"/>
              <a:ext cx="356513" cy="328613"/>
              <a:chOff x="1363631" y="1921669"/>
              <a:chExt cx="356513" cy="328613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363631" y="1921669"/>
                <a:ext cx="356513" cy="325802"/>
              </a:xfrm>
              <a:custGeom>
                <a:avLst/>
                <a:gdLst/>
                <a:ahLst/>
                <a:cxnLst/>
                <a:rect l="l" t="t" r="r" b="b"/>
                <a:pathLst>
                  <a:path w="356513" h="325802">
                    <a:moveTo>
                      <a:pt x="179086" y="325802"/>
                    </a:moveTo>
                    <a:cubicBezTo>
                      <a:pt x="64719" y="290350"/>
                      <a:pt x="0" y="169645"/>
                      <a:pt x="33766" y="54769"/>
                    </a:cubicBezTo>
                    <a:cubicBezTo>
                      <a:pt x="90644" y="57372"/>
                      <a:pt x="146301" y="37728"/>
                      <a:pt x="188944" y="0"/>
                    </a:cubicBezTo>
                    <a:cubicBezTo>
                      <a:pt x="231588" y="37728"/>
                      <a:pt x="287245" y="57372"/>
                      <a:pt x="344123" y="54769"/>
                    </a:cubicBezTo>
                    <a:cubicBezTo>
                      <a:pt x="356513" y="96925"/>
                      <a:pt x="355940" y="141832"/>
                      <a:pt x="342480" y="183658"/>
                    </a:cubicBez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607344" y="2177257"/>
                <a:ext cx="109538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73025">
                    <a:moveTo>
                      <a:pt x="0" y="36513"/>
                    </a:moveTo>
                    <a:lnTo>
                      <a:pt x="36513" y="73025"/>
                    </a:lnTo>
                    <a:lnTo>
                      <a:pt x="109538" y="0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2031492" y="1825942"/>
              <a:ext cx="20702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PUBLIC · 所有人可验证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29206" y="2129790"/>
              <a:ext cx="50365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匿名标识 · SHA-256 承诺 · 状态 · 交易审计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581150" y="2876550"/>
            <a:ext cx="8115300" cy="1066800"/>
            <a:chOff x="1581150" y="2876550"/>
            <a:chExt cx="8115300" cy="1066800"/>
          </a:xfrm>
        </p:grpSpPr>
        <p:sp>
          <p:nvSpPr>
            <p:cNvPr id="12" name="Rectangle 12"/>
            <p:cNvSpPr/>
            <p:nvPr/>
          </p:nvSpPr>
          <p:spPr>
            <a:xfrm>
              <a:off x="1581150" y="2876550"/>
              <a:ext cx="8115300" cy="1066800"/>
            </a:xfrm>
            <a:prstGeom prst="roundRect">
              <a:avLst>
                <a:gd name="adj" fmla="val 8929"/>
              </a:avLst>
            </a:prstGeom>
            <a:solidFill>
              <a:srgbClr val="E8EEF5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1977231" y="3217069"/>
              <a:ext cx="255588" cy="328613"/>
              <a:chOff x="1977231" y="3217069"/>
              <a:chExt cx="255588" cy="32861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977231" y="3363119"/>
                <a:ext cx="255588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255588" h="182563">
                    <a:moveTo>
                      <a:pt x="0" y="36513"/>
                    </a:moveTo>
                    <a:cubicBezTo>
                      <a:pt x="0" y="16347"/>
                      <a:pt x="16347" y="0"/>
                      <a:pt x="36513" y="0"/>
                    </a:cubicBezTo>
                    <a:lnTo>
                      <a:pt x="219075" y="0"/>
                    </a:lnTo>
                    <a:cubicBezTo>
                      <a:pt x="239241" y="0"/>
                      <a:pt x="255588" y="16347"/>
                      <a:pt x="255588" y="36513"/>
                    </a:cubicBezTo>
                    <a:lnTo>
                      <a:pt x="255588" y="146050"/>
                    </a:lnTo>
                    <a:cubicBezTo>
                      <a:pt x="255588" y="166216"/>
                      <a:pt x="239241" y="182563"/>
                      <a:pt x="219075" y="182563"/>
                    </a:cubicBezTo>
                    <a:lnTo>
                      <a:pt x="36513" y="182563"/>
                    </a:lnTo>
                    <a:cubicBezTo>
                      <a:pt x="16347" y="182563"/>
                      <a:pt x="0" y="166216"/>
                      <a:pt x="0" y="146050"/>
                    </a:cubicBezTo>
                    <a:lnTo>
                      <a:pt x="0" y="36513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2086769" y="3436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2032000" y="3217069"/>
                <a:ext cx="146050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46050">
                    <a:moveTo>
                      <a:pt x="0" y="146050"/>
                    </a:moveTo>
                    <a:lnTo>
                      <a:pt x="0" y="73025"/>
                    </a:lnTo>
                    <a:cubicBezTo>
                      <a:pt x="0" y="32694"/>
                      <a:pt x="32694" y="0"/>
                      <a:pt x="73025" y="0"/>
                    </a:cubicBezTo>
                    <a:cubicBezTo>
                      <a:pt x="113356" y="0"/>
                      <a:pt x="146050" y="32694"/>
                      <a:pt x="146050" y="73025"/>
                    </a:cubicBezTo>
                    <a:lnTo>
                      <a:pt x="146050" y="146050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2583942" y="3121342"/>
              <a:ext cx="2382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PRIVATE · 授权主体可读取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81656" y="3425190"/>
              <a:ext cx="45253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课程 · 分数 · 等级 · 申诉理由 · 复核决定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133600" y="4171950"/>
            <a:ext cx="7562850" cy="1066800"/>
            <a:chOff x="2133600" y="4171950"/>
            <a:chExt cx="7562850" cy="1066800"/>
          </a:xfrm>
        </p:grpSpPr>
        <p:sp>
          <p:nvSpPr>
            <p:cNvPr id="20" name="Rectangle 20"/>
            <p:cNvSpPr/>
            <p:nvPr/>
          </p:nvSpPr>
          <p:spPr>
            <a:xfrm>
              <a:off x="2133600" y="4171950"/>
              <a:ext cx="7562850" cy="1066800"/>
            </a:xfrm>
            <a:prstGeom prst="roundRect">
              <a:avLst>
                <a:gd name="adj" fmla="val 8929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2529681" y="4530725"/>
              <a:ext cx="273845" cy="292101"/>
              <a:chOff x="2529681" y="4530725"/>
              <a:chExt cx="273845" cy="29210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2529681" y="4749801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2529681" y="453072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12244" y="453072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566194" y="4603750"/>
                <a:ext cx="952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46050">
                    <a:moveTo>
                      <a:pt x="0" y="0"/>
                    </a:moveTo>
                    <a:lnTo>
                      <a:pt x="0" y="146050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2602707" y="4658519"/>
                <a:ext cx="146050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27794">
                    <a:moveTo>
                      <a:pt x="0" y="127794"/>
                    </a:moveTo>
                    <a:lnTo>
                      <a:pt x="109538" y="127794"/>
                    </a:lnTo>
                    <a:cubicBezTo>
                      <a:pt x="129703" y="127794"/>
                      <a:pt x="146050" y="111447"/>
                      <a:pt x="146050" y="91281"/>
                    </a:cubicBezTo>
                    <a:lnTo>
                      <a:pt x="146050" y="0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2693988" y="4658519"/>
                <a:ext cx="109538" cy="54769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54769">
                    <a:moveTo>
                      <a:pt x="0" y="54769"/>
                    </a:moveTo>
                    <a:lnTo>
                      <a:pt x="54769" y="0"/>
                    </a:lnTo>
                    <a:lnTo>
                      <a:pt x="109538" y="54769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3136392" y="4416742"/>
              <a:ext cx="2806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GOVERNANCE · 每次变化有条件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34106" y="4720590"/>
              <a:ext cx="40407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签发 · 独立复核 · 修订 · 申诉 · 撤销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63200" y="1885950"/>
            <a:ext cx="788394" cy="3124200"/>
            <a:chOff x="10363200" y="1885950"/>
            <a:chExt cx="788394" cy="3124200"/>
          </a:xfrm>
        </p:grpSpPr>
        <p:sp>
          <p:nvSpPr>
            <p:cNvPr id="31" name="Line 31"/>
            <p:cNvSpPr/>
            <p:nvPr/>
          </p:nvSpPr>
          <p:spPr>
            <a:xfrm>
              <a:off x="10458450" y="188595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10363200" y="48196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95250" y="190500"/>
                  </a:moveTo>
                  <a:lnTo>
                    <a:pt x="0" y="0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565406" y="30356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从可见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565406" y="3330892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到可控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248150" y="5467350"/>
            <a:ext cx="6572250" cy="476250"/>
            <a:chOff x="4248150" y="5467350"/>
            <a:chExt cx="6572250" cy="476250"/>
          </a:xfrm>
        </p:grpSpPr>
        <p:sp>
          <p:nvSpPr>
            <p:cNvPr id="36" name="Rectangle 36"/>
            <p:cNvSpPr/>
            <p:nvPr/>
          </p:nvSpPr>
          <p:spPr>
            <a:xfrm>
              <a:off x="4248150" y="5467350"/>
              <a:ext cx="6572250" cy="476250"/>
            </a:xfrm>
            <a:prstGeom prst="roundRect">
              <a:avLst>
                <a:gd name="adj" fmla="val 12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599165" y="5587365"/>
              <a:ext cx="58702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公开可验，但不公开明文；允许纠错，但不覆盖历史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9" name="TextBox 39"/>
            <p:cNvSpPr txBox="1"/>
            <p:nvPr/>
          </p:nvSpPr>
          <p:spPr>
            <a:xfrm>
              <a:off x="678942" y="6236018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核心设计：承诺验证 + 私有数据 + 状态机治理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一条交易，穿过四层责任边界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543050"/>
            <a:ext cx="10820400" cy="3409950"/>
            <a:chOff x="685800" y="1543050"/>
            <a:chExt cx="10820400" cy="3409950"/>
          </a:xfrm>
        </p:grpSpPr>
        <p:sp>
          <p:nvSpPr>
            <p:cNvPr id="5" name="Rectangle 5"/>
            <p:cNvSpPr/>
            <p:nvPr/>
          </p:nvSpPr>
          <p:spPr>
            <a:xfrm>
              <a:off x="685800" y="1657350"/>
              <a:ext cx="2228850" cy="3295650"/>
            </a:xfrm>
            <a:prstGeom prst="roundRect">
              <a:avLst>
                <a:gd name="adj" fmla="val 4274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6" name="Rectangle 6"/>
            <p:cNvSpPr/>
            <p:nvPr/>
          </p:nvSpPr>
          <p:spPr>
            <a:xfrm>
              <a:off x="3219450" y="1657350"/>
              <a:ext cx="3429000" cy="3295650"/>
            </a:xfrm>
            <a:prstGeom prst="roundRect">
              <a:avLst>
                <a:gd name="adj" fmla="val 289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7" name="Rectangle 7"/>
            <p:cNvSpPr/>
            <p:nvPr/>
          </p:nvSpPr>
          <p:spPr>
            <a:xfrm>
              <a:off x="6953250" y="1657350"/>
              <a:ext cx="4552950" cy="3295650"/>
            </a:xfrm>
            <a:prstGeom prst="roundRect">
              <a:avLst>
                <a:gd name="adj" fmla="val 289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  <a:custDash>
                <a:ds d="400000" sp="30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876300" y="1543050"/>
              <a:ext cx="9144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3409950" y="1543050"/>
              <a:ext cx="11049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0" y="1543050"/>
              <a:ext cx="11049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40406" y="15687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73894" y="156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应用边界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49995" y="1568768"/>
              <a:ext cx="1092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FABRIC 网络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571750" y="2771775"/>
            <a:ext cx="6686550" cy="1943100"/>
            <a:chOff x="2571750" y="2771775"/>
            <a:chExt cx="6686550" cy="1943100"/>
          </a:xfrm>
        </p:grpSpPr>
        <p:sp>
          <p:nvSpPr>
            <p:cNvPr id="15" name="Line 15"/>
            <p:cNvSpPr/>
            <p:nvPr/>
          </p:nvSpPr>
          <p:spPr>
            <a:xfrm>
              <a:off x="2571750" y="2857500"/>
              <a:ext cx="1028700" cy="9525"/>
            </a:xfrm>
            <a:custGeom>
              <a:avLst/>
              <a:gdLst/>
              <a:ahLst/>
              <a:cxnLst/>
              <a:rect l="l" t="t" r="r" b="b"/>
              <a:pathLst>
                <a:path w="1028700" h="9525">
                  <a:moveTo>
                    <a:pt x="0" y="0"/>
                  </a:moveTo>
                  <a:lnTo>
                    <a:pt x="10287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356235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5238750" y="28575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58674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6648450" y="2857500"/>
              <a:ext cx="704850" cy="9525"/>
            </a:xfrm>
            <a:custGeom>
              <a:avLst/>
              <a:gdLst/>
              <a:ahLst/>
              <a:cxnLst/>
              <a:rect l="l" t="t" r="r" b="b"/>
              <a:pathLst>
                <a:path w="704850" h="952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73152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210550" y="3086100"/>
              <a:ext cx="933450" cy="419100"/>
            </a:xfrm>
            <a:custGeom>
              <a:avLst/>
              <a:gdLst/>
              <a:ahLst/>
              <a:cxnLst/>
              <a:rect l="l" t="t" r="r" b="b"/>
              <a:pathLst>
                <a:path w="933450" h="419100">
                  <a:moveTo>
                    <a:pt x="0" y="0"/>
                  </a:moveTo>
                  <a:lnTo>
                    <a:pt x="0" y="419100"/>
                  </a:lnTo>
                  <a:lnTo>
                    <a:pt x="933450" y="4191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9105900" y="34194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210550" y="3086100"/>
              <a:ext cx="933450" cy="1085850"/>
            </a:xfrm>
            <a:custGeom>
              <a:avLst/>
              <a:gdLst/>
              <a:ahLst/>
              <a:cxnLst/>
              <a:rect l="l" t="t" r="r" b="b"/>
              <a:pathLst>
                <a:path w="933450" h="1085850">
                  <a:moveTo>
                    <a:pt x="0" y="0"/>
                  </a:moveTo>
                  <a:lnTo>
                    <a:pt x="0" y="1085850"/>
                  </a:lnTo>
                  <a:lnTo>
                    <a:pt x="933450" y="10858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9105900" y="4086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905500" y="3276600"/>
              <a:ext cx="2171700" cy="1352550"/>
            </a:xfrm>
            <a:custGeom>
              <a:avLst/>
              <a:gdLst/>
              <a:ahLst/>
              <a:cxnLst/>
              <a:rect l="l" t="t" r="r" b="b"/>
              <a:pathLst>
                <a:path w="2171700" h="1352550">
                  <a:moveTo>
                    <a:pt x="0" y="0"/>
                  </a:moveTo>
                  <a:lnTo>
                    <a:pt x="0" y="1352550"/>
                  </a:lnTo>
                  <a:lnTo>
                    <a:pt x="2171700" y="13525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  <a:custDash>
                <a:ds d="400000" sp="300000"/>
              </a:custDash>
            </a:ln>
          </p:spPr>
        </p:sp>
        <p:sp>
          <p:nvSpPr>
            <p:cNvPr id="26" name="Polygon 26"/>
            <p:cNvSpPr/>
            <p:nvPr/>
          </p:nvSpPr>
          <p:spPr>
            <a:xfrm>
              <a:off x="8039100" y="45434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914400" y="2114550"/>
            <a:ext cx="1771650" cy="1813751"/>
            <a:chOff x="914400" y="2114550"/>
            <a:chExt cx="1771650" cy="1813751"/>
          </a:xfrm>
        </p:grpSpPr>
        <p:sp>
          <p:nvSpPr>
            <p:cNvPr id="28" name="Rectangle 28"/>
            <p:cNvSpPr/>
            <p:nvPr/>
          </p:nvSpPr>
          <p:spPr>
            <a:xfrm>
              <a:off x="914400" y="2114550"/>
              <a:ext cx="1771650" cy="1809750"/>
            </a:xfrm>
            <a:prstGeom prst="roundRect">
              <a:avLst>
                <a:gd name="adj" fmla="val 537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647825" y="2405063"/>
              <a:ext cx="309563" cy="371475"/>
              <a:chOff x="1647825" y="2405063"/>
              <a:chExt cx="309563" cy="3714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689100" y="240506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647825" y="2652713"/>
                <a:ext cx="1651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833563" y="2693988"/>
                <a:ext cx="1238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82550">
                    <a:moveTo>
                      <a:pt x="0" y="41275"/>
                    </a:moveTo>
                    <a:lnTo>
                      <a:pt x="41275" y="82550"/>
                    </a:lnTo>
                    <a:lnTo>
                      <a:pt x="123825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27786" y="29679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四角色工作台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6441" y="339756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issuer · reviewer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4637" y="3664268"/>
              <a:ext cx="16311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student · verifier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600450" y="2114550"/>
            <a:ext cx="1619250" cy="1485900"/>
            <a:chOff x="3600450" y="2114550"/>
            <a:chExt cx="1619250" cy="1485900"/>
          </a:xfrm>
        </p:grpSpPr>
        <p:sp>
          <p:nvSpPr>
            <p:cNvPr id="37" name="Rectangle 37"/>
            <p:cNvSpPr/>
            <p:nvPr/>
          </p:nvSpPr>
          <p:spPr>
            <a:xfrm>
              <a:off x="3600450" y="2114550"/>
              <a:ext cx="1619250" cy="1485900"/>
            </a:xfrm>
            <a:prstGeom prst="roundRect">
              <a:avLst>
                <a:gd name="adj" fmla="val 641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798216" y="2377440"/>
              <a:ext cx="12237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Vue 3 Web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3867150" y="2781300"/>
              <a:ext cx="1085850" cy="9525"/>
            </a:xfrm>
            <a:custGeom>
              <a:avLst/>
              <a:gdLst/>
              <a:ahLst/>
              <a:cxnLst/>
              <a:rect l="l" t="t" r="r" b="b"/>
              <a:pathLst>
                <a:path w="1085850" h="9525">
                  <a:moveTo>
                    <a:pt x="0" y="0"/>
                  </a:moveTo>
                  <a:lnTo>
                    <a:pt x="10858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790390" y="2997518"/>
              <a:ext cx="12393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HttpOnly 会话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71163" y="3283268"/>
              <a:ext cx="8778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CSRF 校验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619750" y="2114550"/>
            <a:ext cx="1028700" cy="1485900"/>
            <a:chOff x="5619750" y="2114550"/>
            <a:chExt cx="1028700" cy="1485900"/>
          </a:xfrm>
        </p:grpSpPr>
        <p:sp>
          <p:nvSpPr>
            <p:cNvPr id="43" name="Rectangle 43"/>
            <p:cNvSpPr/>
            <p:nvPr/>
          </p:nvSpPr>
          <p:spPr>
            <a:xfrm>
              <a:off x="5619750" y="2114550"/>
              <a:ext cx="1028700" cy="1485900"/>
            </a:xfrm>
            <a:prstGeom prst="roundRect">
              <a:avLst>
                <a:gd name="adj" fmla="val 925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36772" y="2453640"/>
              <a:ext cx="3946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API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763768" y="2883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固定身份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756249" y="3188018"/>
              <a:ext cx="7557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Gateway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7467600" y="2114550"/>
            <a:ext cx="3581400" cy="2362200"/>
            <a:chOff x="7467600" y="2114550"/>
            <a:chExt cx="3581400" cy="2362200"/>
          </a:xfrm>
        </p:grpSpPr>
        <p:sp>
          <p:nvSpPr>
            <p:cNvPr id="48" name="Rectangle 48"/>
            <p:cNvSpPr/>
            <p:nvPr/>
          </p:nvSpPr>
          <p:spPr>
            <a:xfrm>
              <a:off x="7467600" y="2114550"/>
              <a:ext cx="1485900" cy="971550"/>
            </a:xfrm>
            <a:prstGeom prst="roundRect">
              <a:avLst>
                <a:gd name="adj" fmla="val 9804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747000" y="2395537"/>
              <a:ext cx="279399" cy="314325"/>
              <a:chOff x="7747000" y="2395537"/>
              <a:chExt cx="279399" cy="3143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747000" y="2395537"/>
                <a:ext cx="279399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04775">
                    <a:moveTo>
                      <a:pt x="0" y="52387"/>
                    </a:moveTo>
                    <a:cubicBezTo>
                      <a:pt x="0" y="81320"/>
                      <a:pt x="62546" y="104775"/>
                      <a:pt x="139700" y="104775"/>
                    </a:cubicBezTo>
                    <a:cubicBezTo>
                      <a:pt x="216854" y="104775"/>
                      <a:pt x="279399" y="81320"/>
                      <a:pt x="279399" y="52387"/>
                    </a:cubicBezTo>
                    <a:cubicBezTo>
                      <a:pt x="279399" y="23455"/>
                      <a:pt x="216854" y="0"/>
                      <a:pt x="139700" y="0"/>
                    </a:cubicBezTo>
                    <a:cubicBezTo>
                      <a:pt x="62546" y="0"/>
                      <a:pt x="0" y="23455"/>
                      <a:pt x="0" y="52387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47000" y="2447925"/>
                <a:ext cx="279399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399" y="133708"/>
                      <a:pt x="279399" y="104775"/>
                    </a:cubicBezTo>
                    <a:lnTo>
                      <a:pt x="279399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47000" y="2552700"/>
                <a:ext cx="279399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399" y="133708"/>
                      <a:pt x="279399" y="104775"/>
                    </a:cubicBezTo>
                    <a:lnTo>
                      <a:pt x="279399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8296656" y="2339340"/>
              <a:ext cx="12216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Chaincode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298942" y="26736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状态与校验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258300" y="3200400"/>
              <a:ext cx="1790700" cy="609600"/>
            </a:xfrm>
            <a:prstGeom prst="roundRect">
              <a:avLst>
                <a:gd name="adj" fmla="val 1250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511067" y="3387090"/>
              <a:ext cx="1285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Peer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258300" y="3867150"/>
              <a:ext cx="1790700" cy="609600"/>
            </a:xfrm>
            <a:prstGeom prst="roundRect">
              <a:avLst>
                <a:gd name="adj" fmla="val 1250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11067" y="4053840"/>
              <a:ext cx="1285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3562350" y="4514850"/>
            <a:ext cx="6762750" cy="742950"/>
            <a:chOff x="3562350" y="4514850"/>
            <a:chExt cx="6762750" cy="742950"/>
          </a:xfrm>
        </p:grpSpPr>
        <p:sp>
          <p:nvSpPr>
            <p:cNvPr id="60" name="Rectangle 60"/>
            <p:cNvSpPr/>
            <p:nvPr/>
          </p:nvSpPr>
          <p:spPr>
            <a:xfrm>
              <a:off x="3562350" y="4514850"/>
              <a:ext cx="6762750" cy="742950"/>
            </a:xfrm>
            <a:prstGeom prst="roundRect">
              <a:avLst>
                <a:gd name="adj" fmla="val 10256"/>
              </a:avLst>
            </a:prstGeom>
            <a:solidFill>
              <a:srgbClr val="E7F1EC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3784092" y="467391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transient 私有路径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784092" y="4978718"/>
              <a:ext cx="62448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成绩、申诉和决定正文不进入交易参数；公共状态只留下 SHA-256 承诺。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5505450"/>
            <a:ext cx="10820400" cy="443484"/>
            <a:chOff x="685800" y="5505450"/>
            <a:chExt cx="10820400" cy="443484"/>
          </a:xfrm>
        </p:grpSpPr>
        <p:sp>
          <p:nvSpPr>
            <p:cNvPr id="64" name="Rectangle 64"/>
            <p:cNvSpPr/>
            <p:nvPr/>
          </p:nvSpPr>
          <p:spPr>
            <a:xfrm>
              <a:off x="685800" y="5505450"/>
              <a:ext cx="10820400" cy="438150"/>
            </a:xfrm>
            <a:prstGeom prst="roundRect">
              <a:avLst>
                <a:gd name="adj" fmla="val 1304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711589" y="5596890"/>
              <a:ext cx="87688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浏览器不能提交证书路径或任意 MSP 身份——动作只映射到服务器固定身份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7" name="TextBox 67"/>
            <p:cNvSpPr txBox="1"/>
            <p:nvPr/>
          </p:nvSpPr>
          <p:spPr>
            <a:xfrm>
              <a:off x="678942" y="6236018"/>
              <a:ext cx="51415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实现边界：Vue 3 → Node API → Fabric Gateway → 双组织 Peer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四类角色，各自只做该做的事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19200" y="2009775"/>
            <a:ext cx="9753600" cy="247650"/>
            <a:chOff x="1219200" y="2009775"/>
            <a:chExt cx="9753600" cy="247650"/>
          </a:xfrm>
        </p:grpSpPr>
        <p:sp>
          <p:nvSpPr>
            <p:cNvPr id="5" name="Line 5"/>
            <p:cNvSpPr/>
            <p:nvPr/>
          </p:nvSpPr>
          <p:spPr>
            <a:xfrm>
              <a:off x="1219200" y="2133600"/>
              <a:ext cx="9753600" cy="9525"/>
            </a:xfrm>
            <a:custGeom>
              <a:avLst/>
              <a:gdLst/>
              <a:ahLst/>
              <a:cxnLst/>
              <a:rect l="l" t="t" r="r" b="b"/>
              <a:pathLst>
                <a:path w="9753600" h="9525">
                  <a:moveTo>
                    <a:pt x="0" y="0"/>
                  </a:moveTo>
                  <a:lnTo>
                    <a:pt x="9753600" y="0"/>
                  </a:lnTo>
                </a:path>
              </a:pathLst>
            </a:custGeom>
            <a:noFill/>
            <a:ln w="76200">
              <a:solidFill>
                <a:srgbClr val="C8CDD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800225" y="2009775"/>
              <a:ext cx="247650" cy="2476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4486275" y="200977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7210425" y="2009775"/>
              <a:ext cx="247650" cy="2476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0010775" y="2009775"/>
              <a:ext cx="247650" cy="2476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905256" y="2768918"/>
            <a:ext cx="1678896" cy="2111883"/>
            <a:chOff x="905256" y="2768918"/>
            <a:chExt cx="1678896" cy="2111883"/>
          </a:xfrm>
        </p:grpSpPr>
        <p:sp>
          <p:nvSpPr>
            <p:cNvPr id="11" name="TextBox 11"/>
            <p:cNvSpPr txBox="1"/>
            <p:nvPr/>
          </p:nvSpPr>
          <p:spPr>
            <a:xfrm>
              <a:off x="907542" y="2768918"/>
              <a:ext cx="14654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 · 签发者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952500" y="3257550"/>
              <a:ext cx="381000" cy="266700"/>
              <a:chOff x="952500" y="3257550"/>
              <a:chExt cx="381000" cy="2667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52500" y="32575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28700" y="33642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905256" y="3806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创建凭证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7542" y="42167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批量导入 · 提出修订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7542" y="46167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不能自行批准生效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486150" y="2381250"/>
            <a:ext cx="2381250" cy="2667000"/>
            <a:chOff x="3486150" y="2381250"/>
            <a:chExt cx="2381250" cy="2667000"/>
          </a:xfrm>
        </p:grpSpPr>
        <p:sp>
          <p:nvSpPr>
            <p:cNvPr id="19" name="Rectangle 19"/>
            <p:cNvSpPr/>
            <p:nvPr/>
          </p:nvSpPr>
          <p:spPr>
            <a:xfrm>
              <a:off x="3486150" y="2381250"/>
              <a:ext cx="2381250" cy="2667000"/>
            </a:xfrm>
            <a:prstGeom prst="roundRect">
              <a:avLst>
                <a:gd name="adj" fmla="val 4000"/>
              </a:avLst>
            </a:prstGeom>
            <a:solidFill>
              <a:srgbClr val="FFF6D9"/>
            </a:solidFill>
            <a:ln w="2857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26942" y="2673668"/>
              <a:ext cx="1727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 · 复核者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3848100" y="3124200"/>
              <a:ext cx="285750" cy="342900"/>
              <a:chOff x="3848100" y="3124200"/>
              <a:chExt cx="285750" cy="3429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3886200" y="31242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76200"/>
                    </a:moveTo>
                    <a:cubicBezTo>
                      <a:pt x="0" y="118284"/>
                      <a:pt x="34116" y="152400"/>
                      <a:pt x="76200" y="152400"/>
                    </a:cubicBezTo>
                    <a:cubicBezTo>
                      <a:pt x="118284" y="152400"/>
                      <a:pt x="152400" y="118284"/>
                      <a:pt x="152400" y="76200"/>
                    </a:cubicBezTo>
                    <a:cubicBezTo>
                      <a:pt x="152400" y="34116"/>
                      <a:pt x="118284" y="0"/>
                      <a:pt x="76200" y="0"/>
                    </a:cubicBezTo>
                    <a:cubicBezTo>
                      <a:pt x="34116" y="0"/>
                      <a:pt x="0" y="34116"/>
                      <a:pt x="0" y="762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848100" y="3352800"/>
                <a:ext cx="1524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14300">
                    <a:moveTo>
                      <a:pt x="0" y="114300"/>
                    </a:move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19550" y="33909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3724656" y="37109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独立做决定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6942" y="4121468"/>
              <a:ext cx="1522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批准 · 拒绝 · 撤销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26942" y="4426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处理申诉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26942" y="47501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不能替学生提交理由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34506" y="2768918"/>
            <a:ext cx="1678896" cy="2111883"/>
            <a:chOff x="6334506" y="2768918"/>
            <a:chExt cx="1678896" cy="2111883"/>
          </a:xfrm>
        </p:grpSpPr>
        <p:sp>
          <p:nvSpPr>
            <p:cNvPr id="30" name="TextBox 30"/>
            <p:cNvSpPr txBox="1"/>
            <p:nvPr/>
          </p:nvSpPr>
          <p:spPr>
            <a:xfrm>
              <a:off x="6336792" y="2768918"/>
              <a:ext cx="16267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STUDENT · 持有者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6400800" y="3219450"/>
              <a:ext cx="304800" cy="361950"/>
              <a:chOff x="6400800" y="3219450"/>
              <a:chExt cx="304800" cy="36195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610350" y="321945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86721"/>
                      <a:pt x="8529" y="95250"/>
                      <a:pt x="19050" y="95250"/>
                    </a:cubicBezTo>
                    <a:lnTo>
                      <a:pt x="95250" y="9525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438900" y="3219450"/>
                <a:ext cx="2667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342900">
                    <a:moveTo>
                      <a:pt x="0" y="95250"/>
                    </a:move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lnTo>
                      <a:pt x="171450" y="0"/>
                    </a:lnTo>
                    <a:lnTo>
                      <a:pt x="266700" y="95250"/>
                    </a:lnTo>
                    <a:lnTo>
                      <a:pt x="266700" y="304800"/>
                    </a:lnTo>
                    <a:cubicBezTo>
                      <a:pt x="266700" y="325842"/>
                      <a:pt x="249642" y="342900"/>
                      <a:pt x="228600" y="342900"/>
                    </a:cubicBezTo>
                    <a:lnTo>
                      <a:pt x="133350" y="34290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400800" y="33718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400800" y="3486150"/>
                <a:ext cx="1143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0">
                    <a:moveTo>
                      <a:pt x="28575" y="0"/>
                    </a:moveTo>
                    <a:lnTo>
                      <a:pt x="0" y="95250"/>
                    </a:lnTo>
                    <a:lnTo>
                      <a:pt x="57150" y="66675"/>
                    </a:lnTo>
                    <a:lnTo>
                      <a:pt x="114300" y="95250"/>
                    </a:lnTo>
                    <a:lnTo>
                      <a:pt x="85725" y="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334506" y="3806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查看本人详情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36792" y="42167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发起申诉 · 授权披露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36792" y="46167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不能修改原凭证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982456" y="2768918"/>
            <a:ext cx="1639085" cy="2111883"/>
            <a:chOff x="8982456" y="2768918"/>
            <a:chExt cx="1639085" cy="2111883"/>
          </a:xfrm>
        </p:grpSpPr>
        <p:sp>
          <p:nvSpPr>
            <p:cNvPr id="40" name="TextBox 40"/>
            <p:cNvSpPr txBox="1"/>
            <p:nvPr/>
          </p:nvSpPr>
          <p:spPr>
            <a:xfrm>
              <a:off x="8984742" y="2768918"/>
              <a:ext cx="1636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VERIFIER · 验证者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9023041" y="3219450"/>
              <a:ext cx="372013" cy="342900"/>
              <a:chOff x="9023041" y="3219450"/>
              <a:chExt cx="372013" cy="3429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9023041" y="3219450"/>
                <a:ext cx="372013" cy="339966"/>
              </a:xfrm>
              <a:custGeom>
                <a:avLst/>
                <a:gdLst/>
                <a:ahLst/>
                <a:cxnLst/>
                <a:rect l="l" t="t" r="r" b="b"/>
                <a:pathLst>
                  <a:path w="372013" h="339966">
                    <a:moveTo>
                      <a:pt x="186872" y="339966"/>
                    </a:moveTo>
                    <a:cubicBezTo>
                      <a:pt x="67532" y="302974"/>
                      <a:pt x="0" y="177021"/>
                      <a:pt x="35234" y="57150"/>
                    </a:cubicBezTo>
                    <a:cubicBezTo>
                      <a:pt x="94585" y="59866"/>
                      <a:pt x="152661" y="39368"/>
                      <a:pt x="197159" y="0"/>
                    </a:cubicBezTo>
                    <a:cubicBezTo>
                      <a:pt x="241657" y="39368"/>
                      <a:pt x="299733" y="59866"/>
                      <a:pt x="359084" y="57150"/>
                    </a:cubicBezTo>
                    <a:cubicBezTo>
                      <a:pt x="372013" y="101139"/>
                      <a:pt x="371415" y="147998"/>
                      <a:pt x="357369" y="191643"/>
                    </a:cubicBezTo>
                  </a:path>
                </a:pathLst>
              </a:custGeom>
              <a:noFill/>
              <a:ln w="38100">
                <a:solidFill>
                  <a:schemeClr val="accent6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277350" y="34861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>
                <a:solidFill>
                  <a:schemeClr val="accent6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8982456" y="3806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验证公开状态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84742" y="42167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消费授权字段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984742" y="46167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不能读取全部成绩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000250" y="5429250"/>
            <a:ext cx="8191500" cy="538734"/>
            <a:chOff x="2000250" y="5429250"/>
            <a:chExt cx="8191500" cy="538734"/>
          </a:xfrm>
        </p:grpSpPr>
        <p:sp>
          <p:nvSpPr>
            <p:cNvPr id="48" name="Line 48"/>
            <p:cNvSpPr/>
            <p:nvPr/>
          </p:nvSpPr>
          <p:spPr>
            <a:xfrm>
              <a:off x="2000250" y="542925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020953" y="5615940"/>
              <a:ext cx="61500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没有“超级管理员”捷径：可信来自互相制约的权限边界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1" name="TextBox 51"/>
            <p:cNvSpPr txBox="1"/>
            <p:nvPr/>
          </p:nvSpPr>
          <p:spPr>
            <a:xfrm>
              <a:off x="678942" y="6236018"/>
              <a:ext cx="3412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会话、API 与链码三层重复执行角色校验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8029804" cy="847535"/>
            <a:chOff x="669798" y="495300"/>
            <a:chExt cx="8029804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802980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凭证不会被覆盖，只会留下下一段历史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23925" y="2273618"/>
            <a:ext cx="8810625" cy="2403157"/>
            <a:chOff x="923925" y="2273618"/>
            <a:chExt cx="8810625" cy="2403157"/>
          </a:xfrm>
        </p:grpSpPr>
        <p:sp>
          <p:nvSpPr>
            <p:cNvPr id="5" name="Ellipse 5"/>
            <p:cNvSpPr/>
            <p:nvPr/>
          </p:nvSpPr>
          <p:spPr>
            <a:xfrm>
              <a:off x="923925" y="2619375"/>
              <a:ext cx="133350" cy="13335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Line 6"/>
            <p:cNvSpPr/>
            <p:nvPr/>
          </p:nvSpPr>
          <p:spPr>
            <a:xfrm>
              <a:off x="1057275" y="2686050"/>
              <a:ext cx="561975" cy="9525"/>
            </a:xfrm>
            <a:custGeom>
              <a:avLst/>
              <a:gdLst/>
              <a:ahLst/>
              <a:cxnLst/>
              <a:rect l="l" t="t" r="r" b="b"/>
              <a:pathLst>
                <a:path w="561975" h="9525">
                  <a:moveTo>
                    <a:pt x="0" y="0"/>
                  </a:moveTo>
                  <a:lnTo>
                    <a:pt x="561975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7" name="Polygon 7"/>
            <p:cNvSpPr/>
            <p:nvPr/>
          </p:nvSpPr>
          <p:spPr>
            <a:xfrm>
              <a:off x="15811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3352800" y="2686050"/>
              <a:ext cx="742950" cy="9525"/>
            </a:xfrm>
            <a:custGeom>
              <a:avLst/>
              <a:gdLst/>
              <a:ahLst/>
              <a:cxnLst/>
              <a:rect l="l" t="t" r="r" b="b"/>
              <a:pathLst>
                <a:path w="742950" h="9525">
                  <a:moveTo>
                    <a:pt x="0" y="0"/>
                  </a:moveTo>
                  <a:lnTo>
                    <a:pt x="7429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40576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122666" y="22736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reviewer 批准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6019800" y="2686050"/>
              <a:ext cx="781050" cy="9525"/>
            </a:xfrm>
            <a:custGeom>
              <a:avLst/>
              <a:gdLst/>
              <a:ahLst/>
              <a:cxnLst/>
              <a:rect l="l" t="t" r="r" b="b"/>
              <a:pathLst>
                <a:path w="781050" h="9525">
                  <a:moveTo>
                    <a:pt x="0" y="0"/>
                  </a:moveTo>
                  <a:lnTo>
                    <a:pt x="7810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67627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49518" y="2273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修订生效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8743950" y="26860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95821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800350" y="3086100"/>
              <a:ext cx="2152650" cy="819150"/>
            </a:xfrm>
            <a:custGeom>
              <a:avLst/>
              <a:gdLst/>
              <a:ahLst/>
              <a:cxnLst/>
              <a:rect l="l" t="t" r="r" b="b"/>
              <a:pathLst>
                <a:path w="2152650" h="819150">
                  <a:moveTo>
                    <a:pt x="2152650" y="0"/>
                  </a:moveTo>
                  <a:lnTo>
                    <a:pt x="2152650" y="819150"/>
                  </a:lnTo>
                  <a:lnTo>
                    <a:pt x="0" y="819150"/>
                  </a:lnTo>
                </a:path>
              </a:pathLst>
            </a:custGeom>
            <a:noFill/>
            <a:ln w="19050">
              <a:solidFill>
                <a:srgbClr val="A13B3B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686050" y="38195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rgbClr val="A13B3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332216" y="36071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reviewer 拒绝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5181600" y="3086100"/>
              <a:ext cx="628650" cy="1504950"/>
            </a:xfrm>
            <a:custGeom>
              <a:avLst/>
              <a:gdLst/>
              <a:ahLst/>
              <a:cxnLst/>
              <a:rect l="l" t="t" r="r" b="b"/>
              <a:pathLst>
                <a:path w="628650" h="1504950">
                  <a:moveTo>
                    <a:pt x="0" y="0"/>
                  </a:moveTo>
                  <a:lnTo>
                    <a:pt x="0" y="1504950"/>
                  </a:lnTo>
                  <a:lnTo>
                    <a:pt x="628650" y="150495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5772150" y="4505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25451" y="4216718"/>
              <a:ext cx="11313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student 申诉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067300" y="42100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5886450" y="4124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154168" y="3892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允许再审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7810500" y="3086100"/>
              <a:ext cx="1714500" cy="819150"/>
            </a:xfrm>
            <a:custGeom>
              <a:avLst/>
              <a:gdLst/>
              <a:ahLst/>
              <a:cxnLst/>
              <a:rect l="l" t="t" r="r" b="b"/>
              <a:pathLst>
                <a:path w="1714500" h="819150">
                  <a:moveTo>
                    <a:pt x="0" y="0"/>
                  </a:moveTo>
                  <a:lnTo>
                    <a:pt x="0" y="819150"/>
                  </a:lnTo>
                  <a:lnTo>
                    <a:pt x="1714500" y="819150"/>
                  </a:lnTo>
                </a:path>
              </a:pathLst>
            </a:custGeom>
            <a:noFill/>
            <a:ln w="19050">
              <a:solidFill>
                <a:srgbClr val="A13B3B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9486900" y="38195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A13B3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132816" y="36071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reviewer 撤销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733550" y="2286000"/>
            <a:ext cx="1619250" cy="805434"/>
            <a:chOff x="1733550" y="2286000"/>
            <a:chExt cx="1619250" cy="805434"/>
          </a:xfrm>
        </p:grpSpPr>
        <p:sp>
          <p:nvSpPr>
            <p:cNvPr id="29" name="Rectangle 29"/>
            <p:cNvSpPr/>
            <p:nvPr/>
          </p:nvSpPr>
          <p:spPr>
            <a:xfrm>
              <a:off x="1733550" y="2286000"/>
              <a:ext cx="1619250" cy="800100"/>
            </a:xfrm>
            <a:prstGeom prst="roundRect">
              <a:avLst>
                <a:gd name="adj" fmla="val 9524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042335" y="2483168"/>
              <a:ext cx="1001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SUBMITTED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52383" y="27393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待复核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210050" y="2286000"/>
            <a:ext cx="1809750" cy="805434"/>
            <a:chOff x="4210050" y="2286000"/>
            <a:chExt cx="1809750" cy="805434"/>
          </a:xfrm>
        </p:grpSpPr>
        <p:sp>
          <p:nvSpPr>
            <p:cNvPr id="33" name="Rectangle 33"/>
            <p:cNvSpPr/>
            <p:nvPr/>
          </p:nvSpPr>
          <p:spPr>
            <a:xfrm>
              <a:off x="4210050" y="2286000"/>
              <a:ext cx="1809750" cy="8001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00589" y="248316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24133" y="27393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已生效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15150" y="2286000"/>
            <a:ext cx="1828800" cy="805434"/>
            <a:chOff x="6915150" y="2286000"/>
            <a:chExt cx="1828800" cy="805434"/>
          </a:xfrm>
        </p:grpSpPr>
        <p:sp>
          <p:nvSpPr>
            <p:cNvPr id="37" name="Rectangle 37"/>
            <p:cNvSpPr/>
            <p:nvPr/>
          </p:nvSpPr>
          <p:spPr>
            <a:xfrm>
              <a:off x="6915150" y="2286000"/>
              <a:ext cx="1828800" cy="800100"/>
            </a:xfrm>
            <a:prstGeom prst="roundRect">
              <a:avLst>
                <a:gd name="adj" fmla="val 9524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268223" y="2483168"/>
              <a:ext cx="11226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SUPERSEDED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9895" y="273939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已被新版本替代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810750" y="2567940"/>
            <a:ext cx="1331671" cy="352044"/>
            <a:chOff x="9810750" y="2567940"/>
            <a:chExt cx="1331671" cy="352044"/>
          </a:xfrm>
        </p:grpSpPr>
        <p:sp>
          <p:nvSpPr>
            <p:cNvPr id="41" name="Ellipse 41"/>
            <p:cNvSpPr/>
            <p:nvPr/>
          </p:nvSpPr>
          <p:spPr>
            <a:xfrm>
              <a:off x="9810750" y="2590800"/>
              <a:ext cx="190500" cy="190500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9858375" y="2638425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106406" y="25679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历史保留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066800" y="3733800"/>
            <a:ext cx="1619250" cy="805434"/>
            <a:chOff x="1066800" y="3733800"/>
            <a:chExt cx="1619250" cy="805434"/>
          </a:xfrm>
        </p:grpSpPr>
        <p:sp>
          <p:nvSpPr>
            <p:cNvPr id="45" name="Rectangle 45"/>
            <p:cNvSpPr/>
            <p:nvPr/>
          </p:nvSpPr>
          <p:spPr>
            <a:xfrm>
              <a:off x="1066800" y="3733800"/>
              <a:ext cx="1619250" cy="800100"/>
            </a:xfrm>
            <a:prstGeom prst="roundRect">
              <a:avLst>
                <a:gd name="adj" fmla="val 9524"/>
              </a:avLst>
            </a:prstGeom>
            <a:solidFill>
              <a:srgbClr val="F9E8E8"/>
            </a:solidFill>
            <a:ln w="19050">
              <a:solidFill>
                <a:srgbClr val="A13B3B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425992" y="3930968"/>
              <a:ext cx="9008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REJECTED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485633" y="41871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已拒绝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38850" y="3810000"/>
            <a:ext cx="1828800" cy="805434"/>
            <a:chOff x="6038850" y="3810000"/>
            <a:chExt cx="1828800" cy="805434"/>
          </a:xfrm>
        </p:grpSpPr>
        <p:sp>
          <p:nvSpPr>
            <p:cNvPr id="49" name="Rectangle 49"/>
            <p:cNvSpPr/>
            <p:nvPr/>
          </p:nvSpPr>
          <p:spPr>
            <a:xfrm>
              <a:off x="6038850" y="3810000"/>
              <a:ext cx="1828800" cy="800100"/>
            </a:xfrm>
            <a:prstGeom prst="roundRect">
              <a:avLst>
                <a:gd name="adj" fmla="val 9524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02817" y="4007168"/>
              <a:ext cx="9008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APPEALED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08026" y="42633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申诉处理中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39300" y="3733800"/>
            <a:ext cx="1600200" cy="805434"/>
            <a:chOff x="9639300" y="3733800"/>
            <a:chExt cx="1600200" cy="805434"/>
          </a:xfrm>
        </p:grpSpPr>
        <p:sp>
          <p:nvSpPr>
            <p:cNvPr id="53" name="Rectangle 53"/>
            <p:cNvSpPr/>
            <p:nvPr/>
          </p:nvSpPr>
          <p:spPr>
            <a:xfrm>
              <a:off x="9639300" y="3733800"/>
              <a:ext cx="1600200" cy="800100"/>
            </a:xfrm>
            <a:prstGeom prst="roundRect">
              <a:avLst>
                <a:gd name="adj" fmla="val 9524"/>
              </a:avLst>
            </a:prstGeom>
            <a:solidFill>
              <a:srgbClr val="F9E8E8"/>
            </a:solidFill>
            <a:ln w="19050">
              <a:solidFill>
                <a:srgbClr val="A13B3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024251" y="3930968"/>
              <a:ext cx="830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REVOKED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048608" y="41871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已撤销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352550" y="5219700"/>
            <a:ext cx="9486900" cy="729234"/>
            <a:chOff x="1352550" y="5219700"/>
            <a:chExt cx="9486900" cy="729234"/>
          </a:xfrm>
        </p:grpSpPr>
        <p:sp>
          <p:nvSpPr>
            <p:cNvPr id="57" name="Rectangle 57"/>
            <p:cNvSpPr/>
            <p:nvPr/>
          </p:nvSpPr>
          <p:spPr>
            <a:xfrm>
              <a:off x="1352550" y="5219700"/>
              <a:ext cx="9486900" cy="685800"/>
            </a:xfrm>
            <a:prstGeom prst="roundRect">
              <a:avLst>
                <a:gd name="adj" fmla="val 11111"/>
              </a:avLst>
            </a:prstGeom>
            <a:solidFill>
              <a:srgbClr val="FFF6D9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322966" y="5359718"/>
              <a:ext cx="15460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修订不是 UPDATE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652027" y="5596890"/>
              <a:ext cx="68879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新凭证链接旧版本；旧记录继续可验证，状态变化继续可追责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1" name="TextBox 61"/>
            <p:cNvSpPr txBox="1"/>
            <p:nvPr/>
          </p:nvSpPr>
          <p:spPr>
            <a:xfrm>
              <a:off x="678942" y="623601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状态与角色共同约束转移；拒绝、撤销和修订均不删除历史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559345" cy="847535"/>
            <a:chOff x="669798" y="495300"/>
            <a:chExt cx="7559345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5593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轻量申诉，让纠错进入同一条证据链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9150" y="1805940"/>
            <a:ext cx="3512681" cy="3417761"/>
            <a:chOff x="819150" y="1805940"/>
            <a:chExt cx="3512681" cy="3417761"/>
          </a:xfrm>
        </p:grpSpPr>
        <p:sp>
          <p:nvSpPr>
            <p:cNvPr id="5" name="Line 5"/>
            <p:cNvSpPr/>
            <p:nvPr/>
          </p:nvSpPr>
          <p:spPr>
            <a:xfrm>
              <a:off x="990600" y="2114550"/>
              <a:ext cx="9525" cy="2800350"/>
            </a:xfrm>
            <a:custGeom>
              <a:avLst/>
              <a:gdLst/>
              <a:ahLst/>
              <a:cxnLst/>
              <a:rect l="l" t="t" r="r" b="b"/>
              <a:pathLst>
                <a:path w="9525" h="2800350">
                  <a:moveTo>
                    <a:pt x="0" y="0"/>
                  </a:moveTo>
                  <a:lnTo>
                    <a:pt x="0" y="2800350"/>
                  </a:lnTo>
                </a:path>
              </a:pathLst>
            </a:custGeom>
            <a:noFill/>
            <a:ln w="38100">
              <a:solidFill>
                <a:srgbClr val="C8CDD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19150" y="1943100"/>
              <a:ext cx="342900" cy="342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819150" y="28765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819150" y="38100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819150" y="4743450"/>
              <a:ext cx="342900" cy="342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31265" y="20354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1265" y="29689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1265" y="39023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1265" y="48358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00556" y="180594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学生提交理由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02842" y="2159318"/>
              <a:ext cx="2928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appealDetails 通过 transient 传递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00556" y="27393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链码复算承诺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02842" y="3092768"/>
              <a:ext cx="2535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reasonHash 不一致则交易失败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00556" y="36728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复核员给出决定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02842" y="4026218"/>
              <a:ext cx="2630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appealResolution 仍是私有正文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00556" y="460629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公共账本记录过程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02842" y="49596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状态、哈希、身份与时间可审计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57900" y="1733550"/>
            <a:ext cx="5314950" cy="3848100"/>
            <a:chOff x="6057900" y="1733550"/>
            <a:chExt cx="5314950" cy="3848100"/>
          </a:xfrm>
        </p:grpSpPr>
        <p:sp>
          <p:nvSpPr>
            <p:cNvPr id="23" name="Rectangle 23"/>
            <p:cNvSpPr/>
            <p:nvPr/>
          </p:nvSpPr>
          <p:spPr>
            <a:xfrm>
              <a:off x="6057900" y="1733550"/>
              <a:ext cx="5314950" cy="3848100"/>
            </a:xfrm>
            <a:prstGeom prst="roundRect">
              <a:avLst>
                <a:gd name="adj" fmla="val 198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</a:ln>
          </p:spPr>
        </p:sp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1250" y="1866900"/>
              <a:ext cx="5048250" cy="3505200"/>
            </a:xfrm>
            <a:prstGeom prst="rect">
              <a:avLst/>
            </a:prstGeom>
          </p:spPr>
        </p:pic>
        <p:sp>
          <p:nvSpPr>
            <p:cNvPr id="25" name="Ellipse 25"/>
            <p:cNvSpPr/>
            <p:nvPr/>
          </p:nvSpPr>
          <p:spPr>
            <a:xfrm>
              <a:off x="10706100" y="1924050"/>
              <a:ext cx="381000" cy="38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837265" y="20354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184392" y="5683568"/>
            <a:ext cx="4011930" cy="264033"/>
            <a:chOff x="6184392" y="5683568"/>
            <a:chExt cx="4011930" cy="264033"/>
          </a:xfrm>
        </p:grpSpPr>
        <p:sp>
          <p:nvSpPr>
            <p:cNvPr id="28" name="TextBox 28"/>
            <p:cNvSpPr txBox="1"/>
            <p:nvPr/>
          </p:nvSpPr>
          <p:spPr>
            <a:xfrm>
              <a:off x="6184392" y="568356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真实浏览器验收：学生端申诉进度与链上状态同步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0" name="TextBox 30"/>
            <p:cNvSpPr txBox="1"/>
            <p:nvPr/>
          </p:nvSpPr>
          <p:spPr>
            <a:xfrm>
              <a:off x="678942" y="6236018"/>
              <a:ext cx="5198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理由与决定正文留在 Org1 隐式私有集合，公共账本只保留承诺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559345" cy="847535"/>
            <a:chOff x="669798" y="495300"/>
            <a:chExt cx="7559345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5593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同一份成绩，对不同人暴露不同内容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600200"/>
            <a:ext cx="10820400" cy="3448050"/>
            <a:chOff x="685800" y="1600200"/>
            <a:chExt cx="10820400" cy="3448050"/>
          </a:xfrm>
        </p:grpSpPr>
        <p:sp>
          <p:nvSpPr>
            <p:cNvPr id="5" name="Rectangle 5"/>
            <p:cNvSpPr/>
            <p:nvPr/>
          </p:nvSpPr>
          <p:spPr>
            <a:xfrm>
              <a:off x="685800" y="1714500"/>
              <a:ext cx="3143250" cy="3333750"/>
            </a:xfrm>
            <a:prstGeom prst="roundRect">
              <a:avLst>
                <a:gd name="adj" fmla="val 303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6" name="Rectangle 6"/>
            <p:cNvSpPr/>
            <p:nvPr/>
          </p:nvSpPr>
          <p:spPr>
            <a:xfrm>
              <a:off x="4133850" y="1714500"/>
              <a:ext cx="3505200" cy="3333750"/>
            </a:xfrm>
            <a:prstGeom prst="roundRect">
              <a:avLst>
                <a:gd name="adj" fmla="val 2857"/>
              </a:avLst>
            </a:prstGeom>
            <a:solidFill>
              <a:srgbClr val="E8EEF5"/>
            </a:solidFill>
            <a:ln w="19050">
              <a:solidFill>
                <a:schemeClr val="accent1"/>
              </a:solidFill>
              <a:custDash>
                <a:ds d="400000" sp="300000"/>
              </a:custDash>
            </a:ln>
          </p:spPr>
        </p:sp>
        <p:sp>
          <p:nvSpPr>
            <p:cNvPr id="7" name="Rectangle 7"/>
            <p:cNvSpPr/>
            <p:nvPr/>
          </p:nvSpPr>
          <p:spPr>
            <a:xfrm>
              <a:off x="7943850" y="1714500"/>
              <a:ext cx="3562350" cy="333375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876300" y="1600200"/>
              <a:ext cx="131445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4324350" y="1600200"/>
              <a:ext cx="16002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8134350" y="1600200"/>
              <a:ext cx="131445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49607" y="162591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公开可验证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45120" y="16259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授权后可读取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03069" y="16259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不同主体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4250" y="2254568"/>
            <a:ext cx="5086350" cy="1945957"/>
            <a:chOff x="3524250" y="2254568"/>
            <a:chExt cx="5086350" cy="1945957"/>
          </a:xfrm>
        </p:grpSpPr>
        <p:sp>
          <p:nvSpPr>
            <p:cNvPr id="15" name="Line 15"/>
            <p:cNvSpPr/>
            <p:nvPr/>
          </p:nvSpPr>
          <p:spPr>
            <a:xfrm>
              <a:off x="3524250" y="285750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0" y="0"/>
                  </a:moveTo>
                  <a:lnTo>
                    <a:pt x="9715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44577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7162800" y="260985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8458200" y="25241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7162800" y="3390900"/>
              <a:ext cx="1333500" cy="723900"/>
            </a:xfrm>
            <a:custGeom>
              <a:avLst/>
              <a:gdLst/>
              <a:ahLst/>
              <a:cxnLst/>
              <a:rect l="l" t="t" r="r" b="b"/>
              <a:pathLst>
                <a:path w="1333500" h="723900">
                  <a:moveTo>
                    <a:pt x="0" y="0"/>
                  </a:moveTo>
                  <a:lnTo>
                    <a:pt x="647700" y="0"/>
                  </a:lnTo>
                  <a:lnTo>
                    <a:pt x="647700" y="723900"/>
                  </a:lnTo>
                  <a:lnTo>
                    <a:pt x="1333500" y="7239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  <a:custDash>
                <a:ds d="400000" sp="300000"/>
              </a:custDash>
            </a:ln>
          </p:spPr>
        </p:sp>
        <p:sp>
          <p:nvSpPr>
            <p:cNvPr id="20" name="Polygon 20"/>
            <p:cNvSpPr/>
            <p:nvPr/>
          </p:nvSpPr>
          <p:spPr>
            <a:xfrm>
              <a:off x="8458200" y="40290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59218" y="22545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本人身份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49299" y="3797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一次性授权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83742" y="2212181"/>
            <a:ext cx="2540508" cy="2283619"/>
            <a:chOff x="983742" y="2212181"/>
            <a:chExt cx="2540508" cy="2283619"/>
          </a:xfrm>
        </p:grpSpPr>
        <p:grpSp>
          <p:nvGrpSpPr>
            <p:cNvPr id="27" name="Group 27"/>
            <p:cNvGrpSpPr/>
            <p:nvPr/>
          </p:nvGrpSpPr>
          <p:grpSpPr>
            <a:xfrm>
              <a:off x="1279525" y="2212181"/>
              <a:ext cx="317499" cy="357187"/>
              <a:chOff x="1279525" y="2212181"/>
              <a:chExt cx="317499" cy="357187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279525" y="2212181"/>
                <a:ext cx="317499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19062">
                    <a:moveTo>
                      <a:pt x="0" y="59531"/>
                    </a:moveTo>
                    <a:cubicBezTo>
                      <a:pt x="0" y="92409"/>
                      <a:pt x="71075" y="119062"/>
                      <a:pt x="158750" y="119062"/>
                    </a:cubicBezTo>
                    <a:cubicBezTo>
                      <a:pt x="246425" y="119062"/>
                      <a:pt x="317499" y="92409"/>
                      <a:pt x="317499" y="59531"/>
                    </a:cubicBezTo>
                    <a:cubicBezTo>
                      <a:pt x="317499" y="26653"/>
                      <a:pt x="246425" y="0"/>
                      <a:pt x="158750" y="0"/>
                    </a:cubicBezTo>
                    <a:cubicBezTo>
                      <a:pt x="71075" y="0"/>
                      <a:pt x="0" y="26653"/>
                      <a:pt x="0" y="59531"/>
                    </a:cubicBez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279525" y="2271712"/>
                <a:ext cx="317499" cy="178593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78593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51940"/>
                      <a:pt x="71075" y="178593"/>
                      <a:pt x="158750" y="178593"/>
                    </a:cubicBezTo>
                    <a:cubicBezTo>
                      <a:pt x="246425" y="178593"/>
                      <a:pt x="317499" y="151940"/>
                      <a:pt x="317499" y="119062"/>
                    </a:cubicBezTo>
                    <a:lnTo>
                      <a:pt x="317499" y="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279525" y="2390775"/>
                <a:ext cx="317499" cy="178593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78593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51940"/>
                      <a:pt x="71075" y="178593"/>
                      <a:pt x="158750" y="178593"/>
                    </a:cubicBezTo>
                    <a:cubicBezTo>
                      <a:pt x="246425" y="178593"/>
                      <a:pt x="317499" y="151940"/>
                      <a:pt x="317499" y="119062"/>
                    </a:cubicBezTo>
                    <a:lnTo>
                      <a:pt x="317499" y="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876806" y="2282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990600" y="2819400"/>
              <a:ext cx="2533650" cy="9525"/>
            </a:xfrm>
            <a:custGeom>
              <a:avLst/>
              <a:gdLst/>
              <a:ahLst/>
              <a:cxnLst/>
              <a:rect l="l" t="t" r="r" b="b"/>
              <a:pathLst>
                <a:path w="2533650" h="9525">
                  <a:moveTo>
                    <a:pt x="0" y="0"/>
                  </a:moveTo>
                  <a:lnTo>
                    <a:pt x="25336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3742" y="3035618"/>
              <a:ext cx="9275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detailHash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3742" y="3340418"/>
              <a:ext cx="22885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subjectHash · courseHash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3742" y="3645218"/>
              <a:ext cx="18856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 · 时间 · 交易身份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90600" y="4114800"/>
              <a:ext cx="1866900" cy="381000"/>
            </a:xfrm>
            <a:prstGeom prst="roundRect">
              <a:avLst>
                <a:gd name="adj" fmla="val 15000"/>
              </a:avLst>
            </a:prstGeom>
            <a:solidFill>
              <a:srgbClr val="F9E8E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344720" y="42167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没有成绩明文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603242" y="2212181"/>
            <a:ext cx="2559558" cy="2283619"/>
            <a:chOff x="4603242" y="2212181"/>
            <a:chExt cx="2559558" cy="2283619"/>
          </a:xfrm>
        </p:grpSpPr>
        <p:grpSp>
          <p:nvGrpSpPr>
            <p:cNvPr id="39" name="Group 39"/>
            <p:cNvGrpSpPr/>
            <p:nvPr/>
          </p:nvGrpSpPr>
          <p:grpSpPr>
            <a:xfrm>
              <a:off x="4918869" y="2212181"/>
              <a:ext cx="277812" cy="357187"/>
              <a:chOff x="4918869" y="2212181"/>
              <a:chExt cx="277812" cy="357187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4918869" y="2370931"/>
                <a:ext cx="277812" cy="198437"/>
              </a:xfrm>
              <a:custGeom>
                <a:avLst/>
                <a:gdLst/>
                <a:ahLst/>
                <a:cxnLst/>
                <a:rect l="l" t="t" r="r" b="b"/>
                <a:pathLst>
                  <a:path w="277812" h="198437">
                    <a:moveTo>
                      <a:pt x="0" y="39687"/>
                    </a:moveTo>
                    <a:cubicBezTo>
                      <a:pt x="0" y="17769"/>
                      <a:pt x="17769" y="0"/>
                      <a:pt x="39687" y="0"/>
                    </a:cubicBezTo>
                    <a:lnTo>
                      <a:pt x="238125" y="0"/>
                    </a:lnTo>
                    <a:cubicBezTo>
                      <a:pt x="260043" y="0"/>
                      <a:pt x="277812" y="17769"/>
                      <a:pt x="277812" y="39687"/>
                    </a:cubicBezTo>
                    <a:lnTo>
                      <a:pt x="277812" y="158750"/>
                    </a:lnTo>
                    <a:cubicBezTo>
                      <a:pt x="277812" y="180669"/>
                      <a:pt x="260043" y="198437"/>
                      <a:pt x="238125" y="198437"/>
                    </a:cubicBezTo>
                    <a:lnTo>
                      <a:pt x="39687" y="198437"/>
                    </a:lnTo>
                    <a:cubicBezTo>
                      <a:pt x="17769" y="198437"/>
                      <a:pt x="0" y="180669"/>
                      <a:pt x="0" y="158750"/>
                    </a:cubicBezTo>
                    <a:lnTo>
                      <a:pt x="0" y="39687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037931" y="2450306"/>
                <a:ext cx="39687" cy="39687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39687">
                    <a:moveTo>
                      <a:pt x="0" y="19844"/>
                    </a:moveTo>
                    <a:cubicBezTo>
                      <a:pt x="0" y="30803"/>
                      <a:pt x="8884" y="39687"/>
                      <a:pt x="19844" y="39687"/>
                    </a:cubicBezTo>
                    <a:cubicBezTo>
                      <a:pt x="30803" y="39687"/>
                      <a:pt x="39687" y="30803"/>
                      <a:pt x="39687" y="19844"/>
                    </a:cubicBezTo>
                    <a:cubicBezTo>
                      <a:pt x="39687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4978400" y="2212181"/>
                <a:ext cx="158750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158750">
                    <a:moveTo>
                      <a:pt x="0" y="158750"/>
                    </a:moveTo>
                    <a:lnTo>
                      <a:pt x="0" y="79375"/>
                    </a:lnTo>
                    <a:cubicBezTo>
                      <a:pt x="0" y="35537"/>
                      <a:pt x="35537" y="0"/>
                      <a:pt x="79375" y="0"/>
                    </a:cubicBezTo>
                    <a:cubicBezTo>
                      <a:pt x="123212" y="0"/>
                      <a:pt x="158750" y="35537"/>
                      <a:pt x="158750" y="79375"/>
                    </a:cubicBezTo>
                    <a:lnTo>
                      <a:pt x="158750" y="15875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5496306" y="2282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隐式私有集合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10100" y="2819400"/>
              <a:ext cx="2552700" cy="9525"/>
            </a:xfrm>
            <a:custGeom>
              <a:avLst/>
              <a:gdLst/>
              <a:ahLst/>
              <a:cxnLst/>
              <a:rect l="l" t="t" r="r" b="b"/>
              <a:pathLst>
                <a:path w="2552700" h="9525">
                  <a:moveTo>
                    <a:pt x="0" y="0"/>
                  </a:moveTo>
                  <a:lnTo>
                    <a:pt x="2552700" y="0"/>
                  </a:lnTo>
                </a:path>
              </a:pathLst>
            </a:custGeom>
            <a:noFill/>
            <a:ln w="19050">
              <a:solidFill>
                <a:srgbClr val="AAB8C5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03242" y="3035618"/>
              <a:ext cx="10554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courseName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03242" y="33404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score · grade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03242" y="36452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申诉理由 · 复核决定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610100" y="4114800"/>
              <a:ext cx="2152650" cy="381000"/>
            </a:xfrm>
            <a:prstGeom prst="roundRect">
              <a:avLst>
                <a:gd name="adj" fmla="val 15000"/>
              </a:avLst>
            </a:prstGeom>
            <a:solidFill>
              <a:srgbClr val="FFF6D9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011684" y="421671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正文与承诺绑定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610600" y="2076450"/>
            <a:ext cx="2590800" cy="1028700"/>
            <a:chOff x="8610600" y="2076450"/>
            <a:chExt cx="2590800" cy="1028700"/>
          </a:xfrm>
        </p:grpSpPr>
        <p:sp>
          <p:nvSpPr>
            <p:cNvPr id="48" name="Rectangle 48"/>
            <p:cNvSpPr/>
            <p:nvPr/>
          </p:nvSpPr>
          <p:spPr>
            <a:xfrm>
              <a:off x="8610600" y="2076450"/>
              <a:ext cx="2590800" cy="1028700"/>
            </a:xfrm>
            <a:prstGeom prst="roundRect">
              <a:avLst>
                <a:gd name="adj" fmla="val 7407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849106" y="22631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学生本人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51392" y="26736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读取完整本人详情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610600" y="3352800"/>
            <a:ext cx="2590800" cy="1413701"/>
            <a:chOff x="8610600" y="3352800"/>
            <a:chExt cx="2590800" cy="1413701"/>
          </a:xfrm>
        </p:grpSpPr>
        <p:sp>
          <p:nvSpPr>
            <p:cNvPr id="52" name="Rectangle 52"/>
            <p:cNvSpPr/>
            <p:nvPr/>
          </p:nvSpPr>
          <p:spPr>
            <a:xfrm>
              <a:off x="8610600" y="3352800"/>
              <a:ext cx="2590800" cy="1371600"/>
            </a:xfrm>
            <a:prstGeom prst="roundRect">
              <a:avLst>
                <a:gd name="adj" fmla="val 5556"/>
              </a:avLst>
            </a:prstGeom>
            <a:solidFill>
              <a:srgbClr val="E7F1E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849106" y="35394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外部验证者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51392" y="3930968"/>
              <a:ext cx="20673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字段白名单 · 用途 · 期限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51392" y="4235768"/>
              <a:ext cx="1376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1–10 次使用上限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51392" y="4502468"/>
              <a:ext cx="1981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链上只保存 tokenHash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428750" y="5391150"/>
            <a:ext cx="9334500" cy="552450"/>
            <a:chOff x="1428750" y="5391150"/>
            <a:chExt cx="9334500" cy="552450"/>
          </a:xfrm>
        </p:grpSpPr>
        <p:sp>
          <p:nvSpPr>
            <p:cNvPr id="58" name="Rectangle 58"/>
            <p:cNvSpPr/>
            <p:nvPr/>
          </p:nvSpPr>
          <p:spPr>
            <a:xfrm>
              <a:off x="1428750" y="5391150"/>
              <a:ext cx="9334500" cy="552450"/>
            </a:xfrm>
            <a:prstGeom prst="roundRect">
              <a:avLst>
                <a:gd name="adj" fmla="val 1379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372152" y="5558790"/>
              <a:ext cx="7447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公开查询证明“它有效”，授权披露只证明“对方被允许知道的字段”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1" name="TextBox 61"/>
            <p:cNvSpPr txBox="1"/>
            <p:nvPr/>
          </p:nvSpPr>
          <p:spPr>
            <a:xfrm>
              <a:off x="678942" y="623601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最小披露：字段、用途、验证者、期限和次数共同限定一次授权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8500262" cy="847535"/>
            <a:chOff x="669798" y="495300"/>
            <a:chExt cx="8500262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85002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产品不是四张原型，而是四个真实工作台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76656" y="1558290"/>
            <a:ext cx="4969002" cy="352044"/>
            <a:chOff x="676656" y="1558290"/>
            <a:chExt cx="4969002" cy="352044"/>
          </a:xfrm>
        </p:grpSpPr>
        <p:sp>
          <p:nvSpPr>
            <p:cNvPr id="5" name="TextBox 5"/>
            <p:cNvSpPr txBox="1"/>
            <p:nvPr/>
          </p:nvSpPr>
          <p:spPr>
            <a:xfrm>
              <a:off x="676656" y="1558290"/>
              <a:ext cx="30292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 · 创建与账本队列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871976" y="1606868"/>
              <a:ext cx="1773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ledgerMode = fabric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5800" y="1981200"/>
            <a:ext cx="4953000" cy="3699701"/>
            <a:chOff x="685800" y="1981200"/>
            <a:chExt cx="4953000" cy="3699701"/>
          </a:xfrm>
        </p:grpSpPr>
        <p:sp>
          <p:nvSpPr>
            <p:cNvPr id="8" name="Rectangle 8"/>
            <p:cNvSpPr/>
            <p:nvPr/>
          </p:nvSpPr>
          <p:spPr>
            <a:xfrm>
              <a:off x="6858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3576" y="2114550"/>
              <a:ext cx="4757449" cy="3305175"/>
            </a:xfrm>
            <a:prstGeom prst="rect">
              <a:avLst/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774192" y="541686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 · 签发端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544056" y="1558290"/>
            <a:ext cx="4969002" cy="352044"/>
            <a:chOff x="6544056" y="1558290"/>
            <a:chExt cx="4969002" cy="352044"/>
          </a:xfrm>
        </p:grpSpPr>
        <p:sp>
          <p:nvSpPr>
            <p:cNvPr id="12" name="TextBox 12"/>
            <p:cNvSpPr txBox="1"/>
            <p:nvPr/>
          </p:nvSpPr>
          <p:spPr>
            <a:xfrm>
              <a:off x="6544056" y="1558290"/>
              <a:ext cx="31098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 · 独立复核队列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08920" y="16068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真实链上状态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553200" y="1981200"/>
            <a:ext cx="4953000" cy="3699701"/>
            <a:chOff x="6553200" y="1981200"/>
            <a:chExt cx="4953000" cy="3699701"/>
          </a:xfrm>
        </p:grpSpPr>
        <p:sp>
          <p:nvSpPr>
            <p:cNvPr id="15" name="Rectangle 15"/>
            <p:cNvSpPr/>
            <p:nvPr/>
          </p:nvSpPr>
          <p:spPr>
            <a:xfrm>
              <a:off x="65532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28575">
              <a:solidFill>
                <a:schemeClr val="accent2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50976" y="2114550"/>
              <a:ext cx="4757449" cy="3305175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6641592" y="541686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 · 复核端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573262" y="5844540"/>
            <a:ext cx="5045476" cy="352044"/>
            <a:chOff x="3573262" y="5844540"/>
            <a:chExt cx="5045476" cy="352044"/>
          </a:xfrm>
        </p:grpSpPr>
        <p:sp>
          <p:nvSpPr>
            <p:cNvPr id="19" name="TextBox 19"/>
            <p:cNvSpPr txBox="1"/>
            <p:nvPr/>
          </p:nvSpPr>
          <p:spPr>
            <a:xfrm>
              <a:off x="3573262" y="5844540"/>
              <a:ext cx="50454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角色越权会在会话、API 与链码三层被拒绝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1" name="TextBox 21"/>
            <p:cNvSpPr txBox="1"/>
            <p:nvPr/>
          </p:nvSpPr>
          <p:spPr>
            <a:xfrm>
              <a:off x="678942" y="6236018"/>
              <a:ext cx="49633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界面状态来自 Fabric Gateway 返回值，不使用前端模拟数据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618427" cy="847535"/>
            <a:chOff x="669798" y="495300"/>
            <a:chExt cx="6618427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61842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隐私边界，也能在界面上被看见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1206" y="1493044"/>
            <a:ext cx="2737974" cy="388715"/>
            <a:chOff x="761206" y="1493044"/>
            <a:chExt cx="2737974" cy="388715"/>
          </a:xfrm>
        </p:grpSpPr>
        <p:grpSp>
          <p:nvGrpSpPr>
            <p:cNvPr id="8" name="Group 8"/>
            <p:cNvGrpSpPr/>
            <p:nvPr/>
          </p:nvGrpSpPr>
          <p:grpSpPr>
            <a:xfrm>
              <a:off x="761206" y="1493044"/>
              <a:ext cx="211137" cy="271461"/>
              <a:chOff x="761206" y="1493044"/>
              <a:chExt cx="211137" cy="27146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61206" y="1613693"/>
                <a:ext cx="211137" cy="150812"/>
              </a:xfrm>
              <a:custGeom>
                <a:avLst/>
                <a:gdLst/>
                <a:ahLst/>
                <a:cxnLst/>
                <a:rect l="l" t="t" r="r" b="b"/>
                <a:pathLst>
                  <a:path w="211137" h="150812">
                    <a:moveTo>
                      <a:pt x="0" y="30162"/>
                    </a:moveTo>
                    <a:cubicBezTo>
                      <a:pt x="0" y="13504"/>
                      <a:pt x="13504" y="0"/>
                      <a:pt x="30162" y="0"/>
                    </a:cubicBezTo>
                    <a:lnTo>
                      <a:pt x="180975" y="0"/>
                    </a:lnTo>
                    <a:cubicBezTo>
                      <a:pt x="197633" y="0"/>
                      <a:pt x="211137" y="13504"/>
                      <a:pt x="211137" y="30162"/>
                    </a:cubicBezTo>
                    <a:lnTo>
                      <a:pt x="211137" y="120650"/>
                    </a:lnTo>
                    <a:cubicBezTo>
                      <a:pt x="211137" y="137308"/>
                      <a:pt x="197633" y="150812"/>
                      <a:pt x="180975" y="150812"/>
                    </a:cubicBezTo>
                    <a:lnTo>
                      <a:pt x="30162" y="150812"/>
                    </a:lnTo>
                    <a:cubicBezTo>
                      <a:pt x="13504" y="150812"/>
                      <a:pt x="0" y="137308"/>
                      <a:pt x="0" y="120650"/>
                    </a:cubicBezTo>
                    <a:lnTo>
                      <a:pt x="0" y="30162"/>
                    </a:ln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851693" y="1674018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6450" y="1493044"/>
                <a:ext cx="120650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20650" h="120650">
                    <a:moveTo>
                      <a:pt x="0" y="120650"/>
                    </a:moveTo>
                    <a:lnTo>
                      <a:pt x="0" y="60325"/>
                    </a:lnTo>
                    <a:cubicBezTo>
                      <a:pt x="0" y="27008"/>
                      <a:pt x="27008" y="0"/>
                      <a:pt x="60325" y="0"/>
                    </a:cubicBezTo>
                    <a:cubicBezTo>
                      <a:pt x="93641" y="0"/>
                      <a:pt x="120650" y="27008"/>
                      <a:pt x="120650" y="60325"/>
                    </a:cubicBezTo>
                    <a:lnTo>
                      <a:pt x="120650" y="120650"/>
                    </a:ln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1191006" y="1529715"/>
              <a:ext cx="2308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学生本人：私有详情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981200"/>
            <a:ext cx="4953000" cy="3699701"/>
            <a:chOff x="685800" y="1981200"/>
            <a:chExt cx="4953000" cy="3699701"/>
          </a:xfrm>
        </p:grpSpPr>
        <p:sp>
          <p:nvSpPr>
            <p:cNvPr id="11" name="Rectangle 11"/>
            <p:cNvSpPr/>
            <p:nvPr/>
          </p:nvSpPr>
          <p:spPr>
            <a:xfrm>
              <a:off x="6858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3576" y="2114550"/>
              <a:ext cx="4757449" cy="3305175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74192" y="5416868"/>
              <a:ext cx="41143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本人会话通过后读取 courseName、score、grade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993730" y="2495550"/>
            <a:ext cx="204540" cy="2152650"/>
            <a:chOff x="5993730" y="2495550"/>
            <a:chExt cx="204540" cy="2152650"/>
          </a:xfrm>
        </p:grpSpPr>
        <p:sp>
          <p:nvSpPr>
            <p:cNvPr id="15" name="Line 15"/>
            <p:cNvSpPr/>
            <p:nvPr/>
          </p:nvSpPr>
          <p:spPr>
            <a:xfrm>
              <a:off x="6096000" y="2571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019800" y="249555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019800" y="449580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93730" y="31689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93730" y="34737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93730" y="37785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93730" y="40833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578091" y="1428750"/>
            <a:ext cx="4928109" cy="453009"/>
            <a:chOff x="6578091" y="1428750"/>
            <a:chExt cx="4928109" cy="453009"/>
          </a:xfrm>
        </p:grpSpPr>
        <p:grpSp>
          <p:nvGrpSpPr>
            <p:cNvPr id="25" name="Group 25"/>
            <p:cNvGrpSpPr/>
            <p:nvPr/>
          </p:nvGrpSpPr>
          <p:grpSpPr>
            <a:xfrm>
              <a:off x="6578091" y="1493044"/>
              <a:ext cx="294509" cy="271462"/>
              <a:chOff x="6578091" y="1493044"/>
              <a:chExt cx="294509" cy="271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578091" y="1493044"/>
                <a:ext cx="294509" cy="269139"/>
              </a:xfrm>
              <a:custGeom>
                <a:avLst/>
                <a:gdLst/>
                <a:ahLst/>
                <a:cxnLst/>
                <a:rect l="l" t="t" r="r" b="b"/>
                <a:pathLst>
                  <a:path w="294509" h="269139">
                    <a:moveTo>
                      <a:pt x="147940" y="269139"/>
                    </a:moveTo>
                    <a:cubicBezTo>
                      <a:pt x="53463" y="239854"/>
                      <a:pt x="0" y="140141"/>
                      <a:pt x="27893" y="45244"/>
                    </a:cubicBezTo>
                    <a:cubicBezTo>
                      <a:pt x="74879" y="47394"/>
                      <a:pt x="120857" y="31166"/>
                      <a:pt x="156084" y="0"/>
                    </a:cubicBezTo>
                    <a:cubicBezTo>
                      <a:pt x="191311" y="31166"/>
                      <a:pt x="237288" y="47394"/>
                      <a:pt x="284274" y="45244"/>
                    </a:cubicBezTo>
                    <a:cubicBezTo>
                      <a:pt x="294509" y="80068"/>
                      <a:pt x="294037" y="117165"/>
                      <a:pt x="282917" y="151717"/>
                    </a:cubicBezTo>
                  </a:path>
                </a:pathLst>
              </a:custGeom>
              <a:noFill/>
              <a:ln w="30162">
                <a:solidFill>
                  <a:schemeClr val="accent6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779418" y="1704181"/>
                <a:ext cx="90487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0487" h="60325">
                    <a:moveTo>
                      <a:pt x="0" y="30162"/>
                    </a:moveTo>
                    <a:lnTo>
                      <a:pt x="30162" y="60325"/>
                    </a:lnTo>
                    <a:lnTo>
                      <a:pt x="90487" y="0"/>
                    </a:lnTo>
                  </a:path>
                </a:pathLst>
              </a:custGeom>
              <a:noFill/>
              <a:ln w="30162">
                <a:solidFill>
                  <a:schemeClr val="accent6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058406" y="1529715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公众验真：状态与承诺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734550" y="1428750"/>
              <a:ext cx="1771650" cy="361950"/>
            </a:xfrm>
            <a:prstGeom prst="roundRect">
              <a:avLst>
                <a:gd name="adj" fmla="val 15789"/>
              </a:avLst>
            </a:prstGeom>
            <a:solidFill>
              <a:srgbClr val="F9E8E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136457" y="15306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无成绩明文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553200" y="1981200"/>
            <a:ext cx="4953000" cy="3699701"/>
            <a:chOff x="6553200" y="1981200"/>
            <a:chExt cx="4953000" cy="3699701"/>
          </a:xfrm>
        </p:grpSpPr>
        <p:sp>
          <p:nvSpPr>
            <p:cNvPr id="30" name="Rectangle 30"/>
            <p:cNvSpPr/>
            <p:nvPr/>
          </p:nvSpPr>
          <p:spPr>
            <a:xfrm>
              <a:off x="65532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50976" y="2114550"/>
              <a:ext cx="4757449" cy="3305175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6641592" y="5416868"/>
              <a:ext cx="41134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无需登录即可验证 ACTIVE、哈希承诺与交易信息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415322" y="5844540"/>
            <a:ext cx="5361356" cy="352044"/>
            <a:chOff x="3415322" y="5844540"/>
            <a:chExt cx="5361356" cy="352044"/>
          </a:xfrm>
        </p:grpSpPr>
        <p:sp>
          <p:nvSpPr>
            <p:cNvPr id="34" name="TextBox 34"/>
            <p:cNvSpPr txBox="1"/>
            <p:nvPr/>
          </p:nvSpPr>
          <p:spPr>
            <a:xfrm>
              <a:off x="3415322" y="58445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差异是系统行为，而不是报告里的一句隐私承诺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6" name="TextBox 36"/>
            <p:cNvSpPr txBox="1"/>
            <p:nvPr/>
          </p:nvSpPr>
          <p:spPr>
            <a:xfrm>
              <a:off x="678942" y="6236018"/>
              <a:ext cx="54530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真实浏览器验收：学生端与公开验真端使用同一条 Fabric 凭证记录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9168146" cy="847535"/>
            <a:chOff x="669798" y="495300"/>
            <a:chExt cx="9168146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91681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真实 Fabric 的证据，不是一行“连接成功”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038350" y="2562225"/>
            <a:ext cx="3257550" cy="1847850"/>
            <a:chOff x="2038350" y="2562225"/>
            <a:chExt cx="3257550" cy="1847850"/>
          </a:xfrm>
        </p:grpSpPr>
        <p:sp>
          <p:nvSpPr>
            <p:cNvPr id="5" name="Line 5"/>
            <p:cNvSpPr/>
            <p:nvPr/>
          </p:nvSpPr>
          <p:spPr>
            <a:xfrm>
              <a:off x="2228850" y="264795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0" y="0"/>
                  </a:moveTo>
                  <a:lnTo>
                    <a:pt x="9715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6" name="Polygon 6"/>
            <p:cNvSpPr/>
            <p:nvPr/>
          </p:nvSpPr>
          <p:spPr>
            <a:xfrm>
              <a:off x="3162300" y="2562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Line 7"/>
            <p:cNvSpPr/>
            <p:nvPr/>
          </p:nvSpPr>
          <p:spPr>
            <a:xfrm>
              <a:off x="4438650" y="2647950"/>
              <a:ext cx="742950" cy="9525"/>
            </a:xfrm>
            <a:custGeom>
              <a:avLst/>
              <a:gdLst/>
              <a:ahLst/>
              <a:cxnLst/>
              <a:rect l="l" t="t" r="r" b="b"/>
              <a:pathLst>
                <a:path w="742950" h="9525">
                  <a:moveTo>
                    <a:pt x="0" y="0"/>
                  </a:moveTo>
                  <a:lnTo>
                    <a:pt x="7429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8" name="Polygon 8"/>
            <p:cNvSpPr/>
            <p:nvPr/>
          </p:nvSpPr>
          <p:spPr>
            <a:xfrm>
              <a:off x="5143500" y="2562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152650" y="3105150"/>
              <a:ext cx="1943100" cy="742950"/>
            </a:xfrm>
            <a:custGeom>
              <a:avLst/>
              <a:gdLst/>
              <a:ahLst/>
              <a:cxnLst/>
              <a:rect l="l" t="t" r="r" b="b"/>
              <a:pathLst>
                <a:path w="1943100" h="742950">
                  <a:moveTo>
                    <a:pt x="1943100" y="0"/>
                  </a:moveTo>
                  <a:lnTo>
                    <a:pt x="1943100" y="742950"/>
                  </a:lnTo>
                  <a:lnTo>
                    <a:pt x="0" y="74295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2038350" y="37623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981450" y="3105150"/>
              <a:ext cx="114300" cy="1219200"/>
            </a:xfrm>
            <a:custGeom>
              <a:avLst/>
              <a:gdLst/>
              <a:ahLst/>
              <a:cxnLst/>
              <a:rect l="l" t="t" r="r" b="b"/>
              <a:pathLst>
                <a:path w="114300" h="1219200">
                  <a:moveTo>
                    <a:pt x="114300" y="0"/>
                  </a:moveTo>
                  <a:lnTo>
                    <a:pt x="114300" y="1219200"/>
                  </a:lnTo>
                  <a:lnTo>
                    <a:pt x="0" y="12192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3867150" y="42386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876300" y="2190750"/>
            <a:ext cx="1352550" cy="914400"/>
            <a:chOff x="876300" y="2190750"/>
            <a:chExt cx="1352550" cy="914400"/>
          </a:xfrm>
        </p:grpSpPr>
        <p:sp>
          <p:nvSpPr>
            <p:cNvPr id="14" name="Rectangle 14"/>
            <p:cNvSpPr/>
            <p:nvPr/>
          </p:nvSpPr>
          <p:spPr>
            <a:xfrm>
              <a:off x="876300" y="2190750"/>
              <a:ext cx="1352550" cy="914400"/>
            </a:xfrm>
            <a:prstGeom prst="roundRect">
              <a:avLst>
                <a:gd name="adj" fmla="val 8333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38239" y="240696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8999" y="2701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314700" y="2190750"/>
            <a:ext cx="1123950" cy="914400"/>
            <a:chOff x="3314700" y="2190750"/>
            <a:chExt cx="1123950" cy="914400"/>
          </a:xfrm>
        </p:grpSpPr>
        <p:sp>
          <p:nvSpPr>
            <p:cNvPr id="18" name="Rectangle 18"/>
            <p:cNvSpPr/>
            <p:nvPr/>
          </p:nvSpPr>
          <p:spPr>
            <a:xfrm>
              <a:off x="3314700" y="2190750"/>
              <a:ext cx="1123950" cy="914400"/>
            </a:xfrm>
            <a:prstGeom prst="roundRect">
              <a:avLst>
                <a:gd name="adj" fmla="val 8333"/>
              </a:avLst>
            </a:prstGeom>
            <a:solidFill>
              <a:srgbClr val="FFF6D9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431282" y="2406968"/>
              <a:ext cx="890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099" y="2701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批准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295900" y="2190750"/>
            <a:ext cx="1200150" cy="914400"/>
            <a:chOff x="5295900" y="2190750"/>
            <a:chExt cx="1200150" cy="914400"/>
          </a:xfrm>
        </p:grpSpPr>
        <p:sp>
          <p:nvSpPr>
            <p:cNvPr id="22" name="Rectangle 22"/>
            <p:cNvSpPr/>
            <p:nvPr/>
          </p:nvSpPr>
          <p:spPr>
            <a:xfrm>
              <a:off x="5295900" y="2190750"/>
              <a:ext cx="1200150" cy="914400"/>
            </a:xfrm>
            <a:prstGeom prst="roundRect">
              <a:avLst>
                <a:gd name="adj" fmla="val 8333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581639" y="242601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25643" y="2749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真实交易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43000" y="3600450"/>
            <a:ext cx="3585917" cy="1238250"/>
            <a:chOff x="1143000" y="3600450"/>
            <a:chExt cx="3585917" cy="1238250"/>
          </a:xfrm>
        </p:grpSpPr>
        <p:sp>
          <p:nvSpPr>
            <p:cNvPr id="26" name="Rectangle 26"/>
            <p:cNvSpPr/>
            <p:nvPr/>
          </p:nvSpPr>
          <p:spPr>
            <a:xfrm>
              <a:off x="1143000" y="3600450"/>
              <a:ext cx="1619250" cy="762000"/>
            </a:xfrm>
            <a:prstGeom prst="roundRect">
              <a:avLst>
                <a:gd name="adj" fmla="val 1000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83506" y="3838575"/>
              <a:ext cx="300038" cy="266700"/>
              <a:chOff x="1383506" y="3838575"/>
              <a:chExt cx="300038" cy="2667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383506" y="383857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83506" y="397192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  <a:lnTo>
                      <a:pt x="0" y="50006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450181" y="3905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450181" y="4038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860042" y="3778568"/>
              <a:ext cx="963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Peer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60042" y="4064318"/>
              <a:ext cx="830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Height 12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048000" y="4076700"/>
              <a:ext cx="1619250" cy="762000"/>
            </a:xfrm>
            <a:prstGeom prst="roundRect">
              <a:avLst>
                <a:gd name="adj" fmla="val 1000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288506" y="4314825"/>
              <a:ext cx="300038" cy="266700"/>
              <a:chOff x="3288506" y="4314825"/>
              <a:chExt cx="300038" cy="2667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288506" y="431482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288506" y="444817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  <a:lnTo>
                      <a:pt x="0" y="50006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355181" y="4381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355181" y="45148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3765042" y="4254818"/>
              <a:ext cx="963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65042" y="4540568"/>
              <a:ext cx="830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Height 12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106412" y="1835468"/>
            <a:ext cx="2860396" cy="1032700"/>
            <a:chOff x="7106412" y="1835468"/>
            <a:chExt cx="2860396" cy="1032700"/>
          </a:xfrm>
        </p:grpSpPr>
        <p:sp>
          <p:nvSpPr>
            <p:cNvPr id="43" name="TextBox 43"/>
            <p:cNvSpPr txBox="1"/>
            <p:nvPr/>
          </p:nvSpPr>
          <p:spPr>
            <a:xfrm>
              <a:off x="7117842" y="1835468"/>
              <a:ext cx="15863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 PEER 账本高度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06412" y="2164080"/>
              <a:ext cx="1741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12 / 12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39656" y="2320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一致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112508" y="3092768"/>
            <a:ext cx="2408309" cy="851344"/>
            <a:chOff x="7112508" y="3092768"/>
            <a:chExt cx="2408309" cy="851344"/>
          </a:xfrm>
        </p:grpSpPr>
        <p:sp>
          <p:nvSpPr>
            <p:cNvPr id="47" name="TextBox 47"/>
            <p:cNvSpPr txBox="1"/>
            <p:nvPr/>
          </p:nvSpPr>
          <p:spPr>
            <a:xfrm>
              <a:off x="7117842" y="3092768"/>
              <a:ext cx="24029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/ PREVIOUS HASH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12508" y="3474720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完全一致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115556" y="4292918"/>
            <a:ext cx="2409947" cy="722566"/>
            <a:chOff x="7115556" y="4292918"/>
            <a:chExt cx="2409947" cy="722566"/>
          </a:xfrm>
        </p:grpSpPr>
        <p:sp>
          <p:nvSpPr>
            <p:cNvPr id="50" name="TextBox 50"/>
            <p:cNvSpPr txBox="1"/>
            <p:nvPr/>
          </p:nvSpPr>
          <p:spPr>
            <a:xfrm>
              <a:off x="7117842" y="4292918"/>
              <a:ext cx="21610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REVIEWER 独立批准交易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15556" y="4663440"/>
              <a:ext cx="24099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c7f5827e … becf7a7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76300" y="5295900"/>
            <a:ext cx="10325100" cy="647700"/>
            <a:chOff x="876300" y="5295900"/>
            <a:chExt cx="10325100" cy="647700"/>
          </a:xfrm>
        </p:grpSpPr>
        <p:sp>
          <p:nvSpPr>
            <p:cNvPr id="53" name="Rectangle 53"/>
            <p:cNvSpPr/>
            <p:nvPr/>
          </p:nvSpPr>
          <p:spPr>
            <a:xfrm>
              <a:off x="876300" y="5295900"/>
              <a:ext cx="10325100" cy="647700"/>
            </a:xfrm>
            <a:prstGeom prst="roundRect">
              <a:avLst>
                <a:gd name="adj" fmla="val 1176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084658" y="5501640"/>
              <a:ext cx="5908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原子批量导入：任何一行校验失败，整批保持 0 写入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6" name="TextBox 56"/>
            <p:cNvSpPr txBox="1"/>
            <p:nvPr/>
          </p:nvSpPr>
          <p:spPr>
            <a:xfrm>
              <a:off x="678942" y="6236018"/>
              <a:ext cx="39854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证据来源：真实 Fabric 恢复彩排与最终实验报告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135932" cy="847535"/>
            <a:chOff x="669798" y="495300"/>
            <a:chExt cx="7135932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13593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我们把“完成”拆成四组可复核指标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12" y="1695450"/>
            <a:ext cx="4354601" cy="2175701"/>
            <a:chOff x="667512" y="1695450"/>
            <a:chExt cx="4354601" cy="2175701"/>
          </a:xfrm>
        </p:grpSpPr>
        <p:grpSp>
          <p:nvGrpSpPr>
            <p:cNvPr id="9" name="Group 9"/>
            <p:cNvGrpSpPr/>
            <p:nvPr/>
          </p:nvGrpSpPr>
          <p:grpSpPr>
            <a:xfrm>
              <a:off x="737642" y="1695450"/>
              <a:ext cx="352191" cy="348236"/>
              <a:chOff x="737642" y="1695450"/>
              <a:chExt cx="352191" cy="34823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37642" y="1714500"/>
                <a:ext cx="329158" cy="329186"/>
              </a:xfrm>
              <a:custGeom>
                <a:avLst/>
                <a:gdLst/>
                <a:ahLst/>
                <a:cxnLst/>
                <a:rect l="l" t="t" r="r" b="b"/>
                <a:pathLst>
                  <a:path w="329158" h="329186">
                    <a:moveTo>
                      <a:pt x="329158" y="76962"/>
                    </a:moveTo>
                    <a:lnTo>
                      <a:pt x="98234" y="307924"/>
                    </a:lnTo>
                    <a:cubicBezTo>
                      <a:pt x="76981" y="329182"/>
                      <a:pt x="42520" y="329186"/>
                      <a:pt x="21262" y="307934"/>
                    </a:cubicBezTo>
                    <a:cubicBezTo>
                      <a:pt x="4" y="286681"/>
                      <a:pt x="0" y="252220"/>
                      <a:pt x="21252" y="230962"/>
                    </a:cubicBezTo>
                    <a:lnTo>
                      <a:pt x="252177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819150" y="188595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05666" y="1924050"/>
                <a:ext cx="84167" cy="97315"/>
              </a:xfrm>
              <a:custGeom>
                <a:avLst/>
                <a:gdLst/>
                <a:ahLst/>
                <a:cxnLst/>
                <a:rect l="l" t="t" r="r" b="b"/>
                <a:pathLst>
                  <a:path w="84167" h="97315">
                    <a:moveTo>
                      <a:pt x="42084" y="0"/>
                    </a:moveTo>
                    <a:lnTo>
                      <a:pt x="70659" y="30480"/>
                    </a:lnTo>
                    <a:cubicBezTo>
                      <a:pt x="84167" y="45797"/>
                      <a:pt x="83196" y="69042"/>
                      <a:pt x="68456" y="83178"/>
                    </a:cubicBezTo>
                    <a:cubicBezTo>
                      <a:pt x="53716" y="97315"/>
                      <a:pt x="30451" y="97315"/>
                      <a:pt x="15711" y="83178"/>
                    </a:cubicBezTo>
                    <a:cubicBezTo>
                      <a:pt x="972" y="69042"/>
                      <a:pt x="0" y="45797"/>
                      <a:pt x="13509" y="30480"/>
                    </a:cubicBezTo>
                    <a:lnTo>
                      <a:pt x="42084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71550" y="16954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0"/>
                    </a:moveTo>
                    <a:lnTo>
                      <a:pt x="114300" y="1143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326642" y="1816418"/>
              <a:ext cx="17073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AUTOMATED TESTS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7512" y="2564130"/>
              <a:ext cx="230101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120 / 120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6656" y="31775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全部通过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8942" y="3607118"/>
              <a:ext cx="43431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shared 33 · chaincode 20 · API 67 · 基准工具 7 / 7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73608" y="4000500"/>
            <a:ext cx="4398912" cy="1070801"/>
            <a:chOff x="673608" y="4000500"/>
            <a:chExt cx="4398912" cy="1070801"/>
          </a:xfrm>
        </p:grpSpPr>
        <p:sp>
          <p:nvSpPr>
            <p:cNvPr id="15" name="Line 15"/>
            <p:cNvSpPr/>
            <p:nvPr/>
          </p:nvSpPr>
          <p:spPr>
            <a:xfrm>
              <a:off x="685800" y="4000500"/>
              <a:ext cx="4076700" cy="9525"/>
            </a:xfrm>
            <a:custGeom>
              <a:avLst/>
              <a:gdLst/>
              <a:ahLst/>
              <a:cxnLst/>
              <a:rect l="l" t="t" r="r" b="b"/>
              <a:pathLst>
                <a:path w="4076700" h="9525">
                  <a:moveTo>
                    <a:pt x="0" y="0"/>
                  </a:moveTo>
                  <a:lnTo>
                    <a:pt x="407670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3608" y="41986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45692" y="4273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链码方法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11958" y="41986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84042" y="4273868"/>
              <a:ext cx="8778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HTTP 路由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78942" y="4807268"/>
              <a:ext cx="4393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功能面与测试面一并统计，不用“基本完成”代替数字。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24906" y="1729740"/>
            <a:ext cx="5502402" cy="3394710"/>
            <a:chOff x="5724906" y="1729740"/>
            <a:chExt cx="5502402" cy="3394710"/>
          </a:xfrm>
        </p:grpSpPr>
        <p:sp>
          <p:nvSpPr>
            <p:cNvPr id="22" name="TextBox 22"/>
            <p:cNvSpPr txBox="1"/>
            <p:nvPr/>
          </p:nvSpPr>
          <p:spPr>
            <a:xfrm>
              <a:off x="5724906" y="17297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链码覆盖率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27192" y="22164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语句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124700" y="21717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24700" y="2171700"/>
              <a:ext cx="2943225" cy="209550"/>
            </a:xfrm>
            <a:prstGeom prst="roundRect">
              <a:avLst>
                <a:gd name="adj" fmla="val 272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545709" y="22164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85.91%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27192" y="28260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124700" y="27813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124700" y="2781300"/>
              <a:ext cx="2581275" cy="209550"/>
            </a:xfrm>
            <a:prstGeom prst="roundRect">
              <a:avLst>
                <a:gd name="adj" fmla="val 2727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545709" y="28260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75.38%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27192" y="34356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函数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124700" y="33909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24700" y="3390900"/>
              <a:ext cx="3276600" cy="209550"/>
            </a:xfrm>
            <a:prstGeom prst="roundRect">
              <a:avLst>
                <a:gd name="adj" fmla="val 27273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545709" y="34356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95.52%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27192" y="4045268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124700" y="40005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24700" y="4000500"/>
              <a:ext cx="2952750" cy="209550"/>
            </a:xfrm>
            <a:prstGeom prst="roundRect">
              <a:avLst>
                <a:gd name="adj" fmla="val 2727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545709" y="40452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85.98%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734050" y="4572000"/>
              <a:ext cx="5486400" cy="552450"/>
            </a:xfrm>
            <a:prstGeom prst="roundRect">
              <a:avLst>
                <a:gd name="adj" fmla="val 13793"/>
              </a:avLst>
            </a:prstGeom>
            <a:solidFill>
              <a:srgbClr val="E7F1E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55792" y="4769168"/>
              <a:ext cx="2952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84 个性能单元 · 合法请求失败率 0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35806" y="5359718"/>
            <a:ext cx="10592086" cy="660844"/>
            <a:chOff x="735806" y="5359718"/>
            <a:chExt cx="10592086" cy="660844"/>
          </a:xfrm>
        </p:grpSpPr>
        <p:grpSp>
          <p:nvGrpSpPr>
            <p:cNvPr id="44" name="Group 44"/>
            <p:cNvGrpSpPr/>
            <p:nvPr/>
          </p:nvGrpSpPr>
          <p:grpSpPr>
            <a:xfrm>
              <a:off x="735806" y="5517356"/>
              <a:ext cx="300038" cy="300038"/>
              <a:chOff x="735806" y="5517356"/>
              <a:chExt cx="300038" cy="30003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5806" y="5517356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0" y="150019"/>
                    </a:moveTo>
                    <a:cubicBezTo>
                      <a:pt x="0" y="232872"/>
                      <a:pt x="67166" y="300038"/>
                      <a:pt x="150019" y="300038"/>
                    </a:cubicBezTo>
                    <a:cubicBezTo>
                      <a:pt x="232872" y="300038"/>
                      <a:pt x="300038" y="232872"/>
                      <a:pt x="300038" y="150019"/>
                    </a:cubicBezTo>
                    <a:cubicBezTo>
                      <a:pt x="300038" y="67166"/>
                      <a:pt x="232872" y="0"/>
                      <a:pt x="150019" y="0"/>
                    </a:cubicBezTo>
                    <a:cubicBezTo>
                      <a:pt x="67166" y="0"/>
                      <a:pt x="0" y="67166"/>
                      <a:pt x="0" y="150019"/>
                    </a:cubicBez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85825" y="5584031"/>
                <a:ext cx="50006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133350">
                    <a:moveTo>
                      <a:pt x="0" y="0"/>
                    </a:moveTo>
                    <a:lnTo>
                      <a:pt x="0" y="83344"/>
                    </a:lnTo>
                    <a:lnTo>
                      <a:pt x="50006" y="13335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5" name="Line 45"/>
            <p:cNvSpPr/>
            <p:nvPr/>
          </p:nvSpPr>
          <p:spPr>
            <a:xfrm>
              <a:off x="1333500" y="5676900"/>
              <a:ext cx="8362950" cy="9525"/>
            </a:xfrm>
            <a:custGeom>
              <a:avLst/>
              <a:gdLst/>
              <a:ahLst/>
              <a:cxnLst/>
              <a:rect l="l" t="t" r="r" b="b"/>
              <a:pathLst>
                <a:path w="8362950" h="9525">
                  <a:moveTo>
                    <a:pt x="0" y="0"/>
                  </a:moveTo>
                  <a:lnTo>
                    <a:pt x="8362950" y="0"/>
                  </a:lnTo>
                </a:path>
              </a:pathLst>
            </a:custGeom>
            <a:noFill/>
            <a:ln w="38100">
              <a:solidFill>
                <a:srgbClr val="C8CDD3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257300" y="56007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620250" y="56007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326642" y="5359718"/>
              <a:ext cx="4059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公开验证 C20：746.614 次/秒 · P95 38.202 ms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72177" y="535971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 orderer 稳定恢复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742993" y="5551170"/>
              <a:ext cx="158489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4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22.482 秒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2" name="TextBox 52"/>
            <p:cNvSpPr txBox="1"/>
            <p:nvPr/>
          </p:nvSpPr>
          <p:spPr>
            <a:xfrm>
              <a:off x="678942" y="6236018"/>
              <a:ext cx="55112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数据来源：最终实验报告、coverage summary 与隔离基准原始数据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78942" y="514350"/>
            <a:ext cx="2554194" cy="556451"/>
            <a:chOff x="678942" y="514350"/>
            <a:chExt cx="2554194" cy="556451"/>
          </a:xfrm>
        </p:grpSpPr>
        <p:sp>
          <p:nvSpPr>
            <p:cNvPr id="2" name="Rectangle 2"/>
            <p:cNvSpPr/>
            <p:nvPr/>
          </p:nvSpPr>
          <p:spPr>
            <a:xfrm>
              <a:off x="685800" y="514350"/>
              <a:ext cx="514350" cy="76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78942" y="806768"/>
              <a:ext cx="25541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CHAIN·GRADE / CONCLUSION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69798" y="1812608"/>
            <a:ext cx="4232529" cy="2212276"/>
            <a:chOff x="669798" y="1812608"/>
            <a:chExt cx="4232529" cy="2212276"/>
          </a:xfrm>
        </p:grpSpPr>
        <p:sp>
          <p:nvSpPr>
            <p:cNvPr id="5" name="TextBox 5"/>
            <p:cNvSpPr txBox="1"/>
            <p:nvPr/>
          </p:nvSpPr>
          <p:spPr>
            <a:xfrm>
              <a:off x="669798" y="1812608"/>
              <a:ext cx="4232529" cy="12256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4800"/>
                </a:lnSpc>
              </a:pPr>
              <a:r>
                <a:rPr lang="zh-CN" sz="315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可信来自可验证流程，而不是上链口号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6656" y="3291840"/>
              <a:ext cx="3824478" cy="733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80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身份、复核、隐私、修订与申诉，都在同一套真实 Fabric 产品中闭环。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896198" y="1074420"/>
            <a:ext cx="2457602" cy="1047750"/>
            <a:chOff x="8896198" y="1074420"/>
            <a:chExt cx="2457602" cy="1047750"/>
          </a:xfrm>
        </p:grpSpPr>
        <p:sp>
          <p:nvSpPr>
            <p:cNvPr id="8" name="TextBox 8"/>
            <p:cNvSpPr txBox="1"/>
            <p:nvPr/>
          </p:nvSpPr>
          <p:spPr>
            <a:xfrm>
              <a:off x="8896198" y="1074420"/>
              <a:ext cx="245760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5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可验证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194042" y="2377440"/>
            <a:ext cx="4119029" cy="655511"/>
            <a:chOff x="7194042" y="2377440"/>
            <a:chExt cx="4119029" cy="655511"/>
          </a:xfrm>
        </p:grpSpPr>
        <p:sp>
          <p:nvSpPr>
            <p:cNvPr id="10" name="TextBox 10"/>
            <p:cNvSpPr txBox="1"/>
            <p:nvPr/>
          </p:nvSpPr>
          <p:spPr>
            <a:xfrm>
              <a:off x="7194042" y="24260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已完成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34756" y="2377440"/>
              <a:ext cx="28504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Fabric 双组织 · 标准 VC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37042" y="2768918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四角色闭环与签名 / 状态 / 锚定验证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194042" y="3501390"/>
            <a:ext cx="4263070" cy="655511"/>
            <a:chOff x="7194042" y="3501390"/>
            <a:chExt cx="4263070" cy="655511"/>
          </a:xfrm>
        </p:grpSpPr>
        <p:sp>
          <p:nvSpPr>
            <p:cNvPr id="14" name="TextBox 14"/>
            <p:cNvSpPr txBox="1"/>
            <p:nvPr/>
          </p:nvSpPr>
          <p:spPr>
            <a:xfrm>
              <a:off x="7194042" y="35499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已验证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34756" y="3501390"/>
              <a:ext cx="3122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120 + 7 测试 · 84 性能单元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37042" y="389286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真实交易、篡改失败与故障恢复时间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194042" y="4625340"/>
            <a:ext cx="4212280" cy="655511"/>
            <a:chOff x="7194042" y="4625340"/>
            <a:chExt cx="4212280" cy="655511"/>
          </a:xfrm>
        </p:grpSpPr>
        <p:sp>
          <p:nvSpPr>
            <p:cNvPr id="18" name="TextBox 18"/>
            <p:cNvSpPr txBox="1"/>
            <p:nvPr/>
          </p:nvSpPr>
          <p:spPr>
            <a:xfrm>
              <a:off x="7194042" y="46739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34756" y="4625340"/>
              <a:ext cx="30715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BBS+ · 三 orderer 高可用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37042" y="50168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只把已有证据写成当前成果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6656" y="5105400"/>
            <a:ext cx="5514594" cy="880301"/>
            <a:chOff x="676656" y="5105400"/>
            <a:chExt cx="5514594" cy="880301"/>
          </a:xfrm>
        </p:grpSpPr>
        <p:sp>
          <p:nvSpPr>
            <p:cNvPr id="22" name="Line 22"/>
            <p:cNvSpPr/>
            <p:nvPr/>
          </p:nvSpPr>
          <p:spPr>
            <a:xfrm>
              <a:off x="685800" y="5105400"/>
              <a:ext cx="5505450" cy="9525"/>
            </a:xfrm>
            <a:custGeom>
              <a:avLst/>
              <a:gdLst/>
              <a:ahLst/>
              <a:cxnLst/>
              <a:rect l="l" t="t" r="r" b="b"/>
              <a:pathLst>
                <a:path w="5505450" h="9525">
                  <a:moveTo>
                    <a:pt x="0" y="0"/>
                  </a:moveTo>
                  <a:lnTo>
                    <a:pt x="550545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6656" y="53492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我们愿意回答：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8942" y="572166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为什么用链？怎样保护隐私？证据是否真实？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678942" y="6236018"/>
              <a:ext cx="1925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FC5DC"/>
                  </a:solidFill>
                  <a:latin typeface="+mn-lt"/>
                  <a:ea typeface="+mn-ea"/>
                  <a:cs typeface="+mn-cs"/>
                </a:rPr>
                <a:t>ChainGrade · 课程答辩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rgbClr val="AFC5DC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haingrade-defense-v2">
  <a:themeElements>
    <a:clrScheme name="chaingrade-defense-v2">
      <a:dk1>
        <a:srgbClr val="121212"/>
      </a:dk1>
      <a:lt1>
        <a:srgbClr val="F5F5F3"/>
      </a:lt1>
      <a:dk2>
        <a:srgbClr val="1F497D"/>
      </a:dk2>
      <a:lt2>
        <a:srgbClr val="FFFFFF"/>
      </a:lt2>
      <a:accent1>
        <a:srgbClr val="07448C"/>
      </a:accent1>
      <a:accent2>
        <a:srgbClr val="F0C86A"/>
      </a:accent2>
      <a:accent3>
        <a:srgbClr val="2E6A9E"/>
      </a:accent3>
      <a:accent4>
        <a:srgbClr val="07448C"/>
      </a:accent4>
      <a:accent5>
        <a:srgbClr val="5C6470"/>
      </a:accent5>
      <a:accent6>
        <a:srgbClr val="08724F"/>
      </a:accent6>
      <a:hlink>
        <a:srgbClr val="F0C86A"/>
      </a:hlink>
      <a:folHlink>
        <a:srgbClr val="2E6A9E"/>
      </a:folHlink>
    </a:clrScheme>
    <a:fontScheme name="chaingrade-defense-v2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defense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aingrade-defense-v2">
  <a:themeElements>
    <a:clrScheme name="chaingrade-defense-v2">
      <a:dk1>
        <a:srgbClr val="121212"/>
      </a:dk1>
      <a:lt1>
        <a:srgbClr val="F5F5F3"/>
      </a:lt1>
      <a:dk2>
        <a:srgbClr val="1F497D"/>
      </a:dk2>
      <a:lt2>
        <a:srgbClr val="FFFFFF"/>
      </a:lt2>
      <a:accent1>
        <a:srgbClr val="07448C"/>
      </a:accent1>
      <a:accent2>
        <a:srgbClr val="F0C86A"/>
      </a:accent2>
      <a:accent3>
        <a:srgbClr val="2E6A9E"/>
      </a:accent3>
      <a:accent4>
        <a:srgbClr val="07448C"/>
      </a:accent4>
      <a:accent5>
        <a:srgbClr val="5C6470"/>
      </a:accent5>
      <a:accent6>
        <a:srgbClr val="08724F"/>
      </a:accent6>
      <a:hlink>
        <a:srgbClr val="F0C86A"/>
      </a:hlink>
      <a:folHlink>
        <a:srgbClr val="2E6A9E"/>
      </a:folHlink>
    </a:clrScheme>
    <a:fontScheme name="chaingrade-defense-v2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defense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2026-09-07T15:35:16Z</dcterms:created>
  <dcterms:modified xsi:type="dcterms:W3CDTF">2026-09-07T15:35:16Z</dcterms:modified>
  <cp:category/>
  <cp:contentStatus/>
</cp:coreProperties>
</file>