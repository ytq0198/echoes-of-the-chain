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2db23fdbf64d60" /><Relationship Type="http://schemas.openxmlformats.org/officeDocument/2006/relationships/extended-properties" Target="/docProps/app.xml" Id="Rfaffbfc5d36c45a9" /><Relationship Type="http://schemas.openxmlformats.org/officeDocument/2006/relationships/officeDocument" Target="/ppt/presentation.xml" Id="R2dbd6f217cb741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3179de49c4412"/>
  </p:sldMasterIdLst>
  <p:notesMasterIdLst>
    <p:notesMasterId xmlns:r="http://schemas.openxmlformats.org/officeDocument/2006/relationships" r:id="Ra731f74428274b9b"/>
  </p:notesMasterIdLst>
  <p:sldIdLst>
    <p:sldId xmlns:r="http://schemas.openxmlformats.org/officeDocument/2006/relationships" id="256" r:id="R6694253e10804a9f"/>
    <p:sldId xmlns:r="http://schemas.openxmlformats.org/officeDocument/2006/relationships" id="257" r:id="Rc7a8971321f1487f"/>
    <p:sldId xmlns:r="http://schemas.openxmlformats.org/officeDocument/2006/relationships" id="258" r:id="R8624daa6312a477b"/>
    <p:sldId xmlns:r="http://schemas.openxmlformats.org/officeDocument/2006/relationships" id="259" r:id="R3b1d7ee850314edb"/>
    <p:sldId xmlns:r="http://schemas.openxmlformats.org/officeDocument/2006/relationships" id="260" r:id="Rdfb3a0e8bb8b4064"/>
    <p:sldId xmlns:r="http://schemas.openxmlformats.org/officeDocument/2006/relationships" id="261" r:id="R86f726dddb6849c1"/>
    <p:sldId xmlns:r="http://schemas.openxmlformats.org/officeDocument/2006/relationships" id="262" r:id="R84e81a74151d4f9b"/>
    <p:sldId xmlns:r="http://schemas.openxmlformats.org/officeDocument/2006/relationships" id="263" r:id="Re9b826bae6594e41"/>
    <p:sldId xmlns:r="http://schemas.openxmlformats.org/officeDocument/2006/relationships" id="264" r:id="Rf9c74f8115a340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996e5a40674222" /><Relationship Type="http://schemas.openxmlformats.org/officeDocument/2006/relationships/slideMaster" Target="/ppt/slideMasters/slideMaster1.xml" Id="Rc3b3179de49c4412" /><Relationship Type="http://schemas.openxmlformats.org/officeDocument/2006/relationships/notesMaster" Target="/ppt/notesMasters/notesMaster1.xml" Id="Ra731f74428274b9b" /><Relationship Type="http://schemas.openxmlformats.org/officeDocument/2006/relationships/presProps" Target="/ppt/presProps.xml" Id="R176a00cebe084eb6" /><Relationship Type="http://schemas.openxmlformats.org/officeDocument/2006/relationships/tableStyles" Target="/ppt/tableStyles.xml" Id="Rfb4fa92dd0374760" /><Relationship Type="http://schemas.openxmlformats.org/officeDocument/2006/relationships/slide" Target="/ppt/slides/slide1.xml" Id="R6694253e10804a9f" /><Relationship Type="http://schemas.openxmlformats.org/officeDocument/2006/relationships/slide" Target="/ppt/slides/slide2.xml" Id="Rc7a8971321f1487f" /><Relationship Type="http://schemas.openxmlformats.org/officeDocument/2006/relationships/slide" Target="/ppt/slides/slide3.xml" Id="R8624daa6312a477b" /><Relationship Type="http://schemas.openxmlformats.org/officeDocument/2006/relationships/slide" Target="/ppt/slides/slide4.xml" Id="R3b1d7ee850314edb" /><Relationship Type="http://schemas.openxmlformats.org/officeDocument/2006/relationships/slide" Target="/ppt/slides/slide5.xml" Id="Rdfb3a0e8bb8b4064" /><Relationship Type="http://schemas.openxmlformats.org/officeDocument/2006/relationships/slide" Target="/ppt/slides/slide6.xml" Id="R86f726dddb6849c1" /><Relationship Type="http://schemas.openxmlformats.org/officeDocument/2006/relationships/slide" Target="/ppt/slides/slide7.xml" Id="R84e81a74151d4f9b" /><Relationship Type="http://schemas.openxmlformats.org/officeDocument/2006/relationships/slide" Target="/ppt/slides/slide8.xml" Id="Re9b826bae6594e41" /><Relationship Type="http://schemas.openxmlformats.org/officeDocument/2006/relationships/slide" Target="/ppt/slides/slide9.xml" Id="Rf9c74f8115a340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f2ca708c91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16551b8304adb" /><Relationship Type="http://schemas.openxmlformats.org/officeDocument/2006/relationships/notesMaster" Target="/ppt/notesMasters/notesMaster1.xml" Id="R4a3443fc3931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683003b1794ff0" /><Relationship Type="http://schemas.openxmlformats.org/officeDocument/2006/relationships/notesMaster" Target="/ppt/notesMasters/notesMaster1.xml" Id="Rdd10612800a448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bc66ea3f394f51" /><Relationship Type="http://schemas.openxmlformats.org/officeDocument/2006/relationships/notesMaster" Target="/ppt/notesMasters/notesMaster1.xml" Id="Rb82b3f26bb9e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2e9e782a3a4db1" /><Relationship Type="http://schemas.openxmlformats.org/officeDocument/2006/relationships/notesMaster" Target="/ppt/notesMasters/notesMaster1.xml" Id="R8c35b98fc00b46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0b40f63d584808" /><Relationship Type="http://schemas.openxmlformats.org/officeDocument/2006/relationships/notesMaster" Target="/ppt/notesMasters/notesMaster1.xml" Id="R0be468f9dcf243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34c2d47a71408e" /><Relationship Type="http://schemas.openxmlformats.org/officeDocument/2006/relationships/notesMaster" Target="/ppt/notesMasters/notesMaster1.xml" Id="R8a2b758505e34b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de622825224874" /><Relationship Type="http://schemas.openxmlformats.org/officeDocument/2006/relationships/notesMaster" Target="/ppt/notesMasters/notesMaster1.xml" Id="R9f9e4b18da8b44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bcc61a234a40dc" /><Relationship Type="http://schemas.openxmlformats.org/officeDocument/2006/relationships/notesMaster" Target="/ppt/notesMasters/notesMaster1.xml" Id="R060dad9c85e44c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93d56a0efa4ab8" /><Relationship Type="http://schemas.openxmlformats.org/officeDocument/2006/relationships/notesMaster" Target="/ppt/notesMasters/notesMaster1.xml" Id="Re1503a78a50b45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秒。先用一句话界定项目：它不是把分数直接写进区块链，而是把成绩签发、复核、本人持有、公开验真和修订申诉做成一条可验证流程。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deliverables/course/ChainGrade_最终实验报告.md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45 秒。强调设计原因：区块链只能证明记录没有被悄悄替换，不能自动解决隐私、录入错误和职责分离，所以项目从真实教务冲突而不是从‘上链’口号出发。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design/02_product_requirements.md</a:t>
            </a:r>
          </a:p>
          <a:p xmlns:a="http://schemas.openxmlformats.org/drawingml/2006/main">
            <a:r>
              <a:t>- deliverables/course/ChainGrade_最终实验报告.md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秒。从左到右解释一笔写交易如何到达 Fabric。随后指出数据边界：公共账本足以验真和审计，成绩明文通过 transient data 进入组织私有集合。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design/04_system_architecture.md</a:t>
            </a:r>
          </a:p>
          <a:p xmlns:a="http://schemas.openxmlformats.org/drawingml/2006/main">
            <a:r>
              <a:t>- apps/api/src</a:t>
            </a:r>
          </a:p>
          <a:p xmlns:a="http://schemas.openxmlformats.org/drawingml/2006/main">
            <a:r>
              <a:t>- chaincode/grade-contract/src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秒。说明状态机是可纠错的关键：旧记录从不删除，新版本激活与旧版本失效在同一交易完成，因此不会出现两个版本同时有效。申诉只打开更正流程，不让复核员直接改分。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design/08_amendment_and_appeal_flow.md</a:t>
            </a:r>
          </a:p>
          <a:p xmlns:a="http://schemas.openxmlformats.org/drawingml/2006/main">
            <a:r>
              <a:t>- chaincode/grade-contract/src/grade-contract.ts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45 秒。快速指向页面中的角色入口、真实网络状态和凭证状态。说明课程与竞赛不是两套 UI：同一产品同时覆盖签发、复核、持有和验真。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reports/assets/iteration-12/00-home-fabric-desktop-1536x1024.png</a:t>
            </a:r>
          </a:p>
          <a:p xmlns:a="http://schemas.openxmlformats.org/drawingml/2006/main">
            <a:r>
              <a:t>- reports/15_delivery_readiness_rehearsal.md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45 秒。角色不是前端下拉框，而是证书属性；学生还要匹配 subject.hash。API 会尽早返回清晰错误，但链码仍是最终权限边界。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design/09_session_and_private_disclosure.md</a:t>
            </a:r>
          </a:p>
          <a:p xmlns:a="http://schemas.openxmlformats.org/drawingml/2006/main">
            <a:r>
              <a:t>- apps/api/src</a:t>
            </a:r>
          </a:p>
          <a:p xmlns:a="http://schemas.openxmlformats.org/drawingml/2006/main">
            <a:r>
              <a:t>- reports/06_session_private_disclosure_e2e.md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秒。先报 52 个测试全部通过，再报双 Peer 高度和哈希一致，说明真实账本确实同步。最后主动展示覆盖率：分支 75.38% 是下一阶段要补的真实缺口。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reports/13_native_fabric_recovery_e2e.md</a:t>
            </a:r>
          </a:p>
          <a:p xmlns:a="http://schemas.openxmlformats.org/drawingml/2006/main">
            <a:r>
              <a:t>- reports/14_native_operations_auth_ui_e2e.md</a:t>
            </a:r>
          </a:p>
          <a:p xmlns:a="http://schemas.openxmlformats.org/drawingml/2006/main">
            <a:r>
              <a:t>- reports/15_delivery_readiness_rehearsal.md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50 秒。说明这次故障反而验证了工程韧性：先保全，再用用户目录内的原生 Fabric 二进制恢复，最后通过高度和哈希证明账本一致。旧 Docker volume 的交易 ID 无法恢复，因此报告明确标注了新网络证据边界。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reports/13_native_fabric_recovery_e2e.md</a:t>
            </a:r>
          </a:p>
          <a:p xmlns:a="http://schemas.openxmlformats.org/drawingml/2006/main">
            <a:r>
              <a:t>- design/17_native_operations_and_demo_readiness.md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秒。回扣开场：项目价值不是多写字段上链，而是用身份和状态机约束变更，用私有集合保护明文，用公共承诺支持第三方验真。课程答辩和竞赛提交只是在不同场合呈现同一成果。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deliverables/course/ChainGrade_最终实验报告.md</a:t>
            </a:r>
          </a:p>
          <a:p xmlns:a="http://schemas.openxmlformats.org/drawingml/2006/main">
            <a:r>
              <a:t>- design/02_product_requirements.md</a:t>
            </a:r>
          </a:p>
          <a:p xmlns:a="http://schemas.openxmlformats.org/drawingml/2006/main">
            <a:r>
              <a:t>- reports/15_delivery_readiness_rehearsal.md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f3f6d9c5f41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9db412187a4c6c" /><Relationship Type="http://schemas.openxmlformats.org/officeDocument/2006/relationships/slideLayout" Target="/ppt/slideLayouts/slideLayout1.xml" Id="Rd22a7afdcc784c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2a7afdcc784c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bf0a5547d4f27" /><Relationship Type="http://schemas.openxmlformats.org/officeDocument/2006/relationships/notesSlide" Target="/ppt/notesSlides/notesSlide1.xml" Id="R61fc916f148f4d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976a75e2d4319" /><Relationship Type="http://schemas.openxmlformats.org/officeDocument/2006/relationships/notesSlide" Target="/ppt/notesSlides/notesSlide2.xml" Id="R3b9c4ce8316d46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119d4ae164a11" /><Relationship Type="http://schemas.openxmlformats.org/officeDocument/2006/relationships/notesSlide" Target="/ppt/notesSlides/notesSlide3.xml" Id="Rd0b928fdab144c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06942179340a1" /><Relationship Type="http://schemas.openxmlformats.org/officeDocument/2006/relationships/notesSlide" Target="/ppt/notesSlides/notesSlide4.xml" Id="Ra591a597824242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aa7d4a1034d4c" /><Relationship Type="http://schemas.openxmlformats.org/officeDocument/2006/relationships/image" Target="/ppt/media/image.jpeg" Id="Rcd88c5108b854881" /><Relationship Type="http://schemas.openxmlformats.org/officeDocument/2006/relationships/notesSlide" Target="/ppt/notesSlides/notesSlide5.xml" Id="R4a738eed0b5e42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bdad9440843a9" /><Relationship Type="http://schemas.openxmlformats.org/officeDocument/2006/relationships/notesSlide" Target="/ppt/notesSlides/notesSlide6.xml" Id="R4fde41298a6e4e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f02db8aa24a05" /><Relationship Type="http://schemas.openxmlformats.org/officeDocument/2006/relationships/notesSlide" Target="/ppt/notesSlides/notesSlide7.xml" Id="Rbca7e71ac640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637c2bef64fc1" /><Relationship Type="http://schemas.openxmlformats.org/officeDocument/2006/relationships/notesSlide" Target="/ppt/notesSlides/notesSlide8.xml" Id="R2223c9c13c5745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70fcc5e6d41c3" /><Relationship Type="http://schemas.openxmlformats.org/officeDocument/2006/relationships/notesSlide" Target="/ppt/notesSlides/notesSlide9.xml" Id="Ree2a9d56e7dc47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5A41DB-E21B-4681-98B2-96CEF23E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浙江大学 · 区块链技术应用实践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3E93990-EA5E-435E-9784-A14E56F2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F5A46"/>
                </a:solidFill>
                <a:latin typeface="Georgia"/>
                <a:ea typeface="Georgia"/>
                <a:cs typeface="Georgia"/>
              </a:defRPr>
            </a:pPr>
            <a:r>
              <a:rPr sz="6150" b="1">
                <a:solidFill>
                  <a:srgbClr val="0F5A46"/>
                </a:solidFill>
                <a:latin typeface="Georgia"/>
                <a:ea typeface="Georgia"/>
                <a:cs typeface="Georgia"/>
              </a:rPr>
              <a:t>ChainGrade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686A234-455C-46E4-8132-8647606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15"/>
                </a:solidFill>
                <a:latin typeface="STSong"/>
                <a:ea typeface="STSong"/>
                <a:cs typeface="STSong"/>
              </a:defRPr>
            </a:pPr>
            <a:r>
              <a:rPr sz="2850" b="1">
                <a:solidFill>
                  <a:srgbClr val="111815"/>
                </a:solidFill>
                <a:latin typeface="STSong"/>
                <a:ea typeface="STSong"/>
                <a:cs typeface="STSong"/>
              </a:rPr>
              <a:t>隐私保护型可信成绩凭证管理平台</a:t>
            </a:r>
          </a:p>
        </p:txBody>
      </p:sp>
      <p:cxnSp>
        <p:nvCxnSpPr>
          <p:cNvPr id="17" name="line"/>
          <p:cNvCxnSpPr/>
          <p:nvPr/>
        </p:nvCxnSpPr>
        <p:spPr>
          <a:xfrm xmlns:a="http://schemas.openxmlformats.org/drawingml/2006/main">
            <a:off x="495300" y="390525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9A3A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AA79E1-90A2-4C0D-AFEB-AB95709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让成绩可以验证，让更正可以追溯，让隐私不必公开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4593FE-2626-4106-B9BB-51FA48EE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魏子安 · 强璞 · 阳震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16168D-E6CC-409E-8568-94844226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课程大作业与 CCF 参赛共用同一项目</a:t>
            </a:r>
          </a:p>
        </p:txBody>
      </p:sp>
      <p:sp>
        <p:nvSpPr>
          <p:cNvPr id="8" name="cover-band">
            <a:extLst xmlns:a="http://schemas.openxmlformats.org/drawingml/2006/main">
              <a:ext uri="{FF2B5EF4-FFF2-40B4-BE49-F238E27FC236}">
                <a16:creationId xmlns:a16="http://schemas.microsoft.com/office/drawing/2014/main" id="{35BC4BEB-F573-44EE-A859-5F5C60AD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9100"/>
            <a:ext cx="16478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A46"/>
          </a:solidFill>
          <a:ln xmlns:a="http://schemas.openxmlformats.org/drawingml/2006/main" w="9525">
            <a:solidFill>
              <a:srgbClr val="0F5A4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EC5D6DE-87AE-440F-9A9E-DFD824C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191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29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9B4AF1-95A0-4B8D-92B6-9D91D176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114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cxnSp>
        <p:nvCxnSpPr>
          <p:cNvPr id="24" name="footer-rule-1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12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43BDE9ED-BE95-47A7-9C40-D15C922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13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26FC01BB-A394-4F4A-8A75-C1C8AC61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7346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054F0221-2108-4EE9-8134-FC70D195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01 /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913154D-EB06-4A61-BE3E-D57A8B6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成绩可信，不等于把明文永久公开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D971ECC-9A09-472E-A903-E0BCB0E4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111815"/>
                </a:solidFill>
                <a:latin typeface="STSong"/>
                <a:ea typeface="STSong"/>
                <a:cs typeface="STSong"/>
              </a:rPr>
              <a:t>高校成绩是低熵敏感数据。</a:t>
            </a:r>
          </a:p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111815"/>
                </a:solidFill>
                <a:latin typeface="STSong"/>
                <a:ea typeface="STSong"/>
                <a:cs typeface="STSong"/>
              </a:rPr>
              <a:t>公开姓名、课程和分数，会留下永久隐私风险；</a:t>
            </a:r>
          </a:p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111815"/>
                </a:solidFill>
                <a:latin typeface="STSong"/>
                <a:ea typeface="STSong"/>
                <a:cs typeface="STSong"/>
              </a:rPr>
              <a:t>只强调“不可修改”，又无法处理正常教务更正。</a:t>
            </a:r>
          </a:p>
        </p:txBody>
      </p:sp>
      <p:cxnSp>
        <p:nvCxnSpPr>
          <p:cNvPr id="22" name="line"/>
          <p:cNvCxnSpPr/>
          <p:nvPr/>
        </p:nvCxnSpPr>
        <p:spPr>
          <a:xfrm xmlns:a="http://schemas.openxmlformats.org/drawingml/2006/main">
            <a:off x="7239000" y="1809750"/>
            <a:ext cx="0" cy="3381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BB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4B4901-01F9-4D10-9125-A29113E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7A3C97-570E-444E-B2E9-9F3E9AA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隐私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E31277A-2AAD-41DF-8D4D-5AC89BB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812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明文只进入组织私有集合，公共账本保存承诺和审计摘要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A13664-B976-49F3-ADF4-AEF88C6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FF726B-1B33-4FEB-B219-910F14E8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CD9A75-413B-406F-B2C5-19F6E21D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385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更正生成新版本并取代旧版本，历史仍可查询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00711B-B35E-4A8D-8605-04463444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E90DBB-DC68-421E-B8A7-B2801A6C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91E422-DD85-4E70-B806-A8930D73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教师提交与院系批准由不同证书身份完成</a:t>
            </a:r>
          </a:p>
        </p:txBody>
      </p:sp>
      <p:sp>
        <p:nvSpPr>
          <p:cNvPr id="14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402E7C2D-A4E4-422E-B565-65170B96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A16027-3685-4129-8103-9763662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因此，可信必须拆成身份、流程、状态和证据四部分。</a:t>
            </a:r>
          </a:p>
        </p:txBody>
      </p:sp>
      <p:cxnSp>
        <p:nvCxnSpPr>
          <p:cNvPr id="34" name="footer-rule-2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1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14F9FFB-FD79-414D-A5C0-9974F729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18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5E0210AC-2A8C-4BA5-9FE5-940CBA66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5586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3">
            <a:extLst xmlns:a="http://schemas.openxmlformats.org/drawingml/2006/main">
              <a:ext uri="{FF2B5EF4-FFF2-40B4-BE49-F238E27FC236}">
                <a16:creationId xmlns:a16="http://schemas.microsoft.com/office/drawing/2014/main" id="{0865F806-CFCD-4BA2-AF86-FC041480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02 /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C0ABC37-78CB-4B43-B330-35230AB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把可信拆成四层，链上只保留必要承诺</a:t>
            </a:r>
          </a:p>
        </p:txBody>
      </p:sp>
      <p:sp>
        <p:nvSpPr>
          <p:cNvPr id="3" name="arch-0">
            <a:extLst xmlns:a="http://schemas.openxmlformats.org/drawingml/2006/main">
              <a:ext uri="{FF2B5EF4-FFF2-40B4-BE49-F238E27FC236}">
                <a16:creationId xmlns:a16="http://schemas.microsoft.com/office/drawing/2014/main" id="{BBE131D9-FEFA-43F1-9EF3-17941A4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83A7D6-63B8-44D5-8F51-35075B7E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F32761-5568-42DF-BD11-E6F4E7F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四角色任务流</a:t>
            </a:r>
          </a:p>
        </p:txBody>
      </p:sp>
      <p:cxnSp>
        <p:nvCxnSpPr>
          <p:cNvPr id="36" name="arrow-a0"/>
          <p:cNvCxnSpPr/>
          <p:nvPr/>
        </p:nvCxnSpPr>
        <p:spPr>
          <a:xfrm xmlns:a="http://schemas.openxmlformats.org/drawingml/2006/main">
            <a:off x="2619375" y="2495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8062"/>
            </a:solidFill>
            <a:prstDash val="solid"/>
          </a:ln>
        </p:spPr>
      </p:cxnSp>
      <p:sp>
        <p:nvSpPr>
          <p:cNvPr id="7" name="arrow-head-a0">
            <a:extLst xmlns:a="http://schemas.openxmlformats.org/drawingml/2006/main">
              <a:ext uri="{FF2B5EF4-FFF2-40B4-BE49-F238E27FC236}">
                <a16:creationId xmlns:a16="http://schemas.microsoft.com/office/drawing/2014/main" id="{FF7BB84E-8D63-43B8-A09A-24D23C3E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3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8062"/>
          </a:solidFill>
          <a:ln xmlns:a="http://schemas.openxmlformats.org/drawingml/2006/main" w="0">
            <a:solidFill>
              <a:srgbClr val="1E8062"/>
            </a:solidFill>
            <a:prstDash val="solid"/>
          </a:ln>
        </p:spPr>
      </p:sp>
      <p:sp>
        <p:nvSpPr>
          <p:cNvPr id="8" name="arch-1">
            <a:extLst xmlns:a="http://schemas.openxmlformats.org/drawingml/2006/main">
              <a:ext uri="{FF2B5EF4-FFF2-40B4-BE49-F238E27FC236}">
                <a16:creationId xmlns:a16="http://schemas.microsoft.com/office/drawing/2014/main" id="{283D72B1-31CC-462C-8CB8-7A475060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1952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719B79-545C-4644-A419-E0E4FE8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Fastify API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4A1948-80CC-4763-97F6-2F41E51C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71750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会话 · CSRF · Schema</a:t>
            </a:r>
          </a:p>
        </p:txBody>
      </p:sp>
      <p:cxnSp>
        <p:nvCxnSpPr>
          <p:cNvPr id="41" name="arrow-a1"/>
          <p:cNvCxnSpPr/>
          <p:nvPr/>
        </p:nvCxnSpPr>
        <p:spPr>
          <a:xfrm xmlns:a="http://schemas.openxmlformats.org/drawingml/2006/main">
            <a:off x="5143500" y="2495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8062"/>
            </a:solidFill>
            <a:prstDash val="solid"/>
          </a:ln>
        </p:spPr>
      </p:cxnSp>
      <p:sp>
        <p:nvSpPr>
          <p:cNvPr id="12" name="arrow-head-a1">
            <a:extLst xmlns:a="http://schemas.openxmlformats.org/drawingml/2006/main">
              <a:ext uri="{FF2B5EF4-FFF2-40B4-BE49-F238E27FC236}">
                <a16:creationId xmlns:a16="http://schemas.microsoft.com/office/drawing/2014/main" id="{39EFCFE4-D14D-4A3D-98C0-3560C712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3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8062"/>
          </a:solidFill>
          <a:ln xmlns:a="http://schemas.openxmlformats.org/drawingml/2006/main" w="0">
            <a:solidFill>
              <a:srgbClr val="1E8062"/>
            </a:solidFill>
            <a:prstDash val="solid"/>
          </a:ln>
        </p:spPr>
      </p:sp>
      <p:sp>
        <p:nvSpPr>
          <p:cNvPr id="13" name="arch-2">
            <a:extLst xmlns:a="http://schemas.openxmlformats.org/drawingml/2006/main">
              <a:ext uri="{FF2B5EF4-FFF2-40B4-BE49-F238E27FC236}">
                <a16:creationId xmlns:a16="http://schemas.microsoft.com/office/drawing/2014/main" id="{74A9C5E7-43B4-4FA5-9713-E95F8092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1952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69121AB-43BC-43A7-A870-D8AC5E6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907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EAF1003-9C78-446D-BA57-060C6F00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Fabric SDK · 身份选证</a:t>
            </a:r>
          </a:p>
        </p:txBody>
      </p:sp>
      <p:cxnSp>
        <p:nvCxnSpPr>
          <p:cNvPr id="46" name="arrow-a2"/>
          <p:cNvCxnSpPr/>
          <p:nvPr/>
        </p:nvCxnSpPr>
        <p:spPr>
          <a:xfrm xmlns:a="http://schemas.openxmlformats.org/drawingml/2006/main">
            <a:off x="7667625" y="2495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8062"/>
            </a:solidFill>
            <a:prstDash val="solid"/>
          </a:ln>
        </p:spPr>
      </p:cxnSp>
      <p:sp>
        <p:nvSpPr>
          <p:cNvPr id="17" name="arrow-head-a2">
            <a:extLst xmlns:a="http://schemas.openxmlformats.org/drawingml/2006/main">
              <a:ext uri="{FF2B5EF4-FFF2-40B4-BE49-F238E27FC236}">
                <a16:creationId xmlns:a16="http://schemas.microsoft.com/office/drawing/2014/main" id="{7BA58A7E-AFCA-42EF-BAE9-27CBE216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3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8062"/>
          </a:solidFill>
          <a:ln xmlns:a="http://schemas.openxmlformats.org/drawingml/2006/main" w="0">
            <a:solidFill>
              <a:srgbClr val="1E8062"/>
            </a:solidFill>
            <a:prstDash val="solid"/>
          </a:ln>
        </p:spPr>
      </p:sp>
      <p:sp>
        <p:nvSpPr>
          <p:cNvPr id="18" name="arch-3">
            <a:extLst xmlns:a="http://schemas.openxmlformats.org/drawingml/2006/main">
              <a:ext uri="{FF2B5EF4-FFF2-40B4-BE49-F238E27FC236}">
                <a16:creationId xmlns:a16="http://schemas.microsoft.com/office/drawing/2014/main" id="{5E47FC2B-32D7-4317-8F31-3BF1D025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3095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A46"/>
          </a:solidFill>
          <a:ln xmlns:a="http://schemas.openxmlformats.org/drawingml/2006/main" w="9525">
            <a:solidFill>
              <a:srgbClr val="0F5A46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90BEE5-3004-4598-B58D-EFA2A8F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90750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Fabric 网络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3F58FD6-1A22-4975-A8AD-70684BB1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71750"/>
            <a:ext cx="2752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F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FE7"/>
                </a:solidFill>
                <a:latin typeface="Microsoft YaHei"/>
                <a:ea typeface="Microsoft YaHei"/>
                <a:cs typeface="Microsoft YaHei"/>
              </a:rPr>
              <a:t>Org1 / Org2 / Raft / CCAAS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6BAE737-7201-461E-B9F4-81F17C6E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公共通道账本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F83158-DC28-4C54-90A6-19BCCBD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凭证 ID · 状态 · 版本 · 详情哈希 · 签发/复核组织 · 交易与区块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6F4F2B4-0474-4130-A17E-01BDF707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组织私有数据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2B61827-7494-4C2B-9D6E-0FB8E2D6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课程 · 分数 · 等级 · 随机盐 · 申诉与决定正文</a:t>
            </a:r>
          </a:p>
        </p:txBody>
      </p:sp>
      <p:cxnSp>
        <p:nvCxnSpPr>
          <p:cNvPr id="55" name="line"/>
          <p:cNvCxnSpPr/>
          <p:nvPr/>
        </p:nvCxnSpPr>
        <p:spPr>
          <a:xfrm xmlns:a="http://schemas.openxmlformats.org/drawingml/2006/main">
            <a:off x="6096000" y="361950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BB"/>
            </a:solidFill>
            <a:prstDash val="solid"/>
          </a:ln>
        </p:spPr>
      </p:cxnSp>
      <p:sp>
        <p:nvSpPr>
          <p:cNvPr id="26" name="arch-takeaway">
            <a:extLst xmlns:a="http://schemas.openxmlformats.org/drawingml/2006/main">
              <a:ext uri="{FF2B5EF4-FFF2-40B4-BE49-F238E27FC236}">
                <a16:creationId xmlns:a16="http://schemas.microsoft.com/office/drawing/2014/main" id="{3D242593-00D2-48D2-8691-D3BAB01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F30C1AE-25B7-45D6-9225-1F3DE63A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26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链上承诺负责验真，私有集合负责保密；API 的前置检查不能替代链码的最终权限判断。</a:t>
            </a:r>
          </a:p>
        </p:txBody>
      </p:sp>
      <p:cxnSp>
        <p:nvCxnSpPr>
          <p:cNvPr id="58" name="footer-rule-3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29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B2AB4A4-3DB0-4C9C-B875-C553CC48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30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E186897E-E1C4-4ED5-9128-2696EB3A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3716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4">
            <a:extLst xmlns:a="http://schemas.openxmlformats.org/drawingml/2006/main">
              <a:ext uri="{FF2B5EF4-FFF2-40B4-BE49-F238E27FC236}">
                <a16:creationId xmlns:a16="http://schemas.microsoft.com/office/drawing/2014/main" id="{2551863B-D70F-426B-A405-09E951C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03 / LIFECYCLE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A90E993-34E1-4F23-8235-EC62A966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一次更正不覆盖历史，而是生成新版本</a:t>
            </a:r>
          </a:p>
        </p:txBody>
      </p:sp>
      <p:cxnSp>
        <p:nvCxnSpPr>
          <p:cNvPr id="28" name="lifecycle-line"/>
          <p:cNvCxnSpPr/>
          <p:nvPr/>
        </p:nvCxnSpPr>
        <p:spPr>
          <a:xfrm xmlns:a="http://schemas.openxmlformats.org/drawingml/2006/main">
            <a:off x="857250" y="31432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15"/>
            </a:solidFill>
            <a:prstDash val="solid"/>
          </a:ln>
        </p:spPr>
      </p:cxn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E847A10A-07AF-43AA-A718-EB00800F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46"/>
          </a:solidFill>
          <a:ln xmlns:a="http://schemas.openxmlformats.org/drawingml/2006/main" w="9525">
            <a:solidFill>
              <a:srgbClr val="0F5A46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8F9D18-D19B-4F49-B1E6-7563794C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教师提交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6C56518-39DD-46E1-B79E-9F7A334F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PENDING_REVIEW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1EC499-F9A9-4663-A35F-F69DF7D3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公共参数与私有详情一起生成草稿</a:t>
            </a:r>
          </a:p>
        </p:txBody>
      </p:sp>
      <p:sp>
        <p:nvSpPr>
          <p:cNvPr id="8" name="dot-1">
            <a:extLst xmlns:a="http://schemas.openxmlformats.org/drawingml/2006/main">
              <a:ext uri="{FF2B5EF4-FFF2-40B4-BE49-F238E27FC236}">
                <a16:creationId xmlns:a16="http://schemas.microsoft.com/office/drawing/2014/main" id="{F9677D40-652C-4487-AFB5-E1F95038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9A3A"/>
          </a:solidFill>
          <a:ln xmlns:a="http://schemas.openxmlformats.org/drawingml/2006/main" w="9525">
            <a:solidFill>
              <a:srgbClr val="C59A3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575F07-272B-425E-AE3B-BFE6D05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28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独立复核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5D9F38-F247-4D14-A455-ED5F9D6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ACTIVE / REJECTED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96B995-E074-4F17-BB9E-6A697094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2430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院系证书批准或驳回，职责不混用</a:t>
            </a:r>
          </a:p>
        </p:txBody>
      </p:sp>
      <p:sp>
        <p:nvSpPr>
          <p:cNvPr id="12" name="dot-2">
            <a:extLst xmlns:a="http://schemas.openxmlformats.org/drawingml/2006/main">
              <a:ext uri="{FF2B5EF4-FFF2-40B4-BE49-F238E27FC236}">
                <a16:creationId xmlns:a16="http://schemas.microsoft.com/office/drawing/2014/main" id="{C8EA6B84-9E1B-47EE-87F5-6BE08958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46"/>
          </a:solidFill>
          <a:ln xmlns:a="http://schemas.openxmlformats.org/drawingml/2006/main" w="9525">
            <a:solidFill>
              <a:srgbClr val="0F5A4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776FA4-F48E-419F-9B0A-81EC6C39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修订取代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705972A-6448-4DD1-A70F-BDFE79C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SUPERSEDED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112CF2-8075-4A6D-A850-19E5CA0B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2430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新版本激活时，旧版本原子失效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5615C159-9F83-48B2-B531-10870D3C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46"/>
          </a:solidFill>
          <a:ln xmlns:a="http://schemas.openxmlformats.org/drawingml/2006/main" w="9525">
            <a:solidFill>
              <a:srgbClr val="0F5A4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4CCC9B8-06DE-40E0-88FF-4BE13DA8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28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终态保留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BA9109-1C28-4760-A051-1D8E12BC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86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REVOKED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38184F-2668-4004-9FC8-A33F2A6A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2430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撤销与原因承诺永久可审计</a:t>
            </a:r>
          </a:p>
        </p:txBody>
      </p:sp>
      <p:sp>
        <p:nvSpPr>
          <p:cNvPr id="20" name="appeal-band">
            <a:extLst xmlns:a="http://schemas.openxmlformats.org/drawingml/2006/main">
              <a:ext uri="{FF2B5EF4-FFF2-40B4-BE49-F238E27FC236}">
                <a16:creationId xmlns:a16="http://schemas.microsoft.com/office/drawing/2014/main" id="{68629803-DD97-43E6-AD61-088F7B19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7C3E0A-4F5C-4455-BC83-FBF96F53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轻量申诉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2ECBEF1-ED08-4DEC-AE84-D7FAEAA9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学生只能对本人的有效凭证申诉；复核员接受申诉后，教师仍需创建修订草稿并再次独立复核。</a:t>
            </a:r>
          </a:p>
        </p:txBody>
      </p:sp>
      <p:cxnSp>
        <p:nvCxnSpPr>
          <p:cNvPr id="48" name="footer-rule-4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2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96B8DCE4-4ED2-45BC-9C51-A8CE01F4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2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8D7096EB-5894-4981-949A-3A530D1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382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5">
            <a:extLst xmlns:a="http://schemas.openxmlformats.org/drawingml/2006/main">
              <a:ext uri="{FF2B5EF4-FFF2-40B4-BE49-F238E27FC236}">
                <a16:creationId xmlns:a16="http://schemas.microsoft.com/office/drawing/2014/main" id="{0EB6ED69-D2D4-4CA2-8199-D59E2DCC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04 / PRODUCT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CD0A739-5F86-47DC-B4E8-6A5B61A5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四种身份看到的是同一条证据链的不同窗口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49588A7-EEE9-4F84-A0B1-E45190F9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5A46"/>
                </a:solidFill>
                <a:latin typeface="STSong"/>
                <a:ea typeface="STSong"/>
                <a:cs typeface="STSong"/>
              </a:defRPr>
            </a:pPr>
            <a:r>
              <a:rPr sz="2400" b="1">
                <a:solidFill>
                  <a:srgbClr val="0F5A46"/>
                </a:solidFill>
                <a:latin typeface="STSong"/>
                <a:ea typeface="STSong"/>
                <a:cs typeface="STSong"/>
              </a:rPr>
              <a:t>教师签发</a:t>
            </a:r>
          </a:p>
          <a:p xmlns:a="http://schemas.openxmlformats.org/drawingml/2006/main">
            <a:pPr algn="l">
              <a:defRPr sz="2400" b="1">
                <a:solidFill>
                  <a:srgbClr val="0F5A46"/>
                </a:solidFill>
                <a:latin typeface="STSong"/>
                <a:ea typeface="STSong"/>
                <a:cs typeface="STSong"/>
              </a:defRPr>
            </a:pPr>
            <a:r>
              <a:rPr sz="2400" b="1">
                <a:solidFill>
                  <a:srgbClr val="0F5A46"/>
                </a:solidFill>
                <a:latin typeface="STSong"/>
                <a:ea typeface="STSong"/>
                <a:cs typeface="STSong"/>
              </a:rPr>
              <a:t>院系复核</a:t>
            </a:r>
          </a:p>
          <a:p xmlns:a="http://schemas.openxmlformats.org/drawingml/2006/main">
            <a:pPr algn="l">
              <a:defRPr sz="2400" b="1">
                <a:solidFill>
                  <a:srgbClr val="0F5A46"/>
                </a:solidFill>
                <a:latin typeface="STSong"/>
                <a:ea typeface="STSong"/>
                <a:cs typeface="STSong"/>
              </a:defRPr>
            </a:pPr>
            <a:r>
              <a:rPr sz="2400" b="1">
                <a:solidFill>
                  <a:srgbClr val="0F5A46"/>
                </a:solidFill>
                <a:latin typeface="STSong"/>
                <a:ea typeface="STSong"/>
                <a:cs typeface="STSong"/>
              </a:rPr>
              <a:t>学生持有</a:t>
            </a:r>
          </a:p>
          <a:p xmlns:a="http://schemas.openxmlformats.org/drawingml/2006/main">
            <a:pPr algn="l">
              <a:defRPr sz="2400" b="1">
                <a:solidFill>
                  <a:srgbClr val="0F5A46"/>
                </a:solidFill>
                <a:latin typeface="STSong"/>
                <a:ea typeface="STSong"/>
                <a:cs typeface="STSong"/>
              </a:defRPr>
            </a:pPr>
            <a:r>
              <a:rPr sz="2400" b="1">
                <a:solidFill>
                  <a:srgbClr val="0F5A46"/>
                </a:solidFill>
                <a:latin typeface="STSong"/>
                <a:ea typeface="STSong"/>
                <a:cs typeface="STSong"/>
              </a:rPr>
              <a:t>公开验真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ECC414-09F0-4222-B52A-CB6CE6F3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界面围绕“当前状态、下一步由谁处理、哪些信息公开”组织，而不是把链码方法直接暴露给用户。</a:t>
            </a:r>
          </a:p>
        </p:txBody>
      </p:sp>
      <p:sp>
        <p:nvSpPr>
          <p:cNvPr id="5" name="ui-frame">
            <a:extLst xmlns:a="http://schemas.openxmlformats.org/drawingml/2006/main">
              <a:ext uri="{FF2B5EF4-FFF2-40B4-BE49-F238E27FC236}">
                <a16:creationId xmlns:a16="http://schemas.microsoft.com/office/drawing/2014/main" id="{DBBAB722-760C-4C45-974A-BE15803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68389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8c5108b854881"/>
          <a:srcRect xmlns:a="http://schemas.openxmlformats.org/drawingml/2006/main" l="0" t="6124" r="0" b="6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1733550"/>
            <a:ext cx="6610350" cy="38671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D867D16-1116-4487-BD70-53D4B21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10250"/>
            <a:ext cx="661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真实 Fabric 总工作台 · 1536×1024 浏览器验收</a:t>
            </a:r>
          </a:p>
        </p:txBody>
      </p:sp>
      <p:cxnSp>
        <p:nvCxnSpPr>
          <p:cNvPr id="18" name="footer-rule-5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53485204-E470-4D79-BA43-085A1E92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10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D61F64D0-6A47-4A52-88E7-D606B741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2606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6">
            <a:extLst xmlns:a="http://schemas.openxmlformats.org/drawingml/2006/main">
              <a:ext uri="{FF2B5EF4-FFF2-40B4-BE49-F238E27FC236}">
                <a16:creationId xmlns:a16="http://schemas.microsoft.com/office/drawing/2014/main" id="{62122A99-EFDC-454B-ABDC-C66CAED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05 / SECURITY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74A2BD6-52BD-4C61-9585-FBD900BA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权限边界由证书属性、链码和会话共同收紧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CF80E27-A5B8-4097-9775-79ED7A6B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67BCDE-7484-4FE0-AC8B-2BF98A3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cxnSp>
        <p:nvCxnSpPr>
          <p:cNvPr id="33" name="line"/>
          <p:cNvCxnSpPr/>
          <p:nvPr/>
        </p:nvCxnSpPr>
        <p:spPr>
          <a:xfrm xmlns:a="http://schemas.openxmlformats.org/drawingml/2006/main">
            <a:off x="495300" y="2952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2A904B-183E-429B-BBFF-929BC567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app.role=issuer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AEF9DEE-FDDC-491A-A620-2B9CA19B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创建 · 批量导入 · 修订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4B51C4-78E8-4C42-9F65-8D12999F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66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3BFF4A-E65F-44C9-9337-CE17A03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复核员</a:t>
            </a:r>
          </a:p>
        </p:txBody>
      </p:sp>
      <p:cxnSp>
        <p:nvCxnSpPr>
          <p:cNvPr id="38" name="line"/>
          <p:cNvCxnSpPr/>
          <p:nvPr/>
        </p:nvCxnSpPr>
        <p:spPr>
          <a:xfrm xmlns:a="http://schemas.openxmlformats.org/drawingml/2006/main">
            <a:off x="3295650" y="2952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C134BB1-F5DE-4B3A-8B72-DFAAE2A7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app.role=reviewer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F3B2976-0F9E-49B6-9097-309CB74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14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批准 · 驳回 · 撤销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0543FD-6A0C-4F49-BDB5-A9EAA1F2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8E6C9B5-8529-4F75-9807-3BB5827B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cxnSp>
        <p:nvCxnSpPr>
          <p:cNvPr id="43" name="line"/>
          <p:cNvCxnSpPr/>
          <p:nvPr/>
        </p:nvCxnSpPr>
        <p:spPr>
          <a:xfrm xmlns:a="http://schemas.openxmlformats.org/drawingml/2006/main">
            <a:off x="6096000" y="2952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B16D08F-B0F1-4ADF-B931-2A75F2B2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subject.hash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61526B4-5319-47A1-8D9C-274D4785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本人查询 · 申诉 · 授权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943B2B-F7BD-46E5-A663-E26531DB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66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F4C93A1-9F52-4ACF-8C59-AD4F7A7A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验证者</a:t>
            </a:r>
          </a:p>
        </p:txBody>
      </p:sp>
      <p:cxnSp>
        <p:nvCxnSpPr>
          <p:cNvPr id="48" name="line"/>
          <p:cNvCxnSpPr/>
          <p:nvPr/>
        </p:nvCxnSpPr>
        <p:spPr>
          <a:xfrm xmlns:a="http://schemas.openxmlformats.org/drawingml/2006/main">
            <a:off x="8896350" y="2952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D4BFBE1-E489-456B-BA06-80063EF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无需登录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3B2030E-9DC2-40BF-9F57-6EE61B6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14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公开验真 · 消费授权</a:t>
            </a:r>
          </a:p>
        </p:txBody>
      </p:sp>
      <p:sp>
        <p:nvSpPr>
          <p:cNvPr id="23" name="security-band">
            <a:extLst xmlns:a="http://schemas.openxmlformats.org/drawingml/2006/main">
              <a:ext uri="{FF2B5EF4-FFF2-40B4-BE49-F238E27FC236}">
                <a16:creationId xmlns:a16="http://schemas.microsoft.com/office/drawing/2014/main" id="{A7C01410-E211-473E-BA30-5B04B46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120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F7B9A88-6B6C-4588-86C2-5D1B2D6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已验证的失败路径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E255180-2D6D-4A6E-B2BB-9D5616F3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006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未登录 401 · 恶意 Origin 403 · 跨角色访问 403 · 缺 CSRF 403 · 错误验证者 403 · 超限消费 409</a:t>
            </a:r>
          </a:p>
        </p:txBody>
      </p:sp>
      <p:cxnSp>
        <p:nvCxnSpPr>
          <p:cNvPr id="54" name="footer-rule-6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27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27CF359C-27C7-43BF-A693-CEED471C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28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F14224F2-A462-4453-B746-4B77D84E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3676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7">
            <a:extLst xmlns:a="http://schemas.openxmlformats.org/drawingml/2006/main">
              <a:ext uri="{FF2B5EF4-FFF2-40B4-BE49-F238E27FC236}">
                <a16:creationId xmlns:a16="http://schemas.microsoft.com/office/drawing/2014/main" id="{C389D1E9-532B-44B3-818F-3A85E8B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06 / EVIDENCE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046C7E2-2E41-4A8A-A55C-A41C426B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真实网络与自动测试给出了可复核的完成证据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53CD2E0-28A9-4AB5-AA06-03BA21E2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不是“页面能打开”就算完成：我们同时核对 HTTP 结果、交易 ID、双 Peer 区块高度与哈希，并保留覆盖率缺口。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EB7BC5D4-1DE1-49ED-A9C8-29D6739B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3429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39AE1A-D0BE-4FCC-B18F-870B7CDF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52 / 52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1F0F2A-0ACE-4651-8DC4-226A4E7F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自动测试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4CC9C5-97EE-412A-B803-6E91B5C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shared 6 · chaincode 20 · API 26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F68AF47A-CC60-48B5-86E3-F756DF84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3429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C465E6-2A8D-4BD2-87FE-683995B5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313943-BC70-4459-91F6-BE5F88CA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双 Peer 高度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C1AD4E-EF7A-42A3-A046-871DE598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current / previous hash 完全一致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968D21DE-8314-4D45-B401-A6725898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3429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9C79A9-7BD2-49A7-AA47-6CA2100D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12.50 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854FB05-657D-47EA-BFD0-04A80FC2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演示恢复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4F7A1CA-AD42-40BA-A555-2AC7C87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24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API/Web 停止后生产构建再启动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E87855-BEE9-4096-BDA4-6180AE88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链码语句覆盖率 85.91% · 分支 75.38% · 函数 95.52% · 行 85.98%</a:t>
            </a:r>
          </a:p>
        </p:txBody>
      </p:sp>
      <p:cxnSp>
        <p:nvCxnSpPr>
          <p:cNvPr id="36" name="footer-rule-7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18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2337F64C-F018-4806-9F54-29EF28F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19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D21C3B91-8551-4F25-8E34-8868EB44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8464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8">
            <a:extLst xmlns:a="http://schemas.openxmlformats.org/drawingml/2006/main">
              <a:ext uri="{FF2B5EF4-FFF2-40B4-BE49-F238E27FC236}">
                <a16:creationId xmlns:a16="http://schemas.microsoft.com/office/drawing/2014/main" id="{15AF9F93-299C-422E-8042-5934903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07 / RECOVERY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386DFA6-AFF8-4521-93DF-E2E74CD8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Docker 丢失容器状态后，账本仍能被完整验证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96803A5-6175-4BE2-841F-1C2DB55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STSong"/>
                <a:ea typeface="STSong"/>
                <a:cs typeface="STSong"/>
              </a:defRPr>
            </a:pPr>
            <a:r>
              <a:rPr sz="2025" b="1">
                <a:solidFill>
                  <a:srgbClr val="111815"/>
                </a:solidFill>
                <a:latin typeface="STSong"/>
                <a:ea typeface="STSong"/>
                <a:cs typeface="STSong"/>
              </a:rPr>
              <a:t>共享 Docker 持续返回 layer does not exist。团队没有清理公共 data-root，也没有冒险重启系统服务。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B78EE2-6346-4B1E-8199-56FDBCB9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4F92C5-1E9E-475D-96F0-3F049CF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保全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81163A-76E5-40D4-A5DB-19F12E6D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1462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备份二进制、MSP/TLS、脚本和账本目录</a:t>
            </a:r>
          </a:p>
        </p:txBody>
      </p:sp>
      <p:cxnSp>
        <p:nvCxnSpPr>
          <p:cNvPr id="29" name="line"/>
          <p:cNvCxnSpPr/>
          <p:nvPr/>
        </p:nvCxnSpPr>
        <p:spPr>
          <a:xfrm xmlns:a="http://schemas.openxmlformats.org/drawingml/2006/main">
            <a:off x="876300" y="317182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BB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33487D-502D-4E5A-ABB5-8DE1B705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54D197-3407-484D-AE08-6B023C70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19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绕行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4D338F-46CA-4246-A675-7767C715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在用户目录直接运行 orderer、双 Peer 与 CCAAS</a:t>
            </a:r>
          </a:p>
        </p:txBody>
      </p:sp>
      <p:cxnSp>
        <p:nvCxnSpPr>
          <p:cNvPr id="33" name="line"/>
          <p:cNvCxnSpPr/>
          <p:nvPr/>
        </p:nvCxnSpPr>
        <p:spPr>
          <a:xfrm xmlns:a="http://schemas.openxmlformats.org/drawingml/2006/main">
            <a:off x="876300" y="40767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BB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D03D185-344A-4F6F-8A1A-9EC8F2C4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E9EA6C-FE8C-4DB6-A08F-40E14556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243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D5292F-BE81-4C5C-926C-4339973A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2437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恢复前后高度与 current / previous hash 一致</a:t>
            </a:r>
          </a:p>
        </p:txBody>
      </p:sp>
      <p:cxnSp>
        <p:nvCxnSpPr>
          <p:cNvPr id="37" name="line"/>
          <p:cNvCxnSpPr/>
          <p:nvPr/>
        </p:nvCxnSpPr>
        <p:spPr>
          <a:xfrm xmlns:a="http://schemas.openxmlformats.org/drawingml/2006/main">
            <a:off x="7905750" y="1666875"/>
            <a:ext cx="0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BB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9DAFE2-3035-40FC-8920-C8F0F063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220,885 B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14210B-AB18-4037-9FC6-83094562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冷备份大小 · 权限 0600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4C7623E-1347-4FCE-A703-5B2BDC89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10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59A3A"/>
                </a:solidFill>
                <a:latin typeface="Microsoft YaHei"/>
                <a:ea typeface="Microsoft YaHei"/>
                <a:cs typeface="Microsoft YaHei"/>
              </a:rPr>
              <a:t>Height 12 / 12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CAB7AF-7646-4A66-88B9-4B7A321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恢复后双 Peer 哈希一致；确定性播种第二次执行不产生新区块。</a:t>
            </a:r>
          </a:p>
        </p:txBody>
      </p:sp>
      <p:cxnSp>
        <p:nvCxnSpPr>
          <p:cNvPr id="42" name="footer-rule-8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2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A9CC5C6C-81E5-457F-8AAE-03EA49E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COURSE DEFENSE</a:t>
            </a:r>
          </a:p>
        </p:txBody>
      </p:sp>
      <p:sp>
        <p:nvSpPr>
          <p:cNvPr id="2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F6BCBD98-AE19-4CA0-84D9-B42B5B5A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3825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9F62A4-8F46-4C42-9778-EDF1638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6DD239E-D9E3-4B88-B077-ADE0D37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815"/>
                </a:solidFill>
                <a:latin typeface="STSong"/>
                <a:ea typeface="STSong"/>
                <a:cs typeface="STSong"/>
              </a:defRPr>
            </a:pPr>
            <a:r>
              <a:rPr sz="3675" b="1">
                <a:solidFill>
                  <a:srgbClr val="111815"/>
                </a:solidFill>
                <a:latin typeface="STSong"/>
                <a:ea typeface="STSong"/>
                <a:cs typeface="STSong"/>
              </a:rPr>
              <a:t>我们交付的不是“不可修改”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06DE156-D023-4FA5-B3E1-2101C591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5A46"/>
                </a:solidFill>
                <a:latin typeface="STSong"/>
                <a:ea typeface="STSong"/>
                <a:cs typeface="STSong"/>
              </a:defRPr>
            </a:pPr>
            <a:r>
              <a:rPr sz="4050" b="1">
                <a:solidFill>
                  <a:srgbClr val="0F5A46"/>
                </a:solidFill>
                <a:latin typeface="STSong"/>
                <a:ea typeface="STSong"/>
                <a:cs typeface="STSong"/>
              </a:rPr>
              <a:t>而是可验证、可追溯、可纠错</a:t>
            </a:r>
          </a:p>
        </p:txBody>
      </p:sp>
      <p:cxnSp>
        <p:nvCxnSpPr>
          <p:cNvPr id="16" name="line"/>
          <p:cNvCxnSpPr/>
          <p:nvPr/>
        </p:nvCxnSpPr>
        <p:spPr>
          <a:xfrm xmlns:a="http://schemas.openxmlformats.org/drawingml/2006/main">
            <a:off x="495300" y="3619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9A3A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E86B74-7284-443B-9D8D-BCB32EF5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真实身份约束变更 · 私有集合保护明文 · 公共承诺支持验真 · 状态机保留历史</a:t>
            </a:r>
          </a:p>
        </p:txBody>
      </p:sp>
      <p:sp>
        <p:nvSpPr>
          <p:cNvPr id="6" name="next-stage">
            <a:extLst xmlns:a="http://schemas.openxmlformats.org/drawingml/2006/main">
              <a:ext uri="{FF2B5EF4-FFF2-40B4-BE49-F238E27FC236}">
                <a16:creationId xmlns:a16="http://schemas.microsoft.com/office/drawing/2014/main" id="{CA4B592C-CD2B-4584-8DA6-3ADBD9CF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F93A7A-E526-4AB2-B550-70751E6B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E1E030-2C21-4B49-85E5-CB02BCCC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72050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补充可重复性能基准、标准 VC/BBS+ 技术尖峰、学校 OIDC/SAML 与多 orderer 故障实验；仍在同一项目内迭代。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B637D3-F18A-4A8C-94D8-89C1B22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魏子安 · 强璞 · 阳震</a:t>
            </a:r>
          </a:p>
        </p:txBody>
      </p:sp>
      <p:cxnSp>
        <p:nvCxnSpPr>
          <p:cNvPr id="22" name="footer-rule-9"/>
          <p:cNvCxnSpPr/>
          <p:nvPr/>
        </p:nvCxnSpPr>
        <p:spPr>
          <a:xfrm xmlns:a="http://schemas.openxmlformats.org/drawingml/2006/main">
            <a:off x="495300" y="6419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B"/>
            </a:solidFill>
            <a:prstDash val="solid"/>
          </a:ln>
        </p:spPr>
      </p:cxnSp>
      <p:sp>
        <p:nvSpPr>
          <p:cNvPr id="11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3946D136-CBB0-4CD1-9132-C814EDFA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CHAIN GRADE / ONE PROJECT, TWO DELIVERABLE CONTEXTS</a:t>
            </a:r>
          </a:p>
        </p:txBody>
      </p:sp>
      <p:sp>
        <p:nvSpPr>
          <p:cNvPr id="12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BC60904F-5753-41F5-9D18-37EBF80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5A4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5844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2026-08-28T09:54:21.6650000Z</dcterms:created>
  <dcterms:modified xsi:type="dcterms:W3CDTF">2026-08-28T09:54:21.6650000Z</dcterms:modified>
</coreProperties>
</file>